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6256000" cy="9144000"/>
  <p:notesSz cx="9144000" cy="16256000"/>
  <p:embeddedFontLst>
    <p:embeddedFont>
      <p:font typeface="Liter" panose="020B0604020202020204" charset="0"/>
      <p:regular r:id="rId14"/>
    </p:embeddedFont>
    <p:embeddedFont>
      <p:font typeface="Quattrocento Sans" panose="020B0502050000020003" pitchFamily="34" charset="0"/>
      <p:regular r:id="rId15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4" y="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31420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2730500"/>
            <a:ext cx="76200" cy="36830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1092200" y="2730500"/>
            <a:ext cx="14401800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0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Автоматический мониторинг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092200" y="3492500"/>
            <a:ext cx="14401800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0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и классификация инструментов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092200" y="4254500"/>
            <a:ext cx="14401800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0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пентеста по </a:t>
            </a:r>
            <a:r>
              <a:rPr lang="en-US" sz="4000" dirty="0">
                <a:solidFill>
                  <a:srgbClr val="00D4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MITRE ATT&amp;CK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1092200" y="5207000"/>
            <a:ext cx="3810000" cy="254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7" name="Text 5"/>
          <p:cNvSpPr/>
          <p:nvPr/>
        </p:nvSpPr>
        <p:spPr>
          <a:xfrm>
            <a:off x="1092200" y="5461000"/>
            <a:ext cx="144018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00D4A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Этап 4:</a:t>
            </a:r>
            <a:r>
              <a:rPr lang="en-US" sz="1800" dirty="0">
                <a:solidFill>
                  <a:srgbClr val="8B94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Демонстрация проекта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2200" y="6032500"/>
            <a:ext cx="144018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8B94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Новосельский Д • Коломийцев Н • Толмачёв Н • Ширинов А • Игнатов Д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2200" y="6540500"/>
            <a:ext cx="144018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8B94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2026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62000" y="8382000"/>
            <a:ext cx="14732000" cy="12700"/>
          </a:xfrm>
          <a:prstGeom prst="rect">
            <a:avLst/>
          </a:prstGeom>
          <a:solidFill>
            <a:srgbClr val="30363D"/>
          </a:solidFill>
          <a:ln/>
        </p:spPr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0"/>
            <a:ext cx="1473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Вступление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35200" y="0"/>
            <a:ext cx="1473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Проблема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708400" y="0"/>
            <a:ext cx="1473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Архитектура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181600" y="0"/>
            <a:ext cx="1473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Источники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654800" y="0"/>
            <a:ext cx="1473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Пайплайн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128000" y="0"/>
            <a:ext cx="1473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LLM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0" y="0"/>
            <a:ext cx="1473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Скоринг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074400" y="0"/>
            <a:ext cx="1473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UI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547600" y="0"/>
            <a:ext cx="1473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Этап 4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020800" y="0"/>
            <a:ext cx="1473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Итоги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419100"/>
            <a:ext cx="1473200" cy="381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4" name="Shape 12"/>
          <p:cNvSpPr/>
          <p:nvPr/>
        </p:nvSpPr>
        <p:spPr>
          <a:xfrm>
            <a:off x="762000" y="762000"/>
            <a:ext cx="50800" cy="3556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5" name="Text 13"/>
          <p:cNvSpPr/>
          <p:nvPr/>
        </p:nvSpPr>
        <p:spPr>
          <a:xfrm>
            <a:off x="965200" y="711200"/>
            <a:ext cx="762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Вступление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762000" y="1270000"/>
            <a:ext cx="14732000" cy="1270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7" name="Text 15"/>
          <p:cNvSpPr/>
          <p:nvPr/>
        </p:nvSpPr>
        <p:spPr>
          <a:xfrm>
            <a:off x="762000" y="1524000"/>
            <a:ext cx="147320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E6EDF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Команда завершает </a:t>
            </a:r>
            <a:r>
              <a:rPr lang="en-US" sz="1800" b="1" dirty="0">
                <a:solidFill>
                  <a:srgbClr val="E6EDF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четвёртый, финальный этап</a:t>
            </a:r>
            <a:r>
              <a:rPr lang="en-US" sz="1800" dirty="0">
                <a:solidFill>
                  <a:srgbClr val="E6EDF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проекта </a:t>
            </a:r>
            <a:r>
              <a:rPr lang="en-US" sz="1800" dirty="0">
                <a:solidFill>
                  <a:srgbClr val="00D4A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OffensiveToolMapper</a:t>
            </a:r>
            <a:r>
              <a:rPr lang="en-US" sz="1800" dirty="0">
                <a:solidFill>
                  <a:srgbClr val="E6EDF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системы автоматического мониторинга и классификации инструментов </a:t>
            </a:r>
            <a:r>
              <a:rPr lang="en-US" sz="1800" dirty="0" err="1">
                <a:solidFill>
                  <a:srgbClr val="E6EDF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пентеста</a:t>
            </a:r>
            <a:r>
              <a:rPr lang="en-US" sz="1800" dirty="0">
                <a:solidFill>
                  <a:srgbClr val="E6EDF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800" dirty="0" err="1">
                <a:solidFill>
                  <a:srgbClr val="E6EDF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по</a:t>
            </a:r>
            <a:r>
              <a:rPr lang="en-US" sz="1800" dirty="0">
                <a:solidFill>
                  <a:srgbClr val="E6EDF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MITRE ATT&amp;CK.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E6EDF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В мире кибербезопасности специалисты — </a:t>
            </a:r>
            <a:r>
              <a:rPr lang="en-US" sz="1800" i="1" dirty="0">
                <a:solidFill>
                  <a:srgbClr val="E6EDF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Red Team, аналитики SOC, исследователи угроз</a:t>
            </a:r>
            <a:r>
              <a:rPr lang="en-US" sz="1800" dirty="0">
                <a:solidFill>
                  <a:srgbClr val="E6EDF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работают с постоянно меняющимся набором атакующих инструментов: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E6EDF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На </a:t>
            </a:r>
            <a:r>
              <a:rPr lang="en-US" sz="1800" b="1" dirty="0">
                <a:solidFill>
                  <a:srgbClr val="E6EDF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GitHub</a:t>
            </a:r>
            <a:r>
              <a:rPr lang="en-US" sz="1800" dirty="0">
                <a:solidFill>
                  <a:srgbClr val="E6EDF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ежедневно появляются десятки новых репозиториев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E6EDF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На </a:t>
            </a:r>
            <a:r>
              <a:rPr lang="en-US" sz="1800" b="1" dirty="0">
                <a:solidFill>
                  <a:srgbClr val="E6EDF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Exploit-DB</a:t>
            </a:r>
            <a:r>
              <a:rPr lang="en-US" sz="1800" dirty="0">
                <a:solidFill>
                  <a:srgbClr val="E6EDF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и </a:t>
            </a:r>
            <a:r>
              <a:rPr lang="en-US" sz="1800" b="1" dirty="0">
                <a:solidFill>
                  <a:srgbClr val="E6EDF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PacketStorm</a:t>
            </a:r>
            <a:r>
              <a:rPr lang="en-US" sz="1800" dirty="0">
                <a:solidFill>
                  <a:srgbClr val="E6EDF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выходят свежие эксплойты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E6EDF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Понять, какую </a:t>
            </a:r>
            <a:r>
              <a:rPr lang="en-US" sz="1800" b="1" dirty="0">
                <a:solidFill>
                  <a:srgbClr val="E6EDF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технику MITRE ATT&amp;CK</a:t>
            </a:r>
            <a:r>
              <a:rPr lang="en-US" sz="1800" dirty="0">
                <a:solidFill>
                  <a:srgbClr val="E6EDF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реализует инструмент — необходимо для приоритета в обороне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62000" y="5016500"/>
            <a:ext cx="14732000" cy="3048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9500" y="5207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dirty="0">
                <a:solidFill>
                  <a:srgbClr val="00D4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Решение: OffensiveToolMapper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079500" y="5715000"/>
            <a:ext cx="14097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6EDF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Система решает задачу </a:t>
            </a:r>
            <a:r>
              <a:rPr lang="en-US" sz="1600" b="1" dirty="0">
                <a:solidFill>
                  <a:srgbClr val="E6EDF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автоматически</a:t>
            </a:r>
            <a:r>
              <a:rPr lang="en-US" sz="1600" dirty="0">
                <a:solidFill>
                  <a:srgbClr val="E6EDF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: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00D4A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1.</a:t>
            </a:r>
            <a:r>
              <a:rPr lang="en-US" sz="1600" dirty="0">
                <a:solidFill>
                  <a:srgbClr val="E6EDF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600" b="1" dirty="0">
                <a:solidFill>
                  <a:srgbClr val="E6EDF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Собирает</a:t>
            </a:r>
            <a:r>
              <a:rPr lang="en-US" sz="1600" dirty="0">
                <a:solidFill>
                  <a:srgbClr val="E6EDF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инструменты из GitHub, RSS-лент и PacketStorm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D4A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2.</a:t>
            </a:r>
            <a:r>
              <a:rPr lang="en-US" sz="1600" dirty="0">
                <a:solidFill>
                  <a:srgbClr val="E6EDF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600" b="1" dirty="0" err="1">
                <a:solidFill>
                  <a:srgbClr val="E6EDF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Оценивает</a:t>
            </a:r>
            <a:r>
              <a:rPr lang="en-US" sz="1600" dirty="0">
                <a:solidFill>
                  <a:srgbClr val="E6EDF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600" dirty="0" err="1">
                <a:solidFill>
                  <a:srgbClr val="E6EDF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нейросетью</a:t>
            </a:r>
            <a:r>
              <a:rPr lang="en-US" sz="1600" dirty="0">
                <a:solidFill>
                  <a:srgbClr val="E6EDF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600" dirty="0" err="1">
                <a:solidFill>
                  <a:srgbClr val="E6EDF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через</a:t>
            </a:r>
            <a:r>
              <a:rPr lang="en-US" sz="1600" dirty="0">
                <a:solidFill>
                  <a:srgbClr val="E6EDF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ru-RU" sz="1600" dirty="0">
                <a:solidFill>
                  <a:srgbClr val="E6EDF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вызов инструментов по команде LLM </a:t>
            </a:r>
            <a:r>
              <a:rPr lang="en-US" sz="1600" dirty="0">
                <a:solidFill>
                  <a:srgbClr val="E6EDF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с JSON-</a:t>
            </a:r>
            <a:r>
              <a:rPr lang="en-US" sz="1600" dirty="0" err="1">
                <a:solidFill>
                  <a:srgbClr val="E6EDF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схемой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D4A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3.</a:t>
            </a:r>
            <a:r>
              <a:rPr lang="en-US" sz="1600" dirty="0">
                <a:solidFill>
                  <a:srgbClr val="E6EDF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600" b="1" dirty="0">
                <a:solidFill>
                  <a:srgbClr val="E6EDF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Строит</a:t>
            </a:r>
            <a:r>
              <a:rPr lang="en-US" sz="1600" dirty="0">
                <a:solidFill>
                  <a:srgbClr val="E6EDF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структурированную карту покрытия MITRE ATT&amp;CK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D4A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4.</a:t>
            </a:r>
            <a:r>
              <a:rPr lang="en-US" sz="1600" dirty="0">
                <a:solidFill>
                  <a:srgbClr val="E6EDF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600" b="1" dirty="0">
                <a:solidFill>
                  <a:srgbClr val="E6EDF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Предоставляет</a:t>
            </a:r>
            <a:r>
              <a:rPr lang="en-US" sz="1600" dirty="0">
                <a:solidFill>
                  <a:srgbClr val="E6EDF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результаты через веб-интерфейс и MCP-сервер для AI-агентов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62000" y="8382000"/>
            <a:ext cx="14732000" cy="1270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22" name="Text 20"/>
          <p:cNvSpPr/>
          <p:nvPr/>
        </p:nvSpPr>
        <p:spPr>
          <a:xfrm>
            <a:off x="14732000" y="8509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8B94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0"/>
            <a:ext cx="1473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Вступление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35200" y="0"/>
            <a:ext cx="1473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Проблема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708400" y="0"/>
            <a:ext cx="1473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Архитектура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181600" y="0"/>
            <a:ext cx="1473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Источники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654800" y="0"/>
            <a:ext cx="1473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Пайплайн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128000" y="0"/>
            <a:ext cx="1473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LLM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0" y="0"/>
            <a:ext cx="1473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Скоринг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074400" y="0"/>
            <a:ext cx="1473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UI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547600" y="0"/>
            <a:ext cx="1473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Этап 4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020800" y="0"/>
            <a:ext cx="1473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Итоги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235200" y="419100"/>
            <a:ext cx="1473200" cy="381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4" name="Shape 12"/>
          <p:cNvSpPr/>
          <p:nvPr/>
        </p:nvSpPr>
        <p:spPr>
          <a:xfrm>
            <a:off x="762000" y="762000"/>
            <a:ext cx="50800" cy="3556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5" name="Text 13"/>
          <p:cNvSpPr/>
          <p:nvPr/>
        </p:nvSpPr>
        <p:spPr>
          <a:xfrm>
            <a:off x="965200" y="7112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Проблема и цель проекта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762000" y="1270000"/>
            <a:ext cx="14732000" cy="1270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7" name="Shape 15"/>
          <p:cNvSpPr/>
          <p:nvPr/>
        </p:nvSpPr>
        <p:spPr>
          <a:xfrm>
            <a:off x="762000" y="1524000"/>
            <a:ext cx="7112000" cy="32385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16000" y="16510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dirty="0">
                <a:solidFill>
                  <a:srgbClr val="00D4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Проблема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16000" y="2095500"/>
            <a:ext cx="6604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5000"/>
              </a:lnSpc>
            </a:pPr>
            <a:r>
              <a:rPr lang="en-US" sz="1600" dirty="0">
                <a:solidFill>
                  <a:srgbClr val="F088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r>
              <a:rPr lang="en-US" sz="16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Ручной маппинг: </a:t>
            </a:r>
            <a:r>
              <a:rPr lang="en-US" sz="1600" b="1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10–15 мин</a:t>
            </a:r>
            <a:r>
              <a:rPr lang="en-US" sz="16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на инструмент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600" dirty="0">
                <a:solidFill>
                  <a:srgbClr val="F088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r>
              <a:rPr lang="en-US" sz="16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600" b="1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50+ новых</a:t>
            </a:r>
            <a:r>
              <a:rPr lang="en-US" sz="16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инструментов в неделю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600" dirty="0">
                <a:solidFill>
                  <a:srgbClr val="F088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r>
              <a:rPr lang="en-US" sz="16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Несколько рабочих дней только на классификацию</a:t>
            </a:r>
            <a:endParaRPr lang="en-US" sz="1600" dirty="0"/>
          </a:p>
          <a:p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F088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r>
              <a:rPr lang="en-US" sz="16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Нет стандартизации: «lateral movement», «LM», «перемещение по сети»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600" dirty="0">
                <a:solidFill>
                  <a:srgbClr val="F088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r>
              <a:rPr lang="en-US" sz="16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Данные несопоставимы между командами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382000" y="1524000"/>
            <a:ext cx="7112000" cy="32385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36000" y="16510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dirty="0">
                <a:solidFill>
                  <a:srgbClr val="00D4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Цель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636000" y="2095500"/>
            <a:ext cx="6604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5000"/>
              </a:lnSpc>
            </a:pPr>
            <a:r>
              <a:rPr lang="en-US" sz="16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Автоматизировать процесс от сбора до классификации:</a:t>
            </a:r>
            <a:endParaRPr lang="en-US" sz="1600" dirty="0"/>
          </a:p>
          <a:p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</a:t>
            </a:r>
            <a:r>
              <a:rPr lang="en-US" sz="16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Автоматический сбор из нескольких источников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600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</a:t>
            </a:r>
            <a:r>
              <a:rPr lang="en-US" sz="16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Умная предфильтрация кандидатов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600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</a:t>
            </a:r>
            <a:r>
              <a:rPr lang="en-US" sz="16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Структурированная LLM-классификация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600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</a:t>
            </a:r>
            <a:r>
              <a:rPr lang="en-US" sz="16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Живая база данных с MITRE-маппингами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62000" y="5080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dirty="0">
                <a:solidFill>
                  <a:srgbClr val="00D4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Решение в три шага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762000" y="5651500"/>
            <a:ext cx="4699000" cy="23495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16000" y="5842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88925" y="144463"/>
                </a:moveTo>
                <a:cubicBezTo>
                  <a:pt x="288925" y="176341"/>
                  <a:pt x="278576" y="205790"/>
                  <a:pt x="261144" y="229681"/>
                </a:cubicBezTo>
                <a:lnTo>
                  <a:pt x="349071" y="317679"/>
                </a:lnTo>
                <a:cubicBezTo>
                  <a:pt x="357753" y="326360"/>
                  <a:pt x="357753" y="340459"/>
                  <a:pt x="349071" y="349141"/>
                </a:cubicBezTo>
                <a:cubicBezTo>
                  <a:pt x="340390" y="357823"/>
                  <a:pt x="326291" y="357823"/>
                  <a:pt x="317609" y="349141"/>
                </a:cubicBezTo>
                <a:lnTo>
                  <a:pt x="229681" y="261144"/>
                </a:lnTo>
                <a:cubicBezTo>
                  <a:pt x="205790" y="278576"/>
                  <a:pt x="176341" y="288925"/>
                  <a:pt x="144463" y="288925"/>
                </a:cubicBezTo>
                <a:cubicBezTo>
                  <a:pt x="64661" y="288925"/>
                  <a:pt x="0" y="224264"/>
                  <a:pt x="0" y="144463"/>
                </a:cubicBezTo>
                <a:cubicBezTo>
                  <a:pt x="0" y="64661"/>
                  <a:pt x="64661" y="0"/>
                  <a:pt x="144463" y="0"/>
                </a:cubicBezTo>
                <a:cubicBezTo>
                  <a:pt x="224264" y="0"/>
                  <a:pt x="288925" y="64661"/>
                  <a:pt x="288925" y="144463"/>
                </a:cubicBezTo>
                <a:close/>
                <a:moveTo>
                  <a:pt x="144463" y="244475"/>
                </a:moveTo>
                <a:cubicBezTo>
                  <a:pt x="199661" y="244475"/>
                  <a:pt x="244475" y="199661"/>
                  <a:pt x="244475" y="144463"/>
                </a:cubicBezTo>
                <a:cubicBezTo>
                  <a:pt x="244475" y="89264"/>
                  <a:pt x="199661" y="44450"/>
                  <a:pt x="144463" y="44450"/>
                </a:cubicBezTo>
                <a:cubicBezTo>
                  <a:pt x="89264" y="44450"/>
                  <a:pt x="44450" y="89264"/>
                  <a:pt x="44450" y="144462"/>
                </a:cubicBezTo>
                <a:cubicBezTo>
                  <a:pt x="44450" y="199661"/>
                  <a:pt x="89264" y="244475"/>
                  <a:pt x="144462" y="244475"/>
                </a:cubicBez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26" name="Text 24"/>
          <p:cNvSpPr/>
          <p:nvPr/>
        </p:nvSpPr>
        <p:spPr>
          <a:xfrm>
            <a:off x="1498600" y="58420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Автоматический сбор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16000" y="6324600"/>
            <a:ext cx="4191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Система находит новые инструменты из GitHub по ключевым словам, читает RSS-ленты и PacketStorm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78500" y="5651500"/>
            <a:ext cx="4699000" cy="23495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32500" y="5842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2225" y="44450"/>
                </a:moveTo>
                <a:cubicBezTo>
                  <a:pt x="13266" y="44450"/>
                  <a:pt x="5140" y="49867"/>
                  <a:pt x="1667" y="58202"/>
                </a:cubicBezTo>
                <a:cubicBezTo>
                  <a:pt x="-1806" y="66536"/>
                  <a:pt x="139" y="76051"/>
                  <a:pt x="6529" y="82371"/>
                </a:cubicBezTo>
                <a:lnTo>
                  <a:pt x="133350" y="209262"/>
                </a:lnTo>
                <a:lnTo>
                  <a:pt x="133350" y="288925"/>
                </a:lnTo>
                <a:cubicBezTo>
                  <a:pt x="133350" y="294829"/>
                  <a:pt x="135711" y="300454"/>
                  <a:pt x="139879" y="304621"/>
                </a:cubicBezTo>
                <a:lnTo>
                  <a:pt x="184329" y="349071"/>
                </a:lnTo>
                <a:cubicBezTo>
                  <a:pt x="190718" y="355461"/>
                  <a:pt x="200233" y="357336"/>
                  <a:pt x="208568" y="353864"/>
                </a:cubicBezTo>
                <a:cubicBezTo>
                  <a:pt x="216902" y="350391"/>
                  <a:pt x="222250" y="342334"/>
                  <a:pt x="222250" y="333375"/>
                </a:cubicBezTo>
                <a:lnTo>
                  <a:pt x="222250" y="209262"/>
                </a:lnTo>
                <a:lnTo>
                  <a:pt x="349071" y="82441"/>
                </a:lnTo>
                <a:cubicBezTo>
                  <a:pt x="355461" y="76051"/>
                  <a:pt x="357336" y="66536"/>
                  <a:pt x="353864" y="58202"/>
                </a:cubicBezTo>
                <a:cubicBezTo>
                  <a:pt x="350391" y="49867"/>
                  <a:pt x="342334" y="44450"/>
                  <a:pt x="333375" y="44450"/>
                </a:cubicBezTo>
                <a:lnTo>
                  <a:pt x="22225" y="44450"/>
                </a:ln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30" name="Text 28"/>
          <p:cNvSpPr/>
          <p:nvPr/>
        </p:nvSpPr>
        <p:spPr>
          <a:xfrm>
            <a:off x="6515100" y="58420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Умная предфильтрация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032500" y="6324600"/>
            <a:ext cx="4191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Эвристическая оценка pre_llm_score отсеивает учебные проекты и форки без звёзд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0795000" y="5651500"/>
            <a:ext cx="4826000" cy="23495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1004550" y="5842000"/>
            <a:ext cx="444500" cy="355600"/>
          </a:xfrm>
          <a:custGeom>
            <a:avLst/>
            <a:gdLst/>
            <a:ahLst/>
            <a:cxnLst/>
            <a:rect l="l" t="t" r="r" b="b"/>
            <a:pathLst>
              <a:path w="444500" h="355600">
                <a:moveTo>
                  <a:pt x="244475" y="0"/>
                </a:moveTo>
                <a:cubicBezTo>
                  <a:pt x="244475" y="-12293"/>
                  <a:pt x="234543" y="-22225"/>
                  <a:pt x="222250" y="-22225"/>
                </a:cubicBezTo>
                <a:cubicBezTo>
                  <a:pt x="209957" y="-22225"/>
                  <a:pt x="200025" y="-12293"/>
                  <a:pt x="200025" y="0"/>
                </a:cubicBezTo>
                <a:lnTo>
                  <a:pt x="200025" y="44450"/>
                </a:lnTo>
                <a:lnTo>
                  <a:pt x="133350" y="44450"/>
                </a:lnTo>
                <a:cubicBezTo>
                  <a:pt x="96540" y="44450"/>
                  <a:pt x="66675" y="74315"/>
                  <a:pt x="66675" y="111125"/>
                </a:cubicBezTo>
                <a:lnTo>
                  <a:pt x="66675" y="266700"/>
                </a:lnTo>
                <a:cubicBezTo>
                  <a:pt x="66675" y="303510"/>
                  <a:pt x="96540" y="333375"/>
                  <a:pt x="133350" y="333375"/>
                </a:cubicBezTo>
                <a:lnTo>
                  <a:pt x="311150" y="333375"/>
                </a:lnTo>
                <a:cubicBezTo>
                  <a:pt x="347960" y="333375"/>
                  <a:pt x="377825" y="303510"/>
                  <a:pt x="377825" y="266700"/>
                </a:cubicBezTo>
                <a:lnTo>
                  <a:pt x="377825" y="111125"/>
                </a:lnTo>
                <a:cubicBezTo>
                  <a:pt x="377825" y="74315"/>
                  <a:pt x="347960" y="44450"/>
                  <a:pt x="311150" y="44450"/>
                </a:cubicBezTo>
                <a:lnTo>
                  <a:pt x="244475" y="44450"/>
                </a:lnTo>
                <a:lnTo>
                  <a:pt x="244475" y="0"/>
                </a:lnTo>
                <a:close/>
                <a:moveTo>
                  <a:pt x="111125" y="255587"/>
                </a:moveTo>
                <a:cubicBezTo>
                  <a:pt x="111125" y="246350"/>
                  <a:pt x="118556" y="238919"/>
                  <a:pt x="127794" y="238919"/>
                </a:cubicBezTo>
                <a:lnTo>
                  <a:pt x="150019" y="238919"/>
                </a:lnTo>
                <a:cubicBezTo>
                  <a:pt x="159256" y="238919"/>
                  <a:pt x="166688" y="246350"/>
                  <a:pt x="166688" y="255587"/>
                </a:cubicBezTo>
                <a:cubicBezTo>
                  <a:pt x="166688" y="264825"/>
                  <a:pt x="159256" y="272256"/>
                  <a:pt x="150019" y="272256"/>
                </a:cubicBezTo>
                <a:lnTo>
                  <a:pt x="127794" y="272256"/>
                </a:lnTo>
                <a:cubicBezTo>
                  <a:pt x="118556" y="272256"/>
                  <a:pt x="111125" y="264825"/>
                  <a:pt x="111125" y="255587"/>
                </a:cubicBezTo>
                <a:close/>
                <a:moveTo>
                  <a:pt x="194469" y="255587"/>
                </a:moveTo>
                <a:cubicBezTo>
                  <a:pt x="194469" y="246350"/>
                  <a:pt x="201900" y="238919"/>
                  <a:pt x="211138" y="238919"/>
                </a:cubicBezTo>
                <a:lnTo>
                  <a:pt x="233363" y="238919"/>
                </a:lnTo>
                <a:cubicBezTo>
                  <a:pt x="242600" y="238919"/>
                  <a:pt x="250031" y="246350"/>
                  <a:pt x="250031" y="255587"/>
                </a:cubicBezTo>
                <a:cubicBezTo>
                  <a:pt x="250031" y="264825"/>
                  <a:pt x="242600" y="272256"/>
                  <a:pt x="233363" y="272256"/>
                </a:cubicBezTo>
                <a:lnTo>
                  <a:pt x="211138" y="272256"/>
                </a:lnTo>
                <a:cubicBezTo>
                  <a:pt x="201900" y="272256"/>
                  <a:pt x="194469" y="264825"/>
                  <a:pt x="194469" y="255587"/>
                </a:cubicBezTo>
                <a:close/>
                <a:moveTo>
                  <a:pt x="277813" y="255587"/>
                </a:moveTo>
                <a:cubicBezTo>
                  <a:pt x="277813" y="246350"/>
                  <a:pt x="285244" y="238919"/>
                  <a:pt x="294481" y="238919"/>
                </a:cubicBezTo>
                <a:lnTo>
                  <a:pt x="316706" y="238919"/>
                </a:lnTo>
                <a:cubicBezTo>
                  <a:pt x="325944" y="238919"/>
                  <a:pt x="333375" y="246350"/>
                  <a:pt x="333375" y="255587"/>
                </a:cubicBezTo>
                <a:cubicBezTo>
                  <a:pt x="333375" y="264825"/>
                  <a:pt x="325944" y="272256"/>
                  <a:pt x="316706" y="272256"/>
                </a:cubicBezTo>
                <a:lnTo>
                  <a:pt x="294481" y="272256"/>
                </a:lnTo>
                <a:cubicBezTo>
                  <a:pt x="285244" y="272256"/>
                  <a:pt x="277813" y="264825"/>
                  <a:pt x="277813" y="255587"/>
                </a:cubicBezTo>
                <a:close/>
                <a:moveTo>
                  <a:pt x="155575" y="122238"/>
                </a:moveTo>
                <a:cubicBezTo>
                  <a:pt x="173974" y="122238"/>
                  <a:pt x="188913" y="137176"/>
                  <a:pt x="188913" y="155575"/>
                </a:cubicBezTo>
                <a:cubicBezTo>
                  <a:pt x="188913" y="173974"/>
                  <a:pt x="173974" y="188913"/>
                  <a:pt x="155575" y="188913"/>
                </a:cubicBezTo>
                <a:cubicBezTo>
                  <a:pt x="137176" y="188913"/>
                  <a:pt x="122238" y="173974"/>
                  <a:pt x="122238" y="155575"/>
                </a:cubicBezTo>
                <a:cubicBezTo>
                  <a:pt x="122238" y="137176"/>
                  <a:pt x="137176" y="122238"/>
                  <a:pt x="155575" y="122238"/>
                </a:cubicBezTo>
                <a:close/>
                <a:moveTo>
                  <a:pt x="255587" y="155575"/>
                </a:moveTo>
                <a:cubicBezTo>
                  <a:pt x="255587" y="137176"/>
                  <a:pt x="270526" y="122238"/>
                  <a:pt x="288925" y="122238"/>
                </a:cubicBezTo>
                <a:cubicBezTo>
                  <a:pt x="307324" y="122238"/>
                  <a:pt x="322263" y="137176"/>
                  <a:pt x="322263" y="155575"/>
                </a:cubicBezTo>
                <a:cubicBezTo>
                  <a:pt x="322263" y="173974"/>
                  <a:pt x="307324" y="188913"/>
                  <a:pt x="288925" y="188913"/>
                </a:cubicBezTo>
                <a:cubicBezTo>
                  <a:pt x="270526" y="188913"/>
                  <a:pt x="255587" y="173974"/>
                  <a:pt x="255587" y="155575"/>
                </a:cubicBezTo>
                <a:close/>
                <a:moveTo>
                  <a:pt x="44450" y="155575"/>
                </a:moveTo>
                <a:cubicBezTo>
                  <a:pt x="44450" y="143282"/>
                  <a:pt x="34518" y="133350"/>
                  <a:pt x="22225" y="133350"/>
                </a:cubicBezTo>
                <a:cubicBezTo>
                  <a:pt x="9932" y="133350"/>
                  <a:pt x="0" y="143282"/>
                  <a:pt x="0" y="155575"/>
                </a:cubicBezTo>
                <a:lnTo>
                  <a:pt x="0" y="222250"/>
                </a:lnTo>
                <a:cubicBezTo>
                  <a:pt x="0" y="234543"/>
                  <a:pt x="9932" y="244475"/>
                  <a:pt x="22225" y="244475"/>
                </a:cubicBezTo>
                <a:cubicBezTo>
                  <a:pt x="34518" y="244475"/>
                  <a:pt x="44450" y="234543"/>
                  <a:pt x="44450" y="222250"/>
                </a:cubicBezTo>
                <a:lnTo>
                  <a:pt x="44450" y="155575"/>
                </a:lnTo>
                <a:close/>
                <a:moveTo>
                  <a:pt x="422275" y="133350"/>
                </a:moveTo>
                <a:cubicBezTo>
                  <a:pt x="409982" y="133350"/>
                  <a:pt x="400050" y="143282"/>
                  <a:pt x="400050" y="155575"/>
                </a:cubicBezTo>
                <a:lnTo>
                  <a:pt x="400050" y="222250"/>
                </a:lnTo>
                <a:cubicBezTo>
                  <a:pt x="400050" y="234543"/>
                  <a:pt x="409982" y="244475"/>
                  <a:pt x="422275" y="244475"/>
                </a:cubicBezTo>
                <a:cubicBezTo>
                  <a:pt x="434568" y="244475"/>
                  <a:pt x="444500" y="234543"/>
                  <a:pt x="444500" y="222250"/>
                </a:cubicBezTo>
                <a:lnTo>
                  <a:pt x="444500" y="155575"/>
                </a:lnTo>
                <a:cubicBezTo>
                  <a:pt x="444500" y="143282"/>
                  <a:pt x="434568" y="133350"/>
                  <a:pt x="422275" y="133350"/>
                </a:cubicBez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34" name="Text 32"/>
          <p:cNvSpPr/>
          <p:nvPr/>
        </p:nvSpPr>
        <p:spPr>
          <a:xfrm>
            <a:off x="11531600" y="5842000"/>
            <a:ext cx="406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Структурированная классификация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1049000" y="6324600"/>
            <a:ext cx="4191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LLM </a:t>
            </a:r>
            <a:r>
              <a:rPr lang="en-US" sz="1400" dirty="0" err="1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через</a:t>
            </a:r>
            <a:r>
              <a:rPr lang="en-US" sz="14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ru-RU" sz="14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вызов инструментов по команде </a:t>
            </a:r>
            <a:r>
              <a:rPr lang="en-US" sz="1400" dirty="0" err="1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возвращает</a:t>
            </a:r>
            <a:r>
              <a:rPr lang="en-US" sz="14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JSON: </a:t>
            </a:r>
            <a:r>
              <a:rPr lang="en-US" sz="1400" dirty="0" err="1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категория</a:t>
            </a:r>
            <a:r>
              <a:rPr lang="en-US" sz="14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r>
              <a:rPr lang="en-US" sz="1400" dirty="0" err="1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тактики</a:t>
            </a:r>
            <a:r>
              <a:rPr lang="en-US" sz="14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T-</a:t>
            </a:r>
            <a:r>
              <a:rPr lang="en-US" sz="1400" dirty="0" err="1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коды</a:t>
            </a:r>
            <a:r>
              <a:rPr lang="en-US" sz="14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r>
              <a:rPr lang="en-US" sz="1400" dirty="0" err="1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уверенность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62000" y="8382000"/>
            <a:ext cx="14732000" cy="1270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37" name="Text 35"/>
          <p:cNvSpPr/>
          <p:nvPr/>
        </p:nvSpPr>
        <p:spPr>
          <a:xfrm>
            <a:off x="14732000" y="8509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8B94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0"/>
            <a:ext cx="1473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Вступление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35200" y="0"/>
            <a:ext cx="1473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Проблема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708400" y="0"/>
            <a:ext cx="1473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Архитектура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181600" y="0"/>
            <a:ext cx="1473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Источники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654800" y="0"/>
            <a:ext cx="1473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Пайплайн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128000" y="0"/>
            <a:ext cx="1473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LLM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0" y="0"/>
            <a:ext cx="1473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Скоринг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074400" y="0"/>
            <a:ext cx="1473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UI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547600" y="0"/>
            <a:ext cx="1473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Этап 4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020800" y="0"/>
            <a:ext cx="1473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Итоги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708400" y="419100"/>
            <a:ext cx="1473200" cy="381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4" name="Shape 12"/>
          <p:cNvSpPr/>
          <p:nvPr/>
        </p:nvSpPr>
        <p:spPr>
          <a:xfrm>
            <a:off x="762000" y="762000"/>
            <a:ext cx="50800" cy="3556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5" name="Text 13"/>
          <p:cNvSpPr/>
          <p:nvPr/>
        </p:nvSpPr>
        <p:spPr>
          <a:xfrm>
            <a:off x="965200" y="7112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Архитектура системы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762000" y="1270000"/>
            <a:ext cx="14732000" cy="1270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7" name="Shape 15"/>
          <p:cNvSpPr/>
          <p:nvPr/>
        </p:nvSpPr>
        <p:spPr>
          <a:xfrm>
            <a:off x="762000" y="1524000"/>
            <a:ext cx="14732000" cy="1143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2000" y="1524000"/>
            <a:ext cx="50800" cy="11430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9" name="Text 17"/>
          <p:cNvSpPr/>
          <p:nvPr/>
        </p:nvSpPr>
        <p:spPr>
          <a:xfrm>
            <a:off x="1016000" y="15875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D4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СЛОЙ СБОРА ДАННЫХ (ETL)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16000" y="1968500"/>
            <a:ext cx="14224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etl_github.R | etl_rss.R | etl_packetstorm.R — унифицированный тиббл: name, url, description, source, stars, collected_at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2000" y="2857500"/>
            <a:ext cx="14732000" cy="1143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2000" y="2857500"/>
            <a:ext cx="50800" cy="11430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3" name="Text 21"/>
          <p:cNvSpPr/>
          <p:nvPr/>
        </p:nvSpPr>
        <p:spPr>
          <a:xfrm>
            <a:off x="1016000" y="2921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D4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СЛОЙ ОБРАБОТКИ (Pipeline)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16000" y="3302000"/>
            <a:ext cx="14224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pipeline.R — оркестрация: collect → normalize → assessment → refine_mitre → visualize, атомарные этапы с run_id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62000" y="4191000"/>
            <a:ext cx="14732000" cy="1143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2000" y="4191000"/>
            <a:ext cx="50800" cy="11430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7" name="Text 25"/>
          <p:cNvSpPr/>
          <p:nvPr/>
        </p:nvSpPr>
        <p:spPr>
          <a:xfrm>
            <a:off x="1016000" y="42545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D4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СЛОЙ ХРАНЕНИЯ (DuckDB)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16000" y="4635500"/>
            <a:ext cx="14224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inst/extdata/tools.duckdb — колоночная аналитическая БД, встраивается в R-процесс, полноценный SQL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62000" y="5524500"/>
            <a:ext cx="14732000" cy="1143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62000" y="5524500"/>
            <a:ext cx="50800" cy="11430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1" name="Text 29"/>
          <p:cNvSpPr/>
          <p:nvPr/>
        </p:nvSpPr>
        <p:spPr>
          <a:xfrm>
            <a:off x="1016000" y="55880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D4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СЛОЙ ВИЗУАЛИЗАЦИИ (Shiny + RDS)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16000" y="5969000"/>
            <a:ext cx="14224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RDS-снапшоты + reactivePoll — исключение конфликтов блокировок между пайплайном и UI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62000" y="6858000"/>
            <a:ext cx="14732000" cy="1143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62000" y="6858000"/>
            <a:ext cx="50800" cy="11430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5" name="Text 33"/>
          <p:cNvSpPr/>
          <p:nvPr/>
        </p:nvSpPr>
        <p:spPr>
          <a:xfrm>
            <a:off x="1016000" y="69215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D4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СЛОЙ ИНТЕГРАЦИИ (MCP-сервер)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016000" y="7302500"/>
            <a:ext cx="14224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mcp_server.R — 5 инструментов для AI-агентов: search_tools, get_tool_ttps, get_technique_tools, get_statistics, classify_new_tool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62000" y="8382000"/>
            <a:ext cx="14732000" cy="1270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38" name="Text 36"/>
          <p:cNvSpPr/>
          <p:nvPr/>
        </p:nvSpPr>
        <p:spPr>
          <a:xfrm>
            <a:off x="14732000" y="8509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8B94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0"/>
            <a:ext cx="1473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Вступление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35200" y="0"/>
            <a:ext cx="1473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Проблема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708400" y="0"/>
            <a:ext cx="1473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Архитектура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181600" y="0"/>
            <a:ext cx="1473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Источники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654800" y="0"/>
            <a:ext cx="1473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Пайплайн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128000" y="0"/>
            <a:ext cx="1473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LLM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0" y="0"/>
            <a:ext cx="1473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Скоринг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074400" y="0"/>
            <a:ext cx="1473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UI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547600" y="0"/>
            <a:ext cx="1473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Этап 4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020800" y="0"/>
            <a:ext cx="1473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Итоги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181600" y="419100"/>
            <a:ext cx="1473200" cy="381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4" name="Shape 12"/>
          <p:cNvSpPr/>
          <p:nvPr/>
        </p:nvSpPr>
        <p:spPr>
          <a:xfrm>
            <a:off x="762000" y="762000"/>
            <a:ext cx="50800" cy="3556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5" name="Text 13"/>
          <p:cNvSpPr/>
          <p:nvPr/>
        </p:nvSpPr>
        <p:spPr>
          <a:xfrm>
            <a:off x="965200" y="7112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Источники данных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762000" y="1270000"/>
            <a:ext cx="14732000" cy="1270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7" name="Shape 15"/>
          <p:cNvSpPr/>
          <p:nvPr/>
        </p:nvSpPr>
        <p:spPr>
          <a:xfrm>
            <a:off x="762000" y="1524000"/>
            <a:ext cx="4699000" cy="6477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16000" y="1778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38033" y="315436"/>
                </a:moveTo>
                <a:cubicBezTo>
                  <a:pt x="138033" y="317024"/>
                  <a:pt x="136208" y="318294"/>
                  <a:pt x="133906" y="318294"/>
                </a:cubicBezTo>
                <a:cubicBezTo>
                  <a:pt x="131286" y="318532"/>
                  <a:pt x="129461" y="317262"/>
                  <a:pt x="129461" y="315436"/>
                </a:cubicBezTo>
                <a:cubicBezTo>
                  <a:pt x="129461" y="313849"/>
                  <a:pt x="131286" y="312579"/>
                  <a:pt x="133588" y="312579"/>
                </a:cubicBezTo>
                <a:cubicBezTo>
                  <a:pt x="135969" y="312341"/>
                  <a:pt x="138033" y="313611"/>
                  <a:pt x="138033" y="315436"/>
                </a:cubicBezTo>
                <a:close/>
                <a:moveTo>
                  <a:pt x="113348" y="311864"/>
                </a:moveTo>
                <a:cubicBezTo>
                  <a:pt x="112792" y="313452"/>
                  <a:pt x="114379" y="315278"/>
                  <a:pt x="116761" y="315754"/>
                </a:cubicBezTo>
                <a:cubicBezTo>
                  <a:pt x="118824" y="316547"/>
                  <a:pt x="121206" y="315754"/>
                  <a:pt x="121682" y="314166"/>
                </a:cubicBezTo>
                <a:cubicBezTo>
                  <a:pt x="122158" y="312579"/>
                  <a:pt x="120650" y="310753"/>
                  <a:pt x="118269" y="310039"/>
                </a:cubicBezTo>
                <a:cubicBezTo>
                  <a:pt x="116205" y="309483"/>
                  <a:pt x="113903" y="310277"/>
                  <a:pt x="113348" y="311864"/>
                </a:cubicBezTo>
                <a:close/>
                <a:moveTo>
                  <a:pt x="148431" y="310515"/>
                </a:moveTo>
                <a:cubicBezTo>
                  <a:pt x="146129" y="311071"/>
                  <a:pt x="144542" y="312579"/>
                  <a:pt x="144780" y="314404"/>
                </a:cubicBezTo>
                <a:cubicBezTo>
                  <a:pt x="145018" y="315992"/>
                  <a:pt x="147082" y="317024"/>
                  <a:pt x="149463" y="316468"/>
                </a:cubicBezTo>
                <a:cubicBezTo>
                  <a:pt x="151765" y="315913"/>
                  <a:pt x="153353" y="314404"/>
                  <a:pt x="153114" y="312817"/>
                </a:cubicBezTo>
                <a:cubicBezTo>
                  <a:pt x="152876" y="311309"/>
                  <a:pt x="150733" y="310277"/>
                  <a:pt x="148431" y="310515"/>
                </a:cubicBezTo>
                <a:close/>
                <a:moveTo>
                  <a:pt x="200660" y="6350"/>
                </a:moveTo>
                <a:cubicBezTo>
                  <a:pt x="90567" y="6350"/>
                  <a:pt x="6350" y="89932"/>
                  <a:pt x="6350" y="200025"/>
                </a:cubicBezTo>
                <a:cubicBezTo>
                  <a:pt x="6350" y="288052"/>
                  <a:pt x="61754" y="363379"/>
                  <a:pt x="140891" y="389890"/>
                </a:cubicBezTo>
                <a:cubicBezTo>
                  <a:pt x="151051" y="391716"/>
                  <a:pt x="154623" y="385445"/>
                  <a:pt x="154623" y="380286"/>
                </a:cubicBezTo>
                <a:cubicBezTo>
                  <a:pt x="154623" y="375364"/>
                  <a:pt x="154384" y="348218"/>
                  <a:pt x="154384" y="331549"/>
                </a:cubicBezTo>
                <a:cubicBezTo>
                  <a:pt x="154384" y="331549"/>
                  <a:pt x="98822" y="343456"/>
                  <a:pt x="87154" y="307896"/>
                </a:cubicBezTo>
                <a:cubicBezTo>
                  <a:pt x="87154" y="307896"/>
                  <a:pt x="78105" y="284797"/>
                  <a:pt x="65088" y="278844"/>
                </a:cubicBezTo>
                <a:cubicBezTo>
                  <a:pt x="65088" y="278844"/>
                  <a:pt x="46911" y="266382"/>
                  <a:pt x="66357" y="266621"/>
                </a:cubicBezTo>
                <a:cubicBezTo>
                  <a:pt x="66357" y="266621"/>
                  <a:pt x="86122" y="268208"/>
                  <a:pt x="96996" y="287099"/>
                </a:cubicBezTo>
                <a:cubicBezTo>
                  <a:pt x="114379" y="317738"/>
                  <a:pt x="143510" y="308927"/>
                  <a:pt x="154861" y="303689"/>
                </a:cubicBezTo>
                <a:cubicBezTo>
                  <a:pt x="156686" y="290989"/>
                  <a:pt x="161846" y="282178"/>
                  <a:pt x="167561" y="276939"/>
                </a:cubicBezTo>
                <a:cubicBezTo>
                  <a:pt x="123190" y="272018"/>
                  <a:pt x="78423" y="265589"/>
                  <a:pt x="78423" y="189230"/>
                </a:cubicBezTo>
                <a:cubicBezTo>
                  <a:pt x="78423" y="167402"/>
                  <a:pt x="84455" y="156448"/>
                  <a:pt x="97155" y="142478"/>
                </a:cubicBezTo>
                <a:cubicBezTo>
                  <a:pt x="95091" y="137319"/>
                  <a:pt x="88344" y="116046"/>
                  <a:pt x="99219" y="88582"/>
                </a:cubicBezTo>
                <a:cubicBezTo>
                  <a:pt x="115808" y="83423"/>
                  <a:pt x="153988" y="110014"/>
                  <a:pt x="153988" y="110014"/>
                </a:cubicBezTo>
                <a:cubicBezTo>
                  <a:pt x="169863" y="105569"/>
                  <a:pt x="186928" y="103267"/>
                  <a:pt x="203835" y="103267"/>
                </a:cubicBezTo>
                <a:cubicBezTo>
                  <a:pt x="220742" y="103267"/>
                  <a:pt x="237808" y="105569"/>
                  <a:pt x="253683" y="110014"/>
                </a:cubicBezTo>
                <a:cubicBezTo>
                  <a:pt x="253683" y="110014"/>
                  <a:pt x="291862" y="83344"/>
                  <a:pt x="308451" y="88582"/>
                </a:cubicBezTo>
                <a:cubicBezTo>
                  <a:pt x="319326" y="116126"/>
                  <a:pt x="312579" y="137319"/>
                  <a:pt x="310515" y="142478"/>
                </a:cubicBezTo>
                <a:cubicBezTo>
                  <a:pt x="323215" y="156527"/>
                  <a:pt x="330994" y="167481"/>
                  <a:pt x="330994" y="189230"/>
                </a:cubicBezTo>
                <a:cubicBezTo>
                  <a:pt x="330994" y="265827"/>
                  <a:pt x="284242" y="271939"/>
                  <a:pt x="239871" y="276939"/>
                </a:cubicBezTo>
                <a:cubicBezTo>
                  <a:pt x="247174" y="283210"/>
                  <a:pt x="253365" y="295116"/>
                  <a:pt x="253365" y="313769"/>
                </a:cubicBezTo>
                <a:cubicBezTo>
                  <a:pt x="253365" y="340519"/>
                  <a:pt x="253127" y="373618"/>
                  <a:pt x="253127" y="380127"/>
                </a:cubicBezTo>
                <a:cubicBezTo>
                  <a:pt x="253127" y="385286"/>
                  <a:pt x="256778" y="391557"/>
                  <a:pt x="266859" y="389731"/>
                </a:cubicBezTo>
                <a:cubicBezTo>
                  <a:pt x="346234" y="363379"/>
                  <a:pt x="400050" y="288052"/>
                  <a:pt x="400050" y="200025"/>
                </a:cubicBezTo>
                <a:cubicBezTo>
                  <a:pt x="400050" y="89932"/>
                  <a:pt x="310753" y="6350"/>
                  <a:pt x="200660" y="6350"/>
                </a:cubicBezTo>
                <a:close/>
                <a:moveTo>
                  <a:pt x="83503" y="280114"/>
                </a:moveTo>
                <a:cubicBezTo>
                  <a:pt x="82471" y="280908"/>
                  <a:pt x="82709" y="282734"/>
                  <a:pt x="84058" y="284242"/>
                </a:cubicBezTo>
                <a:cubicBezTo>
                  <a:pt x="85328" y="285512"/>
                  <a:pt x="87154" y="286068"/>
                  <a:pt x="88186" y="285036"/>
                </a:cubicBezTo>
                <a:cubicBezTo>
                  <a:pt x="89218" y="284242"/>
                  <a:pt x="88979" y="282416"/>
                  <a:pt x="87630" y="280908"/>
                </a:cubicBezTo>
                <a:cubicBezTo>
                  <a:pt x="86360" y="279638"/>
                  <a:pt x="84534" y="279083"/>
                  <a:pt x="83503" y="280114"/>
                </a:cubicBezTo>
                <a:close/>
                <a:moveTo>
                  <a:pt x="74930" y="273685"/>
                </a:moveTo>
                <a:cubicBezTo>
                  <a:pt x="74374" y="274717"/>
                  <a:pt x="75168" y="275987"/>
                  <a:pt x="76756" y="276781"/>
                </a:cubicBezTo>
                <a:cubicBezTo>
                  <a:pt x="78026" y="277574"/>
                  <a:pt x="79613" y="277336"/>
                  <a:pt x="80169" y="276225"/>
                </a:cubicBezTo>
                <a:cubicBezTo>
                  <a:pt x="80724" y="275193"/>
                  <a:pt x="79931" y="273923"/>
                  <a:pt x="78343" y="273129"/>
                </a:cubicBezTo>
                <a:cubicBezTo>
                  <a:pt x="76756" y="272653"/>
                  <a:pt x="75486" y="272891"/>
                  <a:pt x="74930" y="273685"/>
                </a:cubicBezTo>
                <a:close/>
                <a:moveTo>
                  <a:pt x="100648" y="301943"/>
                </a:moveTo>
                <a:cubicBezTo>
                  <a:pt x="99378" y="302974"/>
                  <a:pt x="99854" y="305356"/>
                  <a:pt x="101679" y="306864"/>
                </a:cubicBezTo>
                <a:cubicBezTo>
                  <a:pt x="103505" y="308689"/>
                  <a:pt x="105807" y="308927"/>
                  <a:pt x="106839" y="307658"/>
                </a:cubicBezTo>
                <a:cubicBezTo>
                  <a:pt x="107871" y="306626"/>
                  <a:pt x="107394" y="304244"/>
                  <a:pt x="105807" y="302736"/>
                </a:cubicBezTo>
                <a:cubicBezTo>
                  <a:pt x="104061" y="300911"/>
                  <a:pt x="101679" y="300672"/>
                  <a:pt x="100648" y="301943"/>
                </a:cubicBezTo>
                <a:close/>
                <a:moveTo>
                  <a:pt x="91599" y="290274"/>
                </a:moveTo>
                <a:cubicBezTo>
                  <a:pt x="90329" y="291068"/>
                  <a:pt x="90329" y="293132"/>
                  <a:pt x="91599" y="294957"/>
                </a:cubicBezTo>
                <a:cubicBezTo>
                  <a:pt x="92869" y="296783"/>
                  <a:pt x="95012" y="297577"/>
                  <a:pt x="96044" y="296783"/>
                </a:cubicBezTo>
                <a:cubicBezTo>
                  <a:pt x="97314" y="295751"/>
                  <a:pt x="97314" y="293688"/>
                  <a:pt x="96044" y="291862"/>
                </a:cubicBezTo>
                <a:cubicBezTo>
                  <a:pt x="94932" y="290036"/>
                  <a:pt x="92869" y="289243"/>
                  <a:pt x="91599" y="290274"/>
                </a:cubicBez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19" name="Text 17"/>
          <p:cNvSpPr/>
          <p:nvPr/>
        </p:nvSpPr>
        <p:spPr>
          <a:xfrm>
            <a:off x="1549400" y="1778000"/>
            <a:ext cx="3556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GitHub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16000" y="2349500"/>
            <a:ext cx="4191000" cy="539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5000"/>
              </a:lnSpc>
            </a:pPr>
            <a:r>
              <a:rPr lang="en-US" sz="15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Поиск по 18 ключевым словам:</a:t>
            </a:r>
            <a:endParaRPr lang="en-US" sz="1600" dirty="0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5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exploit, payload, shellcode, c2, command-and-control, post-exploitation, lateral-movement, privilege-escalation, evasion, implant, RAT, backdoor, keylogger, rootkit, dropper, stager, beaconing, exfiltration</a:t>
            </a:r>
            <a:endParaRPr lang="en-US" sz="1600" dirty="0"/>
          </a:p>
          <a:p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5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Фильтры: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5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Языки: Python, Go, C, C++, PowerShell, Assembly, Rust</a:t>
            </a:r>
            <a:endParaRPr lang="en-US" sz="1600" dirty="0"/>
          </a:p>
          <a:p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500" dirty="0">
                <a:solidFill>
                  <a:srgbClr val="F088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5000 запросов/час</a:t>
            </a:r>
            <a:r>
              <a:rPr lang="en-US" sz="15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через GITHUB_PAT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778500" y="1524000"/>
            <a:ext cx="4699000" cy="6477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57900" y="17780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0" y="50800"/>
                </a:moveTo>
                <a:cubicBezTo>
                  <a:pt x="0" y="36751"/>
                  <a:pt x="11351" y="25400"/>
                  <a:pt x="25400" y="25400"/>
                </a:cubicBezTo>
                <a:cubicBezTo>
                  <a:pt x="207804" y="25400"/>
                  <a:pt x="355600" y="173196"/>
                  <a:pt x="355600" y="355600"/>
                </a:cubicBezTo>
                <a:cubicBezTo>
                  <a:pt x="355600" y="369649"/>
                  <a:pt x="344249" y="381000"/>
                  <a:pt x="330200" y="381000"/>
                </a:cubicBezTo>
                <a:cubicBezTo>
                  <a:pt x="316151" y="381000"/>
                  <a:pt x="304800" y="369649"/>
                  <a:pt x="304800" y="355600"/>
                </a:cubicBezTo>
                <a:cubicBezTo>
                  <a:pt x="304800" y="201295"/>
                  <a:pt x="179705" y="76200"/>
                  <a:pt x="25400" y="76200"/>
                </a:cubicBezTo>
                <a:cubicBezTo>
                  <a:pt x="11351" y="76200"/>
                  <a:pt x="0" y="64849"/>
                  <a:pt x="0" y="50800"/>
                </a:cubicBezTo>
                <a:close/>
                <a:moveTo>
                  <a:pt x="0" y="330200"/>
                </a:moveTo>
                <a:cubicBezTo>
                  <a:pt x="0" y="302163"/>
                  <a:pt x="22763" y="279400"/>
                  <a:pt x="50800" y="279400"/>
                </a:cubicBezTo>
                <a:cubicBezTo>
                  <a:pt x="78837" y="279400"/>
                  <a:pt x="101600" y="302163"/>
                  <a:pt x="101600" y="330200"/>
                </a:cubicBezTo>
                <a:cubicBezTo>
                  <a:pt x="101600" y="358237"/>
                  <a:pt x="78837" y="381000"/>
                  <a:pt x="50800" y="381000"/>
                </a:cubicBezTo>
                <a:cubicBezTo>
                  <a:pt x="22763" y="381000"/>
                  <a:pt x="0" y="358237"/>
                  <a:pt x="0" y="330200"/>
                </a:cubicBezTo>
                <a:close/>
                <a:moveTo>
                  <a:pt x="25400" y="127000"/>
                </a:moveTo>
                <a:cubicBezTo>
                  <a:pt x="151686" y="127000"/>
                  <a:pt x="254000" y="229314"/>
                  <a:pt x="254000" y="355600"/>
                </a:cubicBezTo>
                <a:cubicBezTo>
                  <a:pt x="254000" y="369649"/>
                  <a:pt x="242649" y="381000"/>
                  <a:pt x="228600" y="381000"/>
                </a:cubicBezTo>
                <a:cubicBezTo>
                  <a:pt x="214551" y="381000"/>
                  <a:pt x="203200" y="369649"/>
                  <a:pt x="203200" y="355600"/>
                </a:cubicBezTo>
                <a:cubicBezTo>
                  <a:pt x="203200" y="257413"/>
                  <a:pt x="123587" y="177800"/>
                  <a:pt x="25400" y="177800"/>
                </a:cubicBezTo>
                <a:cubicBezTo>
                  <a:pt x="11351" y="177800"/>
                  <a:pt x="0" y="166449"/>
                  <a:pt x="0" y="152400"/>
                </a:cubicBezTo>
                <a:cubicBezTo>
                  <a:pt x="0" y="138351"/>
                  <a:pt x="11351" y="127000"/>
                  <a:pt x="25400" y="127000"/>
                </a:cubicBez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23" name="Text 21"/>
          <p:cNvSpPr/>
          <p:nvPr/>
        </p:nvSpPr>
        <p:spPr>
          <a:xfrm>
            <a:off x="6565900" y="1778000"/>
            <a:ext cx="3556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RSS-ленты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032500" y="2349500"/>
            <a:ext cx="4191000" cy="539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5000"/>
              </a:lnSpc>
            </a:pPr>
            <a:r>
              <a:rPr lang="en-US" sz="15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 ленты по умолчанию:</a:t>
            </a:r>
            <a:endParaRPr lang="en-US" sz="1600" dirty="0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500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r>
              <a:rPr lang="en-US" sz="15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500" b="1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Exploit-DB</a:t>
            </a:r>
            <a:r>
              <a:rPr lang="en-US" sz="15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эксплойты с CVE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500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r>
              <a:rPr lang="en-US" sz="15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500" b="1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Hacker News</a:t>
            </a:r>
            <a:r>
              <a:rPr lang="en-US" sz="15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обзоры инструментов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500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r>
              <a:rPr lang="en-US" sz="15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500" b="1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BleepingComputer</a:t>
            </a:r>
            <a:r>
              <a:rPr lang="en-US" sz="15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уязвимости</a:t>
            </a:r>
            <a:endParaRPr lang="en-US" sz="1600" dirty="0"/>
          </a:p>
          <a:p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5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Настройка: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5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OTM_RSS_FEEDS — свои URL через «;»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5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disabled — отключить RSS</a:t>
            </a:r>
            <a:endParaRPr lang="en-US" sz="1600" dirty="0"/>
          </a:p>
          <a:p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5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Каждый item: заголовок, описание, ссылка → текст для LLM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0795000" y="1524000"/>
            <a:ext cx="4699000" cy="6477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074400" y="17780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268923" y="-7858"/>
                </a:moveTo>
                <a:cubicBezTo>
                  <a:pt x="278368" y="-1032"/>
                  <a:pt x="281861" y="11351"/>
                  <a:pt x="277574" y="22146"/>
                </a:cubicBezTo>
                <a:lnTo>
                  <a:pt x="215344" y="177800"/>
                </a:lnTo>
                <a:lnTo>
                  <a:pt x="330200" y="177800"/>
                </a:lnTo>
                <a:cubicBezTo>
                  <a:pt x="340916" y="177800"/>
                  <a:pt x="350441" y="184468"/>
                  <a:pt x="354092" y="194548"/>
                </a:cubicBezTo>
                <a:cubicBezTo>
                  <a:pt x="357743" y="204629"/>
                  <a:pt x="354648" y="215900"/>
                  <a:pt x="346472" y="222726"/>
                </a:cubicBezTo>
                <a:lnTo>
                  <a:pt x="117872" y="413226"/>
                </a:lnTo>
                <a:cubicBezTo>
                  <a:pt x="108903" y="420688"/>
                  <a:pt x="96123" y="421084"/>
                  <a:pt x="86678" y="414258"/>
                </a:cubicBezTo>
                <a:cubicBezTo>
                  <a:pt x="77232" y="407432"/>
                  <a:pt x="73739" y="395049"/>
                  <a:pt x="78026" y="384254"/>
                </a:cubicBezTo>
                <a:lnTo>
                  <a:pt x="140256" y="228600"/>
                </a:lnTo>
                <a:lnTo>
                  <a:pt x="25400" y="228600"/>
                </a:lnTo>
                <a:cubicBezTo>
                  <a:pt x="14684" y="228600"/>
                  <a:pt x="5159" y="221933"/>
                  <a:pt x="1508" y="211852"/>
                </a:cubicBezTo>
                <a:cubicBezTo>
                  <a:pt x="-2143" y="201771"/>
                  <a:pt x="952" y="190500"/>
                  <a:pt x="9128" y="183674"/>
                </a:cubicBezTo>
                <a:lnTo>
                  <a:pt x="237728" y="-6826"/>
                </a:lnTo>
                <a:cubicBezTo>
                  <a:pt x="246698" y="-14288"/>
                  <a:pt x="259477" y="-14684"/>
                  <a:pt x="268923" y="-7858"/>
                </a:cubicBez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27" name="Text 25"/>
          <p:cNvSpPr/>
          <p:nvPr/>
        </p:nvSpPr>
        <p:spPr>
          <a:xfrm>
            <a:off x="11582400" y="1778000"/>
            <a:ext cx="3556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PacketStorm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049000" y="2349500"/>
            <a:ext cx="4191000" cy="539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5000"/>
              </a:lnSpc>
            </a:pPr>
            <a:r>
              <a:rPr lang="en-US" sz="15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Архив эксплойтов с метаданными:</a:t>
            </a:r>
            <a:endParaRPr lang="en-US" sz="1600" dirty="0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5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CVE-идентификатор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5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Платформа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5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Тип атаки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5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Автор и дата</a:t>
            </a:r>
            <a:endParaRPr lang="en-US" sz="1600" dirty="0"/>
          </a:p>
          <a:p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5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 режима доступа: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500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r>
              <a:rPr lang="en-US" sz="15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API (PACKETSTORM_API_SECRET)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500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r>
              <a:rPr lang="en-US" sz="15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Ручные URL (PACKETSTORM_URLS)</a:t>
            </a:r>
            <a:endParaRPr lang="en-US" sz="1600" dirty="0"/>
          </a:p>
          <a:p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5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Парсинг через rvest по CSS-селекторам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62000" y="8382000"/>
            <a:ext cx="14732000" cy="1270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30" name="Text 28"/>
          <p:cNvSpPr/>
          <p:nvPr/>
        </p:nvSpPr>
        <p:spPr>
          <a:xfrm>
            <a:off x="14732000" y="8509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8B94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0"/>
            <a:ext cx="1473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Вступление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35200" y="0"/>
            <a:ext cx="1473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Проблема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708400" y="0"/>
            <a:ext cx="1473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Архитектура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181600" y="0"/>
            <a:ext cx="1473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Источники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654800" y="0"/>
            <a:ext cx="1473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Пайплайн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128000" y="0"/>
            <a:ext cx="1473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LLM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0" y="0"/>
            <a:ext cx="1473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Скоринг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074400" y="0"/>
            <a:ext cx="1473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UI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547600" y="0"/>
            <a:ext cx="1473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Этап 4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020800" y="0"/>
            <a:ext cx="1473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Итоги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654800" y="419100"/>
            <a:ext cx="1473200" cy="381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4" name="Shape 12"/>
          <p:cNvSpPr/>
          <p:nvPr/>
        </p:nvSpPr>
        <p:spPr>
          <a:xfrm>
            <a:off x="762000" y="762000"/>
            <a:ext cx="50800" cy="3556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5" name="Text 13"/>
          <p:cNvSpPr/>
          <p:nvPr/>
        </p:nvSpPr>
        <p:spPr>
          <a:xfrm>
            <a:off x="965200" y="7112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Пайплайн: пять этапов обработки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762000" y="1270000"/>
            <a:ext cx="14732000" cy="1270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7" name="Shape 15"/>
          <p:cNvSpPr/>
          <p:nvPr/>
        </p:nvSpPr>
        <p:spPr>
          <a:xfrm>
            <a:off x="762000" y="1524000"/>
            <a:ext cx="2692400" cy="6477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2500" y="1651000"/>
            <a:ext cx="76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0D4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52500" y="2159000"/>
            <a:ext cx="23114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collect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52500" y="2540000"/>
            <a:ext cx="23114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Параллельный вызов трёх ETL-модулей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3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Объединение через bind_rows()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3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Выход:</a:t>
            </a:r>
            <a:r>
              <a:rPr lang="en-US" sz="13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таблица кандидатов с полями name, url, description, source, stars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517900" y="4699000"/>
            <a:ext cx="203200" cy="0"/>
          </a:xfrm>
          <a:prstGeom prst="straightConnector1">
            <a:avLst/>
          </a:prstGeom>
          <a:noFill/>
          <a:ln w="25400">
            <a:solidFill>
              <a:srgbClr val="00D4AA"/>
            </a:solidFill>
            <a:prstDash val="solid"/>
            <a:headEnd type="none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3784600" y="1524000"/>
            <a:ext cx="2692400" cy="6477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75100" y="1651000"/>
            <a:ext cx="76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0D4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975100" y="2159000"/>
            <a:ext cx="23114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normalize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975100" y="2540000"/>
            <a:ext cx="23114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Дедупликация по URL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3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Очистка текста: str_squish, str_trim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3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Подсчёт </a:t>
            </a:r>
            <a:r>
              <a:rPr lang="en-US" sz="1300" dirty="0">
                <a:solidFill>
                  <a:srgbClr val="F088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pre_llm_score</a:t>
            </a:r>
            <a:r>
              <a:rPr lang="en-US" sz="13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 ключевые слова, язык, тех. сигналы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540500" y="4699000"/>
            <a:ext cx="203200" cy="0"/>
          </a:xfrm>
          <a:prstGeom prst="straightConnector1">
            <a:avLst/>
          </a:prstGeom>
          <a:noFill/>
          <a:ln w="25400">
            <a:solidFill>
              <a:srgbClr val="00D4AA"/>
            </a:solidFill>
            <a:prstDash val="solid"/>
            <a:headEnd type="none"/>
            <a:tailEnd type="arrow"/>
          </a:ln>
        </p:spPr>
      </p:sp>
      <p:sp>
        <p:nvSpPr>
          <p:cNvPr id="27" name="Shape 25"/>
          <p:cNvSpPr/>
          <p:nvPr/>
        </p:nvSpPr>
        <p:spPr>
          <a:xfrm>
            <a:off x="6807200" y="1524000"/>
            <a:ext cx="2692400" cy="6477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97700" y="1651000"/>
            <a:ext cx="76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0D4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997700" y="2159000"/>
            <a:ext cx="23114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assessment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997700" y="2540000"/>
            <a:ext cx="2311400" cy="520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LLM-</a:t>
            </a:r>
            <a:r>
              <a:rPr lang="en-US" sz="1300" dirty="0" err="1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классификация</a:t>
            </a:r>
            <a:r>
              <a:rPr lang="en-US" sz="13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300" dirty="0" err="1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через</a:t>
            </a:r>
            <a:r>
              <a:rPr lang="en-US" sz="13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ru-RU" sz="1300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вызов инструментов по команде LLM</a:t>
            </a:r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JSON-</a:t>
            </a:r>
            <a:r>
              <a:rPr lang="en-US" sz="1300" dirty="0" err="1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схема</a:t>
            </a:r>
            <a:r>
              <a:rPr lang="en-US" sz="13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category, mitre_tactics, mitre_techniques, confidence_score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3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Результаты → таблица assessments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9563100" y="4699000"/>
            <a:ext cx="203200" cy="0"/>
          </a:xfrm>
          <a:prstGeom prst="straightConnector1">
            <a:avLst/>
          </a:prstGeom>
          <a:noFill/>
          <a:ln w="25400">
            <a:solidFill>
              <a:srgbClr val="00D4AA"/>
            </a:solidFill>
            <a:prstDash val="solid"/>
            <a:headEnd type="none"/>
            <a:tailEnd type="arrow"/>
          </a:ln>
        </p:spPr>
      </p:sp>
      <p:sp>
        <p:nvSpPr>
          <p:cNvPr id="32" name="Shape 30"/>
          <p:cNvSpPr/>
          <p:nvPr/>
        </p:nvSpPr>
        <p:spPr>
          <a:xfrm>
            <a:off x="9829800" y="1524000"/>
            <a:ext cx="2692400" cy="6477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020300" y="1651000"/>
            <a:ext cx="76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0D4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0020300" y="2159000"/>
            <a:ext cx="23114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refine_mitre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0020300" y="2540000"/>
            <a:ext cx="23114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Второй LLM-проход для записей с высоким confidence ≥ 0.7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3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Добавление субтехник: T1059.001 вместо T1059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3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Флаг is_refined = TRUE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2585700" y="4699000"/>
            <a:ext cx="203200" cy="0"/>
          </a:xfrm>
          <a:prstGeom prst="straightConnector1">
            <a:avLst/>
          </a:prstGeom>
          <a:noFill/>
          <a:ln w="25400">
            <a:solidFill>
              <a:srgbClr val="00D4AA"/>
            </a:solidFill>
            <a:prstDash val="solid"/>
            <a:headEnd type="none"/>
            <a:tailEnd type="arrow"/>
          </a:ln>
        </p:spPr>
      </p:sp>
      <p:sp>
        <p:nvSpPr>
          <p:cNvPr id="37" name="Shape 35"/>
          <p:cNvSpPr/>
          <p:nvPr/>
        </p:nvSpPr>
        <p:spPr>
          <a:xfrm>
            <a:off x="12852400" y="1524000"/>
            <a:ext cx="2641600" cy="6477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3042900" y="1651000"/>
            <a:ext cx="76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0D4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3042900" y="2159000"/>
            <a:ext cx="22606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visualize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3042900" y="2540000"/>
            <a:ext cx="22606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Построение 3 RDS-файлов из DuckDB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3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reactivePoll следит за mtime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3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Нет конфликтов блокировок с Shiny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762000" y="8382000"/>
            <a:ext cx="14732000" cy="1270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42" name="Text 40"/>
          <p:cNvSpPr/>
          <p:nvPr/>
        </p:nvSpPr>
        <p:spPr>
          <a:xfrm>
            <a:off x="14732000" y="8509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8B94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0"/>
            <a:ext cx="1473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Вступление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35200" y="0"/>
            <a:ext cx="1473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Проблема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708400" y="0"/>
            <a:ext cx="1473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Архитектура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181600" y="0"/>
            <a:ext cx="1473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Источники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654800" y="0"/>
            <a:ext cx="1473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Пайплайн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128000" y="0"/>
            <a:ext cx="1473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LLM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0" y="0"/>
            <a:ext cx="1473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Скоринг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074400" y="0"/>
            <a:ext cx="1473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UI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547600" y="0"/>
            <a:ext cx="1473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Этап 4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020800" y="0"/>
            <a:ext cx="1473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Итоги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128000" y="419100"/>
            <a:ext cx="1473200" cy="381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4" name="Shape 12"/>
          <p:cNvSpPr/>
          <p:nvPr/>
        </p:nvSpPr>
        <p:spPr>
          <a:xfrm>
            <a:off x="762000" y="762000"/>
            <a:ext cx="50800" cy="3556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5" name="Text 13"/>
          <p:cNvSpPr/>
          <p:nvPr/>
        </p:nvSpPr>
        <p:spPr>
          <a:xfrm>
            <a:off x="965200" y="7112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LLM-интеграция: 7 провайдеров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762000" y="1270000"/>
            <a:ext cx="14732000" cy="1270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7" name="Text 15"/>
          <p:cNvSpPr/>
          <p:nvPr/>
        </p:nvSpPr>
        <p:spPr>
          <a:xfrm>
            <a:off x="762000" y="1460500"/>
            <a:ext cx="762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ru-RU" sz="2200" dirty="0">
                <a:solidFill>
                  <a:srgbClr val="00D4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Вызов инструментов по команде LLM </a:t>
            </a:r>
            <a:r>
              <a:rPr lang="en-US" sz="2200" dirty="0" err="1">
                <a:solidFill>
                  <a:srgbClr val="00D4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вместо</a:t>
            </a:r>
            <a:r>
              <a:rPr lang="en-US" sz="2200" dirty="0">
                <a:solidFill>
                  <a:srgbClr val="00D4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2200" dirty="0" err="1">
                <a:solidFill>
                  <a:srgbClr val="00D4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промптинга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62000" y="1905000"/>
            <a:ext cx="762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5000"/>
              </a:lnSpc>
            </a:pPr>
            <a:r>
              <a:rPr lang="en-US" sz="16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Нейросеть </a:t>
            </a:r>
            <a:r>
              <a:rPr lang="en-US" sz="1600" b="1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обязана</a:t>
            </a:r>
            <a:r>
              <a:rPr lang="en-US" sz="16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вызвать функцию с аргументами строго по JSON-схеме. Ошибки формата снижены с </a:t>
            </a:r>
            <a:r>
              <a:rPr lang="en-US" sz="1600" dirty="0">
                <a:solidFill>
                  <a:srgbClr val="F088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~15%</a:t>
            </a:r>
            <a:r>
              <a:rPr lang="en-US" sz="16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до </a:t>
            </a:r>
            <a:r>
              <a:rPr lang="en-US" sz="1600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&lt;1%</a:t>
            </a:r>
            <a:r>
              <a:rPr lang="en-US" sz="16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62000" y="3048000"/>
            <a:ext cx="7620000" cy="24765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16000" y="3175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00D4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JSON-СХЕМА КЛАССИФИКАЦИИ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16000" y="3530600"/>
            <a:ext cx="7112000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r>
              <a:rPr lang="en-US" sz="13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300" b="1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category</a:t>
            </a:r>
            <a:r>
              <a:rPr lang="en-US" sz="13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8 значений (exploit, recon, c2...)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r>
              <a:rPr lang="en-US" sz="13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300" b="1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mitre_tactics</a:t>
            </a:r>
            <a:r>
              <a:rPr lang="en-US" sz="13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массив названий тактик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r>
              <a:rPr lang="en-US" sz="13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300" b="1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mitre_techniques</a:t>
            </a:r>
            <a:r>
              <a:rPr lang="en-US" sz="13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T-коды ["T1059.001"]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r>
              <a:rPr lang="en-US" sz="13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300" b="1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confidence_score</a:t>
            </a:r>
            <a:r>
              <a:rPr lang="en-US" sz="13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уверенность (0–1)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r>
              <a:rPr lang="en-US" sz="13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300" b="1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detail_score</a:t>
            </a:r>
            <a:r>
              <a:rPr lang="en-US" sz="13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полнота покрытия (0–1)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r>
              <a:rPr lang="en-US" sz="13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300" b="1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justification</a:t>
            </a:r>
            <a:r>
              <a:rPr lang="en-US" sz="13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обоснование решения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62000" y="5588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dirty="0">
                <a:solidFill>
                  <a:srgbClr val="00D4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 провайдеров — единый интерфейс</a:t>
            </a:r>
            <a:endParaRPr lang="en-US" sz="22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7754689"/>
              </p:ext>
            </p:extLst>
          </p:nvPr>
        </p:nvGraphicFramePr>
        <p:xfrm>
          <a:off x="762000" y="6070600"/>
          <a:ext cx="14732000" cy="2031998"/>
        </p:xfrm>
        <a:graphic>
          <a:graphicData uri="http://schemas.openxmlformats.org/drawingml/2006/table">
            <a:tbl>
              <a:tblPr/>
              <a:tblGrid>
                <a:gridCol w="3241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07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1383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0D4A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Провайдер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0D4A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Модель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0D4A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Особенности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6123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6EDF3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OpenAI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6EDF3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gpt-4.1-mini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 err="1">
                          <a:solidFill>
                            <a:srgbClr val="E6EDF3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Высокая</a:t>
                      </a:r>
                      <a:r>
                        <a:rPr lang="en-US" sz="1400" u="none" dirty="0">
                          <a:solidFill>
                            <a:srgbClr val="E6EDF3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 </a:t>
                      </a:r>
                      <a:r>
                        <a:rPr lang="en-US" sz="1400" u="none" dirty="0" err="1">
                          <a:solidFill>
                            <a:srgbClr val="E6EDF3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точность</a:t>
                      </a:r>
                      <a:r>
                        <a:rPr lang="en-US" sz="1400" u="none" dirty="0">
                          <a:solidFill>
                            <a:srgbClr val="E6EDF3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, </a:t>
                      </a:r>
                      <a:r>
                        <a:rPr lang="en-US" sz="1400" u="none" dirty="0" err="1">
                          <a:solidFill>
                            <a:srgbClr val="E6EDF3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хороший</a:t>
                      </a:r>
                      <a:r>
                        <a:rPr lang="en-US" sz="1400" u="none" dirty="0">
                          <a:solidFill>
                            <a:srgbClr val="E6EDF3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 </a:t>
                      </a:r>
                      <a:r>
                        <a:rPr lang="ru-RU" sz="1400" u="none" dirty="0">
                          <a:solidFill>
                            <a:srgbClr val="E6EDF3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вызов инструментов по команде LLM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6123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6EDF3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Anthropic Claude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6EDF3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claude-sonnet-4-6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6EDF3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Лучший в MITRE-маппингах, субтехники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6123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6EDF3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DeepSeek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6EDF3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deepseek-chat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6EDF3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Дешёвый, стабилен в JSON-выводе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6123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6EDF3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Groq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6EDF3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llama-3.3-70b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6EDF3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Бесплатный тариф, минимальная латентность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6123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6EDF3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Ollama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6EDF3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qwen3:8b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6EDF3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Полностью локальный, данные не уходят в сеть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762000" y="8382000"/>
            <a:ext cx="14732000" cy="1270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25" name="Text 22"/>
          <p:cNvSpPr/>
          <p:nvPr/>
        </p:nvSpPr>
        <p:spPr>
          <a:xfrm>
            <a:off x="14732000" y="8509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8B94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0"/>
            <a:ext cx="1473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Вступление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35200" y="0"/>
            <a:ext cx="1473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Проблема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708400" y="0"/>
            <a:ext cx="1473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Архитектура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181600" y="0"/>
            <a:ext cx="1473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Источники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654800" y="0"/>
            <a:ext cx="1473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Пайплайн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128000" y="0"/>
            <a:ext cx="1473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LLM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0" y="0"/>
            <a:ext cx="1473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Скоринг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074400" y="0"/>
            <a:ext cx="1473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UI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547600" y="0"/>
            <a:ext cx="1473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Этап 4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020800" y="0"/>
            <a:ext cx="1473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Итоги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601200" y="419100"/>
            <a:ext cx="1473200" cy="381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4" name="Shape 12"/>
          <p:cNvSpPr/>
          <p:nvPr/>
        </p:nvSpPr>
        <p:spPr>
          <a:xfrm>
            <a:off x="762000" y="762000"/>
            <a:ext cx="50800" cy="3556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5" name="Text 13"/>
          <p:cNvSpPr/>
          <p:nvPr/>
        </p:nvSpPr>
        <p:spPr>
          <a:xfrm>
            <a:off x="965200" y="7112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Система скоринга и фильтрации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762000" y="1270000"/>
            <a:ext cx="14732000" cy="1270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7" name="Shape 15"/>
          <p:cNvSpPr/>
          <p:nvPr/>
        </p:nvSpPr>
        <p:spPr>
          <a:xfrm>
            <a:off x="762000" y="1524000"/>
            <a:ext cx="7112000" cy="3683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2000" y="1524000"/>
            <a:ext cx="50800" cy="368300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19" name="Text 17"/>
          <p:cNvSpPr/>
          <p:nvPr/>
        </p:nvSpPr>
        <p:spPr>
          <a:xfrm>
            <a:off x="1016000" y="16510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088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Pre-LLM </a:t>
            </a:r>
            <a:r>
              <a:rPr lang="en-US" sz="1800" dirty="0" err="1">
                <a:solidFill>
                  <a:srgbClr val="F088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скор</a:t>
            </a:r>
            <a:r>
              <a:rPr lang="ru-RU" sz="1800" dirty="0" err="1">
                <a:solidFill>
                  <a:srgbClr val="F088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инг</a:t>
            </a:r>
            <a:r>
              <a:rPr lang="en-US" sz="1800" dirty="0">
                <a:solidFill>
                  <a:srgbClr val="F088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(эвристика)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16000" y="2095500"/>
            <a:ext cx="66040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5000"/>
              </a:lnSpc>
            </a:pPr>
            <a:r>
              <a:rPr lang="en-US" sz="1500" dirty="0">
                <a:solidFill>
                  <a:srgbClr val="F088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r>
              <a:rPr lang="en-US" sz="15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500" b="1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Ключевые слова:</a:t>
            </a:r>
            <a:r>
              <a:rPr lang="en-US" sz="15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5 баллов каждое, max 30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500" dirty="0">
                <a:solidFill>
                  <a:srgbClr val="F088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r>
              <a:rPr lang="en-US" sz="15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500" b="1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Язык:</a:t>
            </a:r>
            <a:r>
              <a:rPr lang="en-US" sz="15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C/C++ 20, Asm 25, Go/Rust 18, Py 10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500" dirty="0">
                <a:solidFill>
                  <a:srgbClr val="F088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r>
              <a:rPr lang="en-US" sz="15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500" b="1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Тех. сигналы:</a:t>
            </a:r>
            <a:r>
              <a:rPr lang="en-US" sz="15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Makefile +5, .asm +10, бинарники +8</a:t>
            </a:r>
            <a:endParaRPr lang="en-US" sz="1600" dirty="0"/>
          </a:p>
          <a:p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500" dirty="0">
                <a:solidFill>
                  <a:srgbClr val="F088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Порог: 25/100</a:t>
            </a:r>
            <a:r>
              <a:rPr lang="en-US" sz="15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ниже не отправляются в LLM</a:t>
            </a:r>
            <a:endParaRPr lang="en-US" sz="1600" dirty="0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5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OTM_PRE_LLM_THRESHOLD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382000" y="1524000"/>
            <a:ext cx="7112000" cy="3683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382000" y="1524000"/>
            <a:ext cx="50800" cy="36830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3" name="Text 21"/>
          <p:cNvSpPr/>
          <p:nvPr/>
        </p:nvSpPr>
        <p:spPr>
          <a:xfrm>
            <a:off x="8636000" y="16510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0D4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Post-LLM </a:t>
            </a:r>
            <a:r>
              <a:rPr lang="en-US" sz="1800" dirty="0" err="1">
                <a:solidFill>
                  <a:srgbClr val="00D4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скор</a:t>
            </a:r>
            <a:r>
              <a:rPr lang="ru-RU" sz="1800" dirty="0" err="1">
                <a:solidFill>
                  <a:srgbClr val="00D4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инг</a:t>
            </a:r>
            <a:r>
              <a:rPr lang="en-US" sz="1800" dirty="0">
                <a:solidFill>
                  <a:srgbClr val="00D4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(качество)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636000" y="2095500"/>
            <a:ext cx="66040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5000"/>
              </a:lnSpc>
            </a:pPr>
            <a:r>
              <a:rPr lang="en-US" sz="1500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r>
              <a:rPr lang="en-US" sz="15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500" b="1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confidence_score</a:t>
            </a:r>
            <a:r>
              <a:rPr lang="en-US" sz="15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уверенность (0–1)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500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r>
              <a:rPr lang="en-US" sz="15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500" b="1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detail_score</a:t>
            </a:r>
            <a:r>
              <a:rPr lang="en-US" sz="15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полнота покрытия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500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r>
              <a:rPr lang="en-US" sz="15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500" b="1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Уникальные тактики:</a:t>
            </a:r>
            <a:r>
              <a:rPr lang="en-US" sz="15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+0.05 каждая, max 0.3</a:t>
            </a:r>
            <a:endParaRPr lang="en-US" sz="1600" dirty="0"/>
          </a:p>
          <a:p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500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Итоговый рейтинг: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5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composite = 0.4 × pre_llm + 0.6 × (conf×0.5 + detail×0.5)</a:t>
            </a:r>
            <a:endParaRPr lang="en-US" sz="1600" dirty="0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5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По нему сортируются карточки в браузере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62000" y="5524500"/>
            <a:ext cx="14732000" cy="2540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16000" y="5689600"/>
            <a:ext cx="635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Эффективность двухступенчатой системы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16000" y="6223000"/>
            <a:ext cx="317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600" dirty="0">
                <a:solidFill>
                  <a:srgbClr val="F088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2–3×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1016000" y="6921500"/>
            <a:ext cx="3175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экономия API-бюджета за счёт pre-LLM фильтрации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699000" y="6223000"/>
            <a:ext cx="317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600" dirty="0">
                <a:solidFill>
                  <a:srgbClr val="F088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60%</a:t>
            </a:r>
            <a:endParaRPr lang="en-US" sz="3600" dirty="0"/>
          </a:p>
        </p:txBody>
      </p:sp>
      <p:sp>
        <p:nvSpPr>
          <p:cNvPr id="30" name="Text 28"/>
          <p:cNvSpPr/>
          <p:nvPr/>
        </p:nvSpPr>
        <p:spPr>
          <a:xfrm>
            <a:off x="4699000" y="6921500"/>
            <a:ext cx="3175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GitHub-репозиториев — учебные проекты (отсеяны)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382000" y="6223000"/>
            <a:ext cx="317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600" dirty="0">
                <a:solidFill>
                  <a:srgbClr val="F088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&lt;1%</a:t>
            </a:r>
            <a:endParaRPr lang="en-US" sz="3600" dirty="0"/>
          </a:p>
        </p:txBody>
      </p:sp>
      <p:sp>
        <p:nvSpPr>
          <p:cNvPr id="32" name="Text 30"/>
          <p:cNvSpPr/>
          <p:nvPr/>
        </p:nvSpPr>
        <p:spPr>
          <a:xfrm>
            <a:off x="8382000" y="6921500"/>
            <a:ext cx="3175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ошибок формата с function calling (vs ~15%)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2065000" y="6223000"/>
            <a:ext cx="317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600" dirty="0">
                <a:solidFill>
                  <a:srgbClr val="F088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</a:t>
            </a:r>
            <a:endParaRPr lang="en-US" sz="3600" dirty="0"/>
          </a:p>
        </p:txBody>
      </p:sp>
      <p:sp>
        <p:nvSpPr>
          <p:cNvPr id="34" name="Text 32"/>
          <p:cNvSpPr/>
          <p:nvPr/>
        </p:nvSpPr>
        <p:spPr>
          <a:xfrm>
            <a:off x="12065000" y="6921500"/>
            <a:ext cx="3175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LLM-провайдеров через единый интерфейс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62000" y="8382000"/>
            <a:ext cx="14732000" cy="1270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36" name="Text 34"/>
          <p:cNvSpPr/>
          <p:nvPr/>
        </p:nvSpPr>
        <p:spPr>
          <a:xfrm>
            <a:off x="14732000" y="8509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8B94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0"/>
            <a:ext cx="1473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Вступление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35200" y="0"/>
            <a:ext cx="1473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Проблема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708400" y="0"/>
            <a:ext cx="1473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Архитектура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181600" y="0"/>
            <a:ext cx="1473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Источники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654800" y="0"/>
            <a:ext cx="1473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Пайплайн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128000" y="0"/>
            <a:ext cx="1473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LLM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0" y="0"/>
            <a:ext cx="1473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Скоринг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074400" y="0"/>
            <a:ext cx="1473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UI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547600" y="0"/>
            <a:ext cx="1473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Этап 4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020800" y="0"/>
            <a:ext cx="1473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Итоги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1074400" y="419100"/>
            <a:ext cx="1473200" cy="381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4" name="Shape 12"/>
          <p:cNvSpPr/>
          <p:nvPr/>
        </p:nvSpPr>
        <p:spPr>
          <a:xfrm>
            <a:off x="762000" y="762000"/>
            <a:ext cx="50800" cy="3556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5" name="Text 13"/>
          <p:cNvSpPr/>
          <p:nvPr/>
        </p:nvSpPr>
        <p:spPr>
          <a:xfrm>
            <a:off x="965200" y="711200"/>
            <a:ext cx="1016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Хранилище DuckDB и интерфейс Shiny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762000" y="1270000"/>
            <a:ext cx="14732000" cy="1270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7" name="Text 15"/>
          <p:cNvSpPr/>
          <p:nvPr/>
        </p:nvSpPr>
        <p:spPr>
          <a:xfrm>
            <a:off x="762000" y="1460500"/>
            <a:ext cx="635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dirty="0">
                <a:solidFill>
                  <a:srgbClr val="00D4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DuckDB — встраиваемая колоночная БД</a:t>
            </a:r>
            <a:endParaRPr lang="en-US" sz="2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905000"/>
          <a:ext cx="7112000" cy="2628902"/>
        </p:xfrm>
        <a:graphic>
          <a:graphicData uri="http://schemas.openxmlformats.org/drawingml/2006/table">
            <a:tbl>
              <a:tblPr/>
              <a:tblGrid>
                <a:gridCol w="1991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3189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0D4A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Таблица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00D4A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Назначение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83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6EDF3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candidates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6EDF3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Сырые и нормализованные записи (UUID, name, url, source, stars, pre_llm_score)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83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6EDF3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assessments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6EDF3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Результаты LLM-классификации (category, confidence, detail, justification)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83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6EDF3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mitre_mappings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6EDF3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Нормализованные TTP (tactic, technique_id, technique_name, is_refined)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883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6EDF3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pipeline_runs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6EDF3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История запусков (run_id, started_at, n_collected, n_assessed)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036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6EDF3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batch_summary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6EDF3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Агрегированная статистика по пакетным запускам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8382000" y="14605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dirty="0">
                <a:solidFill>
                  <a:srgbClr val="00D4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Shiny — 5 вкладок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82000" y="1905000"/>
            <a:ext cx="3429000" cy="6985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509000" y="1968500"/>
            <a:ext cx="317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b="1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Обзор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KPI + тепловая карта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12001500" y="1905000"/>
            <a:ext cx="3492500" cy="6985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2128500" y="1968500"/>
            <a:ext cx="3238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b="1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Инструменты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Фильтры + карточки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8382000" y="2730500"/>
            <a:ext cx="3429000" cy="6985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509000" y="2794000"/>
            <a:ext cx="317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b="1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Аналитика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MITRE-матрица + слайдер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12001500" y="2730500"/>
            <a:ext cx="3492500" cy="6985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2128500" y="2794000"/>
            <a:ext cx="3238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b="1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Уточнение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Кандидаты на refine_mitre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8382000" y="3556000"/>
            <a:ext cx="7112000" cy="6985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509000" y="3619500"/>
            <a:ext cx="6858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b="1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Пайплайн</a:t>
            </a:r>
            <a:r>
              <a:rPr lang="en-US" sz="13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3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 история запусков, кнопка запуска из UI, лог в реальном времени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762000" y="4699000"/>
            <a:ext cx="14732000" cy="3302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016000" y="48514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D4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АРХИТЕКТУРНОЕ РЕШЕНИЕ: DUCKDB + RDS-СНАПШОТЫ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1016000" y="5270500"/>
            <a:ext cx="14224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5000"/>
              </a:lnSpc>
            </a:pPr>
            <a:r>
              <a:rPr lang="en-US" sz="1500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r>
              <a:rPr lang="en-US" sz="15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500" b="1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Пайплайн пишет</a:t>
            </a:r>
            <a:r>
              <a:rPr lang="en-US" sz="15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в DuckDB — полноценный SQL, оконные функции, в 3-4× быстрее SQLite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500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r>
              <a:rPr lang="en-US" sz="15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500" b="1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Visualize читает</a:t>
            </a:r>
            <a:r>
              <a:rPr lang="en-US" sz="15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DuckDB и строит RDS-снапшоты — заранее агрегированные данные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500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r>
              <a:rPr lang="en-US" sz="15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500" b="1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Shiny читает только RDS</a:t>
            </a:r>
            <a:r>
              <a:rPr lang="en-US" sz="15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нет конфликтов блокировок с работающим пайплайном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500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r>
              <a:rPr lang="en-US" sz="15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500" b="1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reactivePoll</a:t>
            </a:r>
            <a:r>
              <a:rPr lang="en-US" sz="15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следит за mtime RDS-файлов — UI обновляется только при </a:t>
            </a:r>
            <a:r>
              <a:rPr lang="en-US" sz="1500" dirty="0" err="1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реальных</a:t>
            </a:r>
            <a:r>
              <a:rPr lang="en-US" sz="15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500" dirty="0" err="1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изменениях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762000" y="8382000"/>
            <a:ext cx="14732000" cy="1270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34" name="Text 31"/>
          <p:cNvSpPr/>
          <p:nvPr/>
        </p:nvSpPr>
        <p:spPr>
          <a:xfrm>
            <a:off x="14732000" y="8509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8B94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0"/>
            <a:ext cx="1473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Вступление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35200" y="0"/>
            <a:ext cx="1473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Проблема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708400" y="0"/>
            <a:ext cx="1473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Архитектура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181600" y="0"/>
            <a:ext cx="1473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Источники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654800" y="0"/>
            <a:ext cx="1473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Пайплайн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128000" y="0"/>
            <a:ext cx="1473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LLM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0" y="0"/>
            <a:ext cx="1473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Скоринг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074400" y="0"/>
            <a:ext cx="1473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UI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547600" y="0"/>
            <a:ext cx="1473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Этап 4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020800" y="0"/>
            <a:ext cx="1473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Итоги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2547600" y="419100"/>
            <a:ext cx="1473200" cy="381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4" name="Shape 12"/>
          <p:cNvSpPr/>
          <p:nvPr/>
        </p:nvSpPr>
        <p:spPr>
          <a:xfrm>
            <a:off x="762000" y="762000"/>
            <a:ext cx="50800" cy="3556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5" name="Text 13"/>
          <p:cNvSpPr/>
          <p:nvPr/>
        </p:nvSpPr>
        <p:spPr>
          <a:xfrm>
            <a:off x="965200" y="7112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Что появилось или было доделано на этапе 4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762000" y="1270000"/>
            <a:ext cx="14732000" cy="1270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7" name="Shape 15"/>
          <p:cNvSpPr/>
          <p:nvPr/>
        </p:nvSpPr>
        <p:spPr>
          <a:xfrm>
            <a:off x="762000" y="1524000"/>
            <a:ext cx="4699000" cy="2032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16000" y="1714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1438" y="33338"/>
                </a:moveTo>
                <a:cubicBezTo>
                  <a:pt x="71438" y="14942"/>
                  <a:pt x="86380" y="0"/>
                  <a:pt x="104775" y="0"/>
                </a:cubicBezTo>
                <a:lnTo>
                  <a:pt x="119062" y="0"/>
                </a:lnTo>
                <a:cubicBezTo>
                  <a:pt x="129600" y="0"/>
                  <a:pt x="138113" y="8513"/>
                  <a:pt x="138113" y="19050"/>
                </a:cubicBezTo>
                <a:lnTo>
                  <a:pt x="138113" y="285750"/>
                </a:lnTo>
                <a:cubicBezTo>
                  <a:pt x="138113" y="296287"/>
                  <a:pt x="129600" y="304800"/>
                  <a:pt x="119062" y="304800"/>
                </a:cubicBezTo>
                <a:lnTo>
                  <a:pt x="100013" y="304800"/>
                </a:lnTo>
                <a:cubicBezTo>
                  <a:pt x="82272" y="304800"/>
                  <a:pt x="67330" y="292656"/>
                  <a:pt x="63103" y="276225"/>
                </a:cubicBezTo>
                <a:cubicBezTo>
                  <a:pt x="62686" y="276225"/>
                  <a:pt x="62329" y="276225"/>
                  <a:pt x="61912" y="276225"/>
                </a:cubicBezTo>
                <a:cubicBezTo>
                  <a:pt x="35600" y="276225"/>
                  <a:pt x="14288" y="254913"/>
                  <a:pt x="14288" y="228600"/>
                </a:cubicBezTo>
                <a:cubicBezTo>
                  <a:pt x="14288" y="217884"/>
                  <a:pt x="17859" y="208002"/>
                  <a:pt x="23813" y="200025"/>
                </a:cubicBezTo>
                <a:cubicBezTo>
                  <a:pt x="12263" y="191333"/>
                  <a:pt x="4763" y="177522"/>
                  <a:pt x="4763" y="161925"/>
                </a:cubicBezTo>
                <a:cubicBezTo>
                  <a:pt x="4763" y="143530"/>
                  <a:pt x="15240" y="127516"/>
                  <a:pt x="30480" y="119598"/>
                </a:cubicBezTo>
                <a:cubicBezTo>
                  <a:pt x="26253" y="112455"/>
                  <a:pt x="23813" y="104120"/>
                  <a:pt x="23813" y="95250"/>
                </a:cubicBezTo>
                <a:cubicBezTo>
                  <a:pt x="23813" y="68937"/>
                  <a:pt x="45125" y="47625"/>
                  <a:pt x="71438" y="47625"/>
                </a:cubicBezTo>
                <a:lnTo>
                  <a:pt x="71438" y="33338"/>
                </a:lnTo>
                <a:close/>
                <a:moveTo>
                  <a:pt x="233363" y="33338"/>
                </a:moveTo>
                <a:lnTo>
                  <a:pt x="233363" y="47625"/>
                </a:lnTo>
                <a:cubicBezTo>
                  <a:pt x="259675" y="47625"/>
                  <a:pt x="280987" y="68937"/>
                  <a:pt x="280987" y="95250"/>
                </a:cubicBezTo>
                <a:cubicBezTo>
                  <a:pt x="280987" y="104180"/>
                  <a:pt x="278547" y="112514"/>
                  <a:pt x="274320" y="119598"/>
                </a:cubicBezTo>
                <a:cubicBezTo>
                  <a:pt x="289620" y="127516"/>
                  <a:pt x="300038" y="143470"/>
                  <a:pt x="300038" y="161925"/>
                </a:cubicBezTo>
                <a:cubicBezTo>
                  <a:pt x="300038" y="177522"/>
                  <a:pt x="292537" y="191333"/>
                  <a:pt x="280987" y="200025"/>
                </a:cubicBezTo>
                <a:cubicBezTo>
                  <a:pt x="286941" y="208002"/>
                  <a:pt x="290513" y="217884"/>
                  <a:pt x="290513" y="228600"/>
                </a:cubicBezTo>
                <a:cubicBezTo>
                  <a:pt x="290513" y="254913"/>
                  <a:pt x="269200" y="276225"/>
                  <a:pt x="242888" y="276225"/>
                </a:cubicBezTo>
                <a:cubicBezTo>
                  <a:pt x="242471" y="276225"/>
                  <a:pt x="242114" y="276225"/>
                  <a:pt x="241697" y="276225"/>
                </a:cubicBezTo>
                <a:cubicBezTo>
                  <a:pt x="237470" y="292656"/>
                  <a:pt x="222528" y="304800"/>
                  <a:pt x="204787" y="304800"/>
                </a:cubicBezTo>
                <a:lnTo>
                  <a:pt x="185738" y="304800"/>
                </a:lnTo>
                <a:cubicBezTo>
                  <a:pt x="175200" y="304800"/>
                  <a:pt x="166688" y="296287"/>
                  <a:pt x="166688" y="285750"/>
                </a:cubicBezTo>
                <a:lnTo>
                  <a:pt x="166688" y="19050"/>
                </a:lnTo>
                <a:cubicBezTo>
                  <a:pt x="166688" y="8513"/>
                  <a:pt x="175200" y="0"/>
                  <a:pt x="185738" y="0"/>
                </a:cubicBezTo>
                <a:lnTo>
                  <a:pt x="200025" y="0"/>
                </a:lnTo>
                <a:cubicBezTo>
                  <a:pt x="218420" y="0"/>
                  <a:pt x="233363" y="14942"/>
                  <a:pt x="233363" y="33338"/>
                </a:cubicBez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19" name="Text 17"/>
          <p:cNvSpPr/>
          <p:nvPr/>
        </p:nvSpPr>
        <p:spPr>
          <a:xfrm>
            <a:off x="1422400" y="16891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 LLM-провайдеров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16000" y="2133600"/>
            <a:ext cx="4191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Единый интерфейс llm_provider.R — смена провайдера без изменения кода, 3 строки в .env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778500" y="1524000"/>
            <a:ext cx="4699000" cy="2032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51550" y="17145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266700" y="122515"/>
                </a:moveTo>
                <a:cubicBezTo>
                  <a:pt x="257889" y="128349"/>
                  <a:pt x="247769" y="133052"/>
                  <a:pt x="237232" y="136803"/>
                </a:cubicBezTo>
                <a:cubicBezTo>
                  <a:pt x="209252" y="146804"/>
                  <a:pt x="172522" y="152400"/>
                  <a:pt x="133350" y="152400"/>
                </a:cubicBezTo>
                <a:cubicBezTo>
                  <a:pt x="94178" y="152400"/>
                  <a:pt x="57388" y="146745"/>
                  <a:pt x="29468" y="136803"/>
                </a:cubicBezTo>
                <a:cubicBezTo>
                  <a:pt x="18990" y="133052"/>
                  <a:pt x="8811" y="128349"/>
                  <a:pt x="0" y="122515"/>
                </a:cubicBezTo>
                <a:lnTo>
                  <a:pt x="0" y="171450"/>
                </a:lnTo>
                <a:cubicBezTo>
                  <a:pt x="0" y="197763"/>
                  <a:pt x="59710" y="219075"/>
                  <a:pt x="133350" y="219075"/>
                </a:cubicBezTo>
                <a:cubicBezTo>
                  <a:pt x="206990" y="219075"/>
                  <a:pt x="266700" y="197763"/>
                  <a:pt x="266700" y="171450"/>
                </a:cubicBezTo>
                <a:lnTo>
                  <a:pt x="266700" y="122515"/>
                </a:lnTo>
                <a:close/>
                <a:moveTo>
                  <a:pt x="266700" y="76200"/>
                </a:moveTo>
                <a:lnTo>
                  <a:pt x="266700" y="47625"/>
                </a:lnTo>
                <a:cubicBezTo>
                  <a:pt x="266700" y="21312"/>
                  <a:pt x="206990" y="0"/>
                  <a:pt x="133350" y="0"/>
                </a:cubicBezTo>
                <a:cubicBezTo>
                  <a:pt x="59710" y="0"/>
                  <a:pt x="0" y="21312"/>
                  <a:pt x="0" y="47625"/>
                </a:cubicBezTo>
                <a:lnTo>
                  <a:pt x="0" y="76200"/>
                </a:lnTo>
                <a:cubicBezTo>
                  <a:pt x="0" y="102513"/>
                  <a:pt x="59710" y="123825"/>
                  <a:pt x="133350" y="123825"/>
                </a:cubicBezTo>
                <a:cubicBezTo>
                  <a:pt x="206990" y="123825"/>
                  <a:pt x="266700" y="102513"/>
                  <a:pt x="266700" y="76200"/>
                </a:cubicBezTo>
                <a:close/>
                <a:moveTo>
                  <a:pt x="237232" y="232053"/>
                </a:moveTo>
                <a:cubicBezTo>
                  <a:pt x="209312" y="241995"/>
                  <a:pt x="172581" y="247650"/>
                  <a:pt x="133350" y="247650"/>
                </a:cubicBezTo>
                <a:cubicBezTo>
                  <a:pt x="94119" y="247650"/>
                  <a:pt x="57388" y="241995"/>
                  <a:pt x="29468" y="232053"/>
                </a:cubicBezTo>
                <a:cubicBezTo>
                  <a:pt x="18990" y="228302"/>
                  <a:pt x="8811" y="223599"/>
                  <a:pt x="0" y="217765"/>
                </a:cubicBezTo>
                <a:lnTo>
                  <a:pt x="0" y="257175"/>
                </a:lnTo>
                <a:cubicBezTo>
                  <a:pt x="0" y="283488"/>
                  <a:pt x="59710" y="304800"/>
                  <a:pt x="133350" y="304800"/>
                </a:cubicBezTo>
                <a:cubicBezTo>
                  <a:pt x="206990" y="304800"/>
                  <a:pt x="266700" y="283488"/>
                  <a:pt x="266700" y="257175"/>
                </a:cubicBezTo>
                <a:lnTo>
                  <a:pt x="266700" y="217765"/>
                </a:lnTo>
                <a:cubicBezTo>
                  <a:pt x="257889" y="223599"/>
                  <a:pt x="247769" y="228302"/>
                  <a:pt x="237232" y="232053"/>
                </a:cubicBez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23" name="Text 21"/>
          <p:cNvSpPr/>
          <p:nvPr/>
        </p:nvSpPr>
        <p:spPr>
          <a:xfrm>
            <a:off x="6438900" y="16891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RSS + PacketStorm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032500" y="2133600"/>
            <a:ext cx="4191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Два новых ETL-модуля. Гибкая настройка через .env: OTM_RSS_FEEDS и PACKETSTORM_URLS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0795000" y="1524000"/>
            <a:ext cx="4699000" cy="2032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068050" y="17145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54293" y="21967"/>
                </a:moveTo>
                <a:cubicBezTo>
                  <a:pt x="46911" y="17919"/>
                  <a:pt x="37981" y="18098"/>
                  <a:pt x="30718" y="22384"/>
                </a:cubicBezTo>
                <a:cubicBezTo>
                  <a:pt x="23455" y="26670"/>
                  <a:pt x="19050" y="34469"/>
                  <a:pt x="19050" y="42863"/>
                </a:cubicBezTo>
                <a:lnTo>
                  <a:pt x="19050" y="261937"/>
                </a:lnTo>
                <a:cubicBezTo>
                  <a:pt x="19050" y="270331"/>
                  <a:pt x="23515" y="278130"/>
                  <a:pt x="30718" y="282416"/>
                </a:cubicBezTo>
                <a:cubicBezTo>
                  <a:pt x="37921" y="286702"/>
                  <a:pt x="46911" y="286881"/>
                  <a:pt x="54293" y="282833"/>
                </a:cubicBezTo>
                <a:lnTo>
                  <a:pt x="254318" y="173295"/>
                </a:lnTo>
                <a:cubicBezTo>
                  <a:pt x="261937" y="169128"/>
                  <a:pt x="266700" y="161092"/>
                  <a:pt x="266700" y="152400"/>
                </a:cubicBezTo>
                <a:cubicBezTo>
                  <a:pt x="266700" y="143708"/>
                  <a:pt x="261937" y="135672"/>
                  <a:pt x="254318" y="131505"/>
                </a:cubicBezTo>
                <a:lnTo>
                  <a:pt x="54293" y="21967"/>
                </a:ln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27" name="Text 25"/>
          <p:cNvSpPr/>
          <p:nvPr/>
        </p:nvSpPr>
        <p:spPr>
          <a:xfrm>
            <a:off x="11455400" y="16891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Запуск из UI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049000" y="2133600"/>
            <a:ext cx="4191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Кнопка запуска пайплайна из Shiny, фоновое выполнение через system2(), лог в реальном времени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62000" y="3810000"/>
            <a:ext cx="4699000" cy="2032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96950" y="40005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156805" y="-16073"/>
                </a:moveTo>
                <a:lnTo>
                  <a:pt x="165616" y="5834"/>
                </a:lnTo>
                <a:lnTo>
                  <a:pt x="187523" y="14645"/>
                </a:lnTo>
                <a:cubicBezTo>
                  <a:pt x="189309" y="15359"/>
                  <a:pt x="190500" y="17145"/>
                  <a:pt x="190500" y="19050"/>
                </a:cubicBezTo>
                <a:cubicBezTo>
                  <a:pt x="190500" y="20955"/>
                  <a:pt x="189309" y="22741"/>
                  <a:pt x="187523" y="23455"/>
                </a:cubicBezTo>
                <a:lnTo>
                  <a:pt x="165616" y="32266"/>
                </a:lnTo>
                <a:lnTo>
                  <a:pt x="156805" y="54173"/>
                </a:lnTo>
                <a:cubicBezTo>
                  <a:pt x="156091" y="55959"/>
                  <a:pt x="154305" y="57150"/>
                  <a:pt x="152400" y="57150"/>
                </a:cubicBezTo>
                <a:cubicBezTo>
                  <a:pt x="150495" y="57150"/>
                  <a:pt x="148709" y="55959"/>
                  <a:pt x="147995" y="54173"/>
                </a:cubicBezTo>
                <a:lnTo>
                  <a:pt x="139184" y="32266"/>
                </a:lnTo>
                <a:lnTo>
                  <a:pt x="117277" y="23455"/>
                </a:lnTo>
                <a:cubicBezTo>
                  <a:pt x="115491" y="22741"/>
                  <a:pt x="114300" y="20955"/>
                  <a:pt x="114300" y="19050"/>
                </a:cubicBezTo>
                <a:cubicBezTo>
                  <a:pt x="114300" y="17145"/>
                  <a:pt x="115491" y="15359"/>
                  <a:pt x="117277" y="14645"/>
                </a:cubicBezTo>
                <a:lnTo>
                  <a:pt x="139184" y="5834"/>
                </a:lnTo>
                <a:lnTo>
                  <a:pt x="147995" y="-16073"/>
                </a:lnTo>
                <a:cubicBezTo>
                  <a:pt x="148709" y="-17859"/>
                  <a:pt x="150495" y="-19050"/>
                  <a:pt x="152400" y="-19050"/>
                </a:cubicBezTo>
                <a:cubicBezTo>
                  <a:pt x="154305" y="-19050"/>
                  <a:pt x="156091" y="-17859"/>
                  <a:pt x="156805" y="-16073"/>
                </a:cubicBezTo>
                <a:close/>
                <a:moveTo>
                  <a:pt x="65901" y="24825"/>
                </a:moveTo>
                <a:lnTo>
                  <a:pt x="78700" y="54650"/>
                </a:lnTo>
                <a:lnTo>
                  <a:pt x="108525" y="67449"/>
                </a:lnTo>
                <a:cubicBezTo>
                  <a:pt x="112038" y="68937"/>
                  <a:pt x="114300" y="72390"/>
                  <a:pt x="114300" y="76200"/>
                </a:cubicBezTo>
                <a:cubicBezTo>
                  <a:pt x="114300" y="80010"/>
                  <a:pt x="112038" y="83463"/>
                  <a:pt x="108525" y="84951"/>
                </a:cubicBezTo>
                <a:lnTo>
                  <a:pt x="78700" y="97750"/>
                </a:lnTo>
                <a:lnTo>
                  <a:pt x="65901" y="127575"/>
                </a:lnTo>
                <a:cubicBezTo>
                  <a:pt x="64413" y="131088"/>
                  <a:pt x="60960" y="133350"/>
                  <a:pt x="57150" y="133350"/>
                </a:cubicBezTo>
                <a:cubicBezTo>
                  <a:pt x="53340" y="133350"/>
                  <a:pt x="49887" y="131088"/>
                  <a:pt x="48399" y="127575"/>
                </a:cubicBezTo>
                <a:lnTo>
                  <a:pt x="35600" y="97750"/>
                </a:lnTo>
                <a:lnTo>
                  <a:pt x="5775" y="84951"/>
                </a:lnTo>
                <a:cubicBezTo>
                  <a:pt x="2262" y="83463"/>
                  <a:pt x="0" y="80010"/>
                  <a:pt x="0" y="76200"/>
                </a:cubicBezTo>
                <a:cubicBezTo>
                  <a:pt x="0" y="72390"/>
                  <a:pt x="2262" y="68937"/>
                  <a:pt x="5775" y="67449"/>
                </a:cubicBezTo>
                <a:lnTo>
                  <a:pt x="35600" y="54650"/>
                </a:lnTo>
                <a:lnTo>
                  <a:pt x="48399" y="24825"/>
                </a:lnTo>
                <a:cubicBezTo>
                  <a:pt x="49887" y="21312"/>
                  <a:pt x="53340" y="19050"/>
                  <a:pt x="57150" y="19050"/>
                </a:cubicBezTo>
                <a:cubicBezTo>
                  <a:pt x="60960" y="19050"/>
                  <a:pt x="64413" y="21312"/>
                  <a:pt x="65901" y="24825"/>
                </a:cubicBezTo>
                <a:close/>
                <a:moveTo>
                  <a:pt x="276225" y="180975"/>
                </a:moveTo>
                <a:cubicBezTo>
                  <a:pt x="280035" y="180975"/>
                  <a:pt x="283488" y="183237"/>
                  <a:pt x="284976" y="186750"/>
                </a:cubicBezTo>
                <a:lnTo>
                  <a:pt x="297775" y="216575"/>
                </a:lnTo>
                <a:lnTo>
                  <a:pt x="327600" y="229374"/>
                </a:lnTo>
                <a:cubicBezTo>
                  <a:pt x="331113" y="230862"/>
                  <a:pt x="333375" y="234315"/>
                  <a:pt x="333375" y="238125"/>
                </a:cubicBezTo>
                <a:cubicBezTo>
                  <a:pt x="333375" y="241935"/>
                  <a:pt x="331113" y="245388"/>
                  <a:pt x="327600" y="246876"/>
                </a:cubicBezTo>
                <a:lnTo>
                  <a:pt x="297775" y="259675"/>
                </a:lnTo>
                <a:lnTo>
                  <a:pt x="284976" y="289500"/>
                </a:lnTo>
                <a:cubicBezTo>
                  <a:pt x="283488" y="293013"/>
                  <a:pt x="280035" y="295275"/>
                  <a:pt x="276225" y="295275"/>
                </a:cubicBezTo>
                <a:cubicBezTo>
                  <a:pt x="272415" y="295275"/>
                  <a:pt x="268962" y="293013"/>
                  <a:pt x="267474" y="289500"/>
                </a:cubicBezTo>
                <a:lnTo>
                  <a:pt x="254675" y="259675"/>
                </a:lnTo>
                <a:lnTo>
                  <a:pt x="224850" y="246876"/>
                </a:lnTo>
                <a:cubicBezTo>
                  <a:pt x="221337" y="245388"/>
                  <a:pt x="219075" y="241935"/>
                  <a:pt x="219075" y="238125"/>
                </a:cubicBezTo>
                <a:cubicBezTo>
                  <a:pt x="219075" y="234315"/>
                  <a:pt x="221337" y="230862"/>
                  <a:pt x="224850" y="229374"/>
                </a:cubicBezTo>
                <a:lnTo>
                  <a:pt x="254675" y="216575"/>
                </a:lnTo>
                <a:lnTo>
                  <a:pt x="267474" y="186750"/>
                </a:lnTo>
                <a:cubicBezTo>
                  <a:pt x="268962" y="183237"/>
                  <a:pt x="272415" y="180975"/>
                  <a:pt x="276225" y="180975"/>
                </a:cubicBezTo>
                <a:close/>
                <a:moveTo>
                  <a:pt x="273844" y="0"/>
                </a:moveTo>
                <a:cubicBezTo>
                  <a:pt x="280392" y="0"/>
                  <a:pt x="286703" y="2619"/>
                  <a:pt x="291405" y="7263"/>
                </a:cubicBezTo>
                <a:lnTo>
                  <a:pt x="316587" y="32445"/>
                </a:lnTo>
                <a:cubicBezTo>
                  <a:pt x="321231" y="37148"/>
                  <a:pt x="323850" y="43458"/>
                  <a:pt x="323850" y="50006"/>
                </a:cubicBezTo>
                <a:cubicBezTo>
                  <a:pt x="323850" y="56555"/>
                  <a:pt x="321231" y="62865"/>
                  <a:pt x="316587" y="67568"/>
                </a:cubicBezTo>
                <a:lnTo>
                  <a:pt x="264081" y="120075"/>
                </a:lnTo>
                <a:lnTo>
                  <a:pt x="203775" y="59769"/>
                </a:lnTo>
                <a:lnTo>
                  <a:pt x="256282" y="7263"/>
                </a:lnTo>
                <a:cubicBezTo>
                  <a:pt x="260985" y="2619"/>
                  <a:pt x="267295" y="0"/>
                  <a:pt x="273844" y="0"/>
                </a:cubicBezTo>
                <a:close/>
                <a:moveTo>
                  <a:pt x="26313" y="237232"/>
                </a:moveTo>
                <a:lnTo>
                  <a:pt x="183594" y="79950"/>
                </a:lnTo>
                <a:lnTo>
                  <a:pt x="243900" y="140256"/>
                </a:lnTo>
                <a:lnTo>
                  <a:pt x="86618" y="297537"/>
                </a:lnTo>
                <a:cubicBezTo>
                  <a:pt x="81915" y="302181"/>
                  <a:pt x="75605" y="304800"/>
                  <a:pt x="69056" y="304800"/>
                </a:cubicBezTo>
                <a:cubicBezTo>
                  <a:pt x="62508" y="304800"/>
                  <a:pt x="56198" y="302181"/>
                  <a:pt x="51495" y="297537"/>
                </a:cubicBezTo>
                <a:lnTo>
                  <a:pt x="26313" y="272355"/>
                </a:lnTo>
                <a:cubicBezTo>
                  <a:pt x="21669" y="267653"/>
                  <a:pt x="19050" y="261342"/>
                  <a:pt x="19050" y="254794"/>
                </a:cubicBezTo>
                <a:cubicBezTo>
                  <a:pt x="19050" y="248245"/>
                  <a:pt x="21669" y="241935"/>
                  <a:pt x="26313" y="237232"/>
                </a:cubicBez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31" name="Text 29"/>
          <p:cNvSpPr/>
          <p:nvPr/>
        </p:nvSpPr>
        <p:spPr>
          <a:xfrm>
            <a:off x="1422400" y="39751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Мастер настройки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16000" y="4419600"/>
            <a:ext cx="4191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 интерактивных шагов: провайдер, модель, API-ключ, GitHub PAT, лимиты, RSS, PacketStorm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778500" y="3810000"/>
            <a:ext cx="4699000" cy="2032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032500" y="4000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/>
            </a:pathLst>
          </a:custGeom>
          <a:solidFill>
            <a:srgbClr val="00D4AA"/>
          </a:solidFill>
          <a:ln/>
        </p:spPr>
      </p:sp>
      <p:sp>
        <p:nvSpPr>
          <p:cNvPr id="35" name="Text 33"/>
          <p:cNvSpPr/>
          <p:nvPr/>
        </p:nvSpPr>
        <p:spPr>
          <a:xfrm>
            <a:off x="6438900" y="39751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Docker Compose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032500" y="4419600"/>
            <a:ext cx="4191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Два сервиса: shiny-app (порт 8788) и mcp-server (порт 3000). docker compose up --build — </a:t>
            </a:r>
            <a:r>
              <a:rPr lang="en-US" sz="1400" dirty="0" err="1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од</a:t>
            </a:r>
            <a:r>
              <a:rPr lang="ru-RU" sz="14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ной</a:t>
            </a:r>
            <a:r>
              <a:rPr lang="en-US" sz="14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командой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10795000" y="3810000"/>
            <a:ext cx="4699000" cy="2032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049000" y="4000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85810" y="114300"/>
                </a:moveTo>
                <a:lnTo>
                  <a:pt x="290513" y="114300"/>
                </a:lnTo>
                <a:cubicBezTo>
                  <a:pt x="298430" y="114300"/>
                  <a:pt x="304800" y="107930"/>
                  <a:pt x="304800" y="100013"/>
                </a:cubicBezTo>
                <a:lnTo>
                  <a:pt x="304800" y="14288"/>
                </a:lnTo>
                <a:cubicBezTo>
                  <a:pt x="304800" y="8513"/>
                  <a:pt x="301347" y="3274"/>
                  <a:pt x="295989" y="1072"/>
                </a:cubicBezTo>
                <a:cubicBezTo>
                  <a:pt x="290632" y="-1131"/>
                  <a:pt x="284500" y="119"/>
                  <a:pt x="280392" y="4167"/>
                </a:cubicBezTo>
                <a:lnTo>
                  <a:pt x="249615" y="35004"/>
                </a:lnTo>
                <a:cubicBezTo>
                  <a:pt x="223242" y="13156"/>
                  <a:pt x="189309" y="0"/>
                  <a:pt x="152400" y="0"/>
                </a:cubicBezTo>
                <a:cubicBezTo>
                  <a:pt x="75605" y="0"/>
                  <a:pt x="12085" y="56793"/>
                  <a:pt x="1548" y="130671"/>
                </a:cubicBezTo>
                <a:cubicBezTo>
                  <a:pt x="60" y="141089"/>
                  <a:pt x="7263" y="150733"/>
                  <a:pt x="17681" y="152221"/>
                </a:cubicBezTo>
                <a:cubicBezTo>
                  <a:pt x="28099" y="153710"/>
                  <a:pt x="37743" y="146447"/>
                  <a:pt x="39231" y="136088"/>
                </a:cubicBezTo>
                <a:cubicBezTo>
                  <a:pt x="47149" y="80665"/>
                  <a:pt x="94833" y="38100"/>
                  <a:pt x="152400" y="38100"/>
                </a:cubicBezTo>
                <a:cubicBezTo>
                  <a:pt x="178832" y="38100"/>
                  <a:pt x="203121" y="47030"/>
                  <a:pt x="222468" y="62091"/>
                </a:cubicBezTo>
                <a:lnTo>
                  <a:pt x="194667" y="89892"/>
                </a:lnTo>
                <a:cubicBezTo>
                  <a:pt x="190560" y="94000"/>
                  <a:pt x="189369" y="100132"/>
                  <a:pt x="191572" y="105489"/>
                </a:cubicBezTo>
                <a:cubicBezTo>
                  <a:pt x="193774" y="110847"/>
                  <a:pt x="199013" y="114300"/>
                  <a:pt x="204787" y="114300"/>
                </a:cubicBezTo>
                <a:lnTo>
                  <a:pt x="285810" y="114300"/>
                </a:lnTo>
                <a:close/>
                <a:moveTo>
                  <a:pt x="303312" y="174129"/>
                </a:moveTo>
                <a:cubicBezTo>
                  <a:pt x="304800" y="163711"/>
                  <a:pt x="297537" y="154067"/>
                  <a:pt x="287179" y="152579"/>
                </a:cubicBezTo>
                <a:cubicBezTo>
                  <a:pt x="276820" y="151090"/>
                  <a:pt x="267117" y="158353"/>
                  <a:pt x="265628" y="168712"/>
                </a:cubicBezTo>
                <a:cubicBezTo>
                  <a:pt x="257711" y="224076"/>
                  <a:pt x="210026" y="266640"/>
                  <a:pt x="152460" y="266640"/>
                </a:cubicBezTo>
                <a:cubicBezTo>
                  <a:pt x="126028" y="266640"/>
                  <a:pt x="101739" y="257711"/>
                  <a:pt x="82391" y="242649"/>
                </a:cubicBezTo>
                <a:lnTo>
                  <a:pt x="110133" y="214908"/>
                </a:lnTo>
                <a:cubicBezTo>
                  <a:pt x="114240" y="210800"/>
                  <a:pt x="115431" y="204668"/>
                  <a:pt x="113228" y="199311"/>
                </a:cubicBezTo>
                <a:cubicBezTo>
                  <a:pt x="111026" y="193953"/>
                  <a:pt x="105787" y="190500"/>
                  <a:pt x="100013" y="190500"/>
                </a:cubicBezTo>
                <a:lnTo>
                  <a:pt x="14288" y="190500"/>
                </a:lnTo>
                <a:cubicBezTo>
                  <a:pt x="6370" y="190500"/>
                  <a:pt x="0" y="196870"/>
                  <a:pt x="0" y="204787"/>
                </a:cubicBezTo>
                <a:lnTo>
                  <a:pt x="0" y="290513"/>
                </a:lnTo>
                <a:cubicBezTo>
                  <a:pt x="0" y="296287"/>
                  <a:pt x="3453" y="301526"/>
                  <a:pt x="8811" y="303728"/>
                </a:cubicBezTo>
                <a:cubicBezTo>
                  <a:pt x="14168" y="305931"/>
                  <a:pt x="20300" y="304681"/>
                  <a:pt x="24408" y="300633"/>
                </a:cubicBezTo>
                <a:lnTo>
                  <a:pt x="55245" y="269796"/>
                </a:lnTo>
                <a:cubicBezTo>
                  <a:pt x="81558" y="291644"/>
                  <a:pt x="115491" y="304800"/>
                  <a:pt x="152400" y="304800"/>
                </a:cubicBezTo>
                <a:cubicBezTo>
                  <a:pt x="229195" y="304800"/>
                  <a:pt x="292715" y="248007"/>
                  <a:pt x="303252" y="174129"/>
                </a:cubicBezTo>
                <a:close/>
              </a:path>
            </a:pathLst>
          </a:custGeom>
          <a:solidFill>
            <a:srgbClr val="00D4AA"/>
          </a:solidFill>
          <a:ln/>
        </p:spPr>
      </p:sp>
      <p:sp>
        <p:nvSpPr>
          <p:cNvPr id="39" name="Text 37"/>
          <p:cNvSpPr/>
          <p:nvPr/>
        </p:nvSpPr>
        <p:spPr>
          <a:xfrm>
            <a:off x="11455400" y="39751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reactivePoll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1049000" y="4419600"/>
            <a:ext cx="4191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Обновление UI только при реальных изменениях RDS (проверка mtime), вместо invalidateLater каждые 10 сек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762000" y="6223000"/>
            <a:ext cx="14732000" cy="1778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62000" y="6223000"/>
            <a:ext cx="50800" cy="177800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43" name="Text 41"/>
          <p:cNvSpPr/>
          <p:nvPr/>
        </p:nvSpPr>
        <p:spPr>
          <a:xfrm>
            <a:off x="1016000" y="63500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088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ДОПОЛНИТЕЛЬНО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016000" y="6731000"/>
            <a:ext cx="14224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5000"/>
              </a:lnSpc>
            </a:pPr>
            <a:r>
              <a:rPr lang="en-US" sz="1500" dirty="0">
                <a:solidFill>
                  <a:srgbClr val="F088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r>
              <a:rPr lang="en-US" sz="15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500" b="1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run_collect_only.R</a:t>
            </a:r>
            <a:r>
              <a:rPr lang="en-US" sz="15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скрипт без LLM для проверки источников (бесплатно)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500" dirty="0">
                <a:solidFill>
                  <a:srgbClr val="F088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r>
              <a:rPr lang="en-US" sz="15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500" b="1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CSS-правки</a:t>
            </a:r>
            <a:r>
              <a:rPr lang="en-US" sz="15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белый фон в модальном окне, уменьшен hero-заголовок, читаемые цвета вкладок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500" dirty="0">
                <a:solidFill>
                  <a:srgbClr val="F088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r>
              <a:rPr lang="en-US" sz="15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500" b="1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MCP-сервер</a:t>
            </a:r>
            <a:r>
              <a:rPr lang="en-US" sz="15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5 инструментов для AI-агентов: поиск, TTP, статистика, классификация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62000" y="8382000"/>
            <a:ext cx="14732000" cy="1270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46" name="Text 44"/>
          <p:cNvSpPr/>
          <p:nvPr/>
        </p:nvSpPr>
        <p:spPr>
          <a:xfrm>
            <a:off x="14732000" y="8509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8B94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508000"/>
            <a:ext cx="2540000" cy="381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14732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0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Итоги и дальнейшие планы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62000" y="1587500"/>
            <a:ext cx="14732000" cy="1270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8415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kern="0" spc="300" dirty="0">
                <a:solidFill>
                  <a:srgbClr val="00D4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РЕЗУЛЬТАТЫ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2222500"/>
            <a:ext cx="7112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r>
              <a:rPr lang="en-US" sz="15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Пайплайн из </a:t>
            </a:r>
            <a:r>
              <a:rPr lang="en-US" sz="1500" b="1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 этапов</a:t>
            </a:r>
            <a:r>
              <a:rPr lang="en-US" sz="15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collect → normalize → assessment → refine_mitre → visualize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r>
              <a:rPr lang="en-US" sz="15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500" b="1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 LLM-провайдеров</a:t>
            </a:r>
            <a:r>
              <a:rPr lang="en-US" sz="15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через единый интерфейс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r>
              <a:rPr lang="en-US" sz="15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500" b="1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 источника</a:t>
            </a:r>
            <a:r>
              <a:rPr lang="en-US" sz="15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данных: GitHub, RSS, PacketStorm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r>
              <a:rPr lang="en-US" sz="15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500" b="1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Shiny-приложение</a:t>
            </a:r>
            <a:r>
              <a:rPr lang="en-US" sz="15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с 5 вкладками и кнопкой запуска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r>
              <a:rPr lang="en-US" sz="15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500" b="1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MCP-сервер</a:t>
            </a:r>
            <a:r>
              <a:rPr lang="en-US" sz="15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с 5 инструментами для AI-агентов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r>
              <a:rPr lang="en-US" sz="15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500" b="1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Docker Compose</a:t>
            </a:r>
            <a:r>
              <a:rPr lang="en-US" sz="15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для воспроизводимого развёртывания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r>
              <a:rPr lang="en-US" sz="15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Двухступенчатая система </a:t>
            </a:r>
            <a:r>
              <a:rPr lang="en-US" sz="1500" b="1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скоринга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82000" y="18415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kern="0" spc="300" dirty="0">
                <a:solidFill>
                  <a:srgbClr val="F088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ПЛАНЫ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382000" y="2222500"/>
            <a:ext cx="7112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F088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r>
              <a:rPr lang="en-US" sz="15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500" b="1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Human-in-the-loop</a:t>
            </a:r>
            <a:r>
              <a:rPr lang="en-US" sz="15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ручное подтверждение маппингов, статус reviewed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F088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r>
              <a:rPr lang="en-US" sz="15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500" b="1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LLM-</a:t>
            </a:r>
            <a:r>
              <a:rPr lang="en-US" sz="1500" b="1" dirty="0" err="1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обз</a:t>
            </a:r>
            <a:r>
              <a:rPr lang="ru-RU" sz="1500" b="1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ор</a:t>
            </a:r>
            <a:r>
              <a:rPr lang="en-US" sz="15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метрики: задержка, retry, стоимость по провайдерам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F088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r>
              <a:rPr lang="en-US" sz="15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500" b="1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Экспорт в STIX/TAXII</a:t>
            </a:r>
            <a:r>
              <a:rPr lang="en-US" sz="1500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интеграция с SIEM и TI-платформами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064500" y="2222500"/>
            <a:ext cx="12700" cy="317500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0" name="Shape 8"/>
          <p:cNvSpPr/>
          <p:nvPr/>
        </p:nvSpPr>
        <p:spPr>
          <a:xfrm>
            <a:off x="762000" y="5715000"/>
            <a:ext cx="14732000" cy="1778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16000" y="58420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kern="0" spc="300" dirty="0">
                <a:solidFill>
                  <a:srgbClr val="00D4A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КЛЮЧЕВЫЕ ВЫВОДЫ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16000" y="6223000"/>
            <a:ext cx="14224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</a:t>
            </a:r>
            <a:r>
              <a:rPr lang="en-US" sz="14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Pre-LLM </a:t>
            </a:r>
            <a:r>
              <a:rPr lang="en-US" sz="1400" dirty="0" err="1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фильтрация</a:t>
            </a:r>
            <a:r>
              <a:rPr lang="en-US" sz="14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400" b="1" dirty="0" err="1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критически</a:t>
            </a:r>
            <a:r>
              <a:rPr lang="en-US" sz="1400" b="1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400" b="1" dirty="0" err="1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важна</a:t>
            </a:r>
            <a:r>
              <a:rPr lang="en-US" sz="14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</a:t>
            </a:r>
            <a:r>
              <a:rPr lang="en-US" sz="1400" dirty="0" err="1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сокращает</a:t>
            </a:r>
            <a:r>
              <a:rPr lang="en-US" sz="14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400" dirty="0" err="1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расходы</a:t>
            </a:r>
            <a:r>
              <a:rPr lang="en-US" sz="14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400" dirty="0" err="1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на</a:t>
            </a:r>
            <a:r>
              <a:rPr lang="en-US" sz="14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API в 2–3 </a:t>
            </a:r>
            <a:r>
              <a:rPr lang="en-US" sz="1400" dirty="0" err="1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раза</a:t>
            </a:r>
            <a:r>
              <a:rPr lang="en-US" sz="14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400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</a:t>
            </a:r>
            <a:r>
              <a:rPr lang="en-US" sz="14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ru-RU" sz="14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Вызов инструментов по команде LLM </a:t>
            </a:r>
            <a:r>
              <a:rPr lang="en-US" sz="1400" b="1" dirty="0" err="1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надёжнее</a:t>
            </a:r>
            <a:r>
              <a:rPr lang="en-US" sz="14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400" dirty="0" err="1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промптинга</a:t>
            </a:r>
            <a:r>
              <a:rPr lang="en-US" sz="14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~15% → &lt;1% </a:t>
            </a:r>
            <a:r>
              <a:rPr lang="en-US" sz="1400" dirty="0" err="1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ошибок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</a:t>
            </a:r>
            <a:r>
              <a:rPr lang="en-US" sz="14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DuckDB + RDS-снапшоты — </a:t>
            </a:r>
            <a:r>
              <a:rPr lang="en-US" sz="1400" b="1" dirty="0" err="1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архитектура</a:t>
            </a:r>
            <a:r>
              <a:rPr lang="en-US" sz="14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без блокировок </a:t>
            </a:r>
            <a:r>
              <a:rPr lang="en-US" sz="1400" dirty="0">
                <a:solidFill>
                  <a:srgbClr val="00D4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</a:t>
            </a:r>
            <a:r>
              <a:rPr lang="en-US" sz="14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MCP </a:t>
            </a:r>
            <a:r>
              <a:rPr lang="en-US" sz="1400" b="1" dirty="0">
                <a:solidFill>
                  <a:srgbClr val="E6EDF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открывает новые сценарии</a:t>
            </a:r>
            <a:r>
              <a:rPr lang="en-US" sz="1400" dirty="0">
                <a:solidFill>
                  <a:srgbClr val="8B94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интеграции с AI-агентами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588000" y="7810500"/>
            <a:ext cx="5080000" cy="254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4" name="Text 12"/>
          <p:cNvSpPr/>
          <p:nvPr/>
        </p:nvSpPr>
        <p:spPr>
          <a:xfrm>
            <a:off x="4254500" y="7937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Спасибо за внимание! 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048000" y="8509000"/>
            <a:ext cx="1016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8B94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Новосельский Д • Коломийцев Н • Толмачёв Н • Ширинов А • Игнатов Д | 2026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1711</Words>
  <Application>Microsoft Office PowerPoint</Application>
  <PresentationFormat>Произвольный</PresentationFormat>
  <Paragraphs>327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6" baseType="lpstr">
      <vt:lpstr>Liter</vt:lpstr>
      <vt:lpstr>Arial</vt:lpstr>
      <vt:lpstr>QuattrocentoSans</vt:lpstr>
      <vt:lpstr>Quattrocento Sans</vt:lpstr>
      <vt:lpstr>Custom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Автоматический мониторинг и классификация инструментов пентеста по MITRE ATT&amp;CK</dc:title>
  <dc:subject>Автоматический мониторинг и классификация инструментов пентеста по MITRE ATT&amp;CK</dc:subject>
  <dc:creator>Kimi</dc:creator>
  <cp:lastModifiedBy>Nikita Kolomytsev</cp:lastModifiedBy>
  <cp:revision>14</cp:revision>
  <dcterms:created xsi:type="dcterms:W3CDTF">2026-05-16T06:28:10Z</dcterms:created>
  <dcterms:modified xsi:type="dcterms:W3CDTF">2026-05-18T09:28:05Z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{"Label":"Автоматический мониторинг и классификация инструментов пентеста по MITRE ATT&amp;CK","ContentProducer":"001191110108MACG2KBH8F10000","ProduceID":"19e2f74a-33e2-8d86-8000-00003ef8a16c","ReservedCode1":"","ContentPropagator":"001191110108MACG2KBH8F20000","PropagateID":"19e2f74a-33e2-8d86-8000-00003ef8a16c","ReservedCode2":""}</vt:lpwstr>
  </property>
</Properties>
</file>