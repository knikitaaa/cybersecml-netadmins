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embeddedFontLst>
    <p:embeddedFont>
      <p:font typeface="MiSans" charset="-122"/>
      <p:regular r:id="rId17"/>
    </p:embeddedFont>
    <p:embeddedFont>
      <p:font typeface="Liter" charset="0"/>
      <p:regular r:id="rId18"/>
    </p:embeddedFont>
    <p:embeddedFont>
      <p:font typeface="Calibri" pitchFamily="34" charset="0"/>
      <p:regular r:id="rId19"/>
      <p:bold r:id="rId20"/>
      <p:italic r:id="rId21"/>
      <p:boldItalic r:id="rId2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2" d="100"/>
          <a:sy n="122" d="100"/>
        </p:scale>
        <p:origin x="-1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14EBC9-43B2-4189-9696-9C26ADF7E537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6DE33-A3B6-4EC3-9780-54DDCC7625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1371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0af553ea06f30b170942a9c53a04309de472d08e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5556" r="555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6D8C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385763"/>
            <a:ext cx="3505200" cy="390525"/>
          </a:xfrm>
          <a:custGeom>
            <a:avLst/>
            <a:gdLst/>
            <a:ahLst/>
            <a:cxnLst/>
            <a:rect l="l" t="t" r="r" b="b"/>
            <a:pathLst>
              <a:path w="3505200" h="390525">
                <a:moveTo>
                  <a:pt x="76199" y="0"/>
                </a:moveTo>
                <a:lnTo>
                  <a:pt x="3429001" y="0"/>
                </a:lnTo>
                <a:cubicBezTo>
                  <a:pt x="3471084" y="0"/>
                  <a:pt x="3505200" y="34116"/>
                  <a:pt x="3505200" y="76199"/>
                </a:cubicBezTo>
                <a:lnTo>
                  <a:pt x="3505200" y="314326"/>
                </a:lnTo>
                <a:cubicBezTo>
                  <a:pt x="3505200" y="356409"/>
                  <a:pt x="3471084" y="390525"/>
                  <a:pt x="342900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481012"/>
            <a:ext cx="32641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ЭТАП 1 • КОНЦЕПЦИЯ И АРХИТЕКТУРА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009650"/>
            <a:ext cx="1171575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Автоматический мониторинг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4A6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 классификация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возможностей инструментов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пентеста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0957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36245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 соответствии с матрицей MITRE ATT&amp;CK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4900613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381000" y="5133975"/>
            <a:ext cx="5629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Команда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5438775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200" b="1" dirty="0" smtClean="0">
                <a:solidFill>
                  <a:schemeClr val="accent1">
                    <a:lumMod val="75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Дмитрий </a:t>
            </a:r>
            <a:r>
              <a:rPr lang="ru-RU" sz="1200" b="1" dirty="0" err="1" smtClean="0">
                <a:solidFill>
                  <a:schemeClr val="accent1">
                    <a:lumMod val="75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Новосельский</a:t>
            </a:r>
            <a:r>
              <a:rPr lang="ru-RU" sz="1200" b="1" dirty="0" smtClean="0">
                <a:solidFill>
                  <a:srgbClr val="00B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ru-RU" sz="1200" b="1" dirty="0" smtClean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капитан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381000" y="5705475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200" dirty="0" smtClean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Толмачев Никита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81000" y="5972175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Никита Коломийцев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81000" y="6238875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Арсен Ширинов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81000" y="6505575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Дмитрий Игнатов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72200" y="5045808"/>
            <a:ext cx="5629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kern="0" spc="53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Дисциплина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181725" y="5255358"/>
            <a:ext cx="5638800" cy="67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ru-RU" sz="1200" dirty="0" smtClean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Применение технологий искусственного интеллекта</a:t>
            </a:r>
          </a:p>
          <a:p>
            <a:pPr algn="r">
              <a:lnSpc>
                <a:spcPct val="130000"/>
              </a:lnSpc>
            </a:pPr>
            <a:r>
              <a:rPr lang="ru-RU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</a:t>
            </a:r>
            <a:r>
              <a:rPr lang="ru-RU" sz="1200" dirty="0" smtClean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машинного обучения для поиска угроз</a:t>
            </a:r>
            <a:br>
              <a:rPr lang="ru-RU" sz="1200" dirty="0" smtClean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</a:br>
            <a:r>
              <a:rPr lang="ru-RU" sz="1200" dirty="0" smtClean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информационной безопасности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81725" y="5972175"/>
            <a:ext cx="5629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kern="0" spc="53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Дата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172200" y="6200775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Март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14350" y="514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419100"/>
            <a:ext cx="1800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525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Экосистема offensive-security инструментов динамична, но данные разрознены и неструктурированы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447800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143000"/>
                </a:lnTo>
                <a:cubicBezTo>
                  <a:pt x="5581650" y="1185056"/>
                  <a:pt x="5547506" y="1219200"/>
                  <a:pt x="55054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2C3036">
              <a:alpha val="5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4478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1676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6756" y="17811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0768" y="64294"/>
                </a:moveTo>
                <a:lnTo>
                  <a:pt x="163413" y="64294"/>
                </a:lnTo>
                <a:cubicBezTo>
                  <a:pt x="167867" y="64294"/>
                  <a:pt x="171450" y="60711"/>
                  <a:pt x="171450" y="56257"/>
                </a:cubicBezTo>
                <a:lnTo>
                  <a:pt x="171450" y="8037"/>
                </a:lnTo>
                <a:cubicBezTo>
                  <a:pt x="171450" y="4789"/>
                  <a:pt x="169508" y="1842"/>
                  <a:pt x="166494" y="603"/>
                </a:cubicBezTo>
                <a:cubicBezTo>
                  <a:pt x="163480" y="-636"/>
                  <a:pt x="160031" y="67"/>
                  <a:pt x="157721" y="2344"/>
                </a:cubicBezTo>
                <a:lnTo>
                  <a:pt x="140408" y="19690"/>
                </a:lnTo>
                <a:cubicBezTo>
                  <a:pt x="125574" y="7400"/>
                  <a:pt x="106487" y="0"/>
                  <a:pt x="85725" y="0"/>
                </a:cubicBezTo>
                <a:cubicBezTo>
                  <a:pt x="42528" y="0"/>
                  <a:pt x="6798" y="31946"/>
                  <a:pt x="871" y="73502"/>
                </a:cubicBezTo>
                <a:cubicBezTo>
                  <a:pt x="33" y="79363"/>
                  <a:pt x="4085" y="84787"/>
                  <a:pt x="9945" y="85625"/>
                </a:cubicBezTo>
                <a:cubicBezTo>
                  <a:pt x="15806" y="86462"/>
                  <a:pt x="21230" y="82376"/>
                  <a:pt x="22067" y="76550"/>
                </a:cubicBezTo>
                <a:cubicBezTo>
                  <a:pt x="26521" y="45374"/>
                  <a:pt x="53344" y="21431"/>
                  <a:pt x="85725" y="21431"/>
                </a:cubicBezTo>
                <a:cubicBezTo>
                  <a:pt x="100593" y="21431"/>
                  <a:pt x="114255" y="26454"/>
                  <a:pt x="125138" y="34926"/>
                </a:cubicBezTo>
                <a:lnTo>
                  <a:pt x="109500" y="50564"/>
                </a:lnTo>
                <a:cubicBezTo>
                  <a:pt x="107190" y="52875"/>
                  <a:pt x="106520" y="56324"/>
                  <a:pt x="107759" y="59338"/>
                </a:cubicBezTo>
                <a:cubicBezTo>
                  <a:pt x="108998" y="62352"/>
                  <a:pt x="111945" y="64294"/>
                  <a:pt x="115193" y="64294"/>
                </a:cubicBezTo>
                <a:lnTo>
                  <a:pt x="160768" y="64294"/>
                </a:lnTo>
                <a:close/>
                <a:moveTo>
                  <a:pt x="170613" y="97948"/>
                </a:moveTo>
                <a:cubicBezTo>
                  <a:pt x="171450" y="92087"/>
                  <a:pt x="167365" y="86663"/>
                  <a:pt x="161538" y="85825"/>
                </a:cubicBezTo>
                <a:cubicBezTo>
                  <a:pt x="155711" y="84988"/>
                  <a:pt x="150253" y="89074"/>
                  <a:pt x="149416" y="94900"/>
                </a:cubicBezTo>
                <a:cubicBezTo>
                  <a:pt x="144962" y="126043"/>
                  <a:pt x="118140" y="149985"/>
                  <a:pt x="85758" y="149985"/>
                </a:cubicBezTo>
                <a:cubicBezTo>
                  <a:pt x="70891" y="149985"/>
                  <a:pt x="57228" y="144962"/>
                  <a:pt x="46345" y="136490"/>
                </a:cubicBezTo>
                <a:lnTo>
                  <a:pt x="61950" y="120886"/>
                </a:lnTo>
                <a:cubicBezTo>
                  <a:pt x="64260" y="118575"/>
                  <a:pt x="64930" y="115126"/>
                  <a:pt x="63691" y="112112"/>
                </a:cubicBezTo>
                <a:cubicBezTo>
                  <a:pt x="62452" y="109098"/>
                  <a:pt x="59505" y="107156"/>
                  <a:pt x="56257" y="107156"/>
                </a:cubicBezTo>
                <a:lnTo>
                  <a:pt x="8037" y="107156"/>
                </a:lnTo>
                <a:cubicBezTo>
                  <a:pt x="3583" y="107156"/>
                  <a:pt x="0" y="110739"/>
                  <a:pt x="0" y="115193"/>
                </a:cubicBezTo>
                <a:lnTo>
                  <a:pt x="0" y="163413"/>
                </a:lnTo>
                <a:cubicBezTo>
                  <a:pt x="0" y="166661"/>
                  <a:pt x="1942" y="169608"/>
                  <a:pt x="4956" y="170847"/>
                </a:cubicBezTo>
                <a:cubicBezTo>
                  <a:pt x="7970" y="172086"/>
                  <a:pt x="11419" y="171383"/>
                  <a:pt x="13729" y="169106"/>
                </a:cubicBezTo>
                <a:lnTo>
                  <a:pt x="31075" y="151760"/>
                </a:lnTo>
                <a:cubicBezTo>
                  <a:pt x="45876" y="164050"/>
                  <a:pt x="64963" y="171450"/>
                  <a:pt x="85725" y="171450"/>
                </a:cubicBezTo>
                <a:cubicBezTo>
                  <a:pt x="128922" y="171450"/>
                  <a:pt x="164652" y="139504"/>
                  <a:pt x="170579" y="97948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638300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Постоянное обновление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1981200"/>
            <a:ext cx="4724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Offensive-security инструменты постоянно появляются и обновляются в репозиториях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2819400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143000"/>
                </a:lnTo>
                <a:cubicBezTo>
                  <a:pt x="5581650" y="1185056"/>
                  <a:pt x="5547506" y="1219200"/>
                  <a:pt x="55054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2C3036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00050" y="28194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600" y="3048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06041" y="31527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83046" y="29468"/>
                </a:moveTo>
                <a:lnTo>
                  <a:pt x="109835" y="29468"/>
                </a:lnTo>
                <a:lnTo>
                  <a:pt x="109835" y="45541"/>
                </a:lnTo>
                <a:lnTo>
                  <a:pt x="83046" y="45541"/>
                </a:lnTo>
                <a:lnTo>
                  <a:pt x="83046" y="29468"/>
                </a:lnTo>
                <a:close/>
                <a:moveTo>
                  <a:pt x="80367" y="10716"/>
                </a:moveTo>
                <a:cubicBezTo>
                  <a:pt x="71493" y="10716"/>
                  <a:pt x="64294" y="17915"/>
                  <a:pt x="64294" y="26789"/>
                </a:cubicBezTo>
                <a:lnTo>
                  <a:pt x="64294" y="48220"/>
                </a:lnTo>
                <a:cubicBezTo>
                  <a:pt x="64294" y="57094"/>
                  <a:pt x="71493" y="64294"/>
                  <a:pt x="80367" y="64294"/>
                </a:cubicBezTo>
                <a:lnTo>
                  <a:pt x="85725" y="64294"/>
                </a:lnTo>
                <a:lnTo>
                  <a:pt x="85725" y="75009"/>
                </a:lnTo>
                <a:lnTo>
                  <a:pt x="10716" y="75009"/>
                </a:ln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42863" y="96441"/>
                </a:lnTo>
                <a:lnTo>
                  <a:pt x="42863" y="107156"/>
                </a:lnTo>
                <a:lnTo>
                  <a:pt x="37505" y="107156"/>
                </a:lnTo>
                <a:cubicBezTo>
                  <a:pt x="28631" y="107156"/>
                  <a:pt x="21431" y="114356"/>
                  <a:pt x="21431" y="123230"/>
                </a:cubicBezTo>
                <a:lnTo>
                  <a:pt x="21431" y="144661"/>
                </a:lnTo>
                <a:cubicBezTo>
                  <a:pt x="21431" y="153535"/>
                  <a:pt x="28631" y="160734"/>
                  <a:pt x="37505" y="160734"/>
                </a:cubicBezTo>
                <a:lnTo>
                  <a:pt x="69652" y="160734"/>
                </a:lnTo>
                <a:cubicBezTo>
                  <a:pt x="78525" y="160734"/>
                  <a:pt x="85725" y="153535"/>
                  <a:pt x="85725" y="144661"/>
                </a:cubicBezTo>
                <a:lnTo>
                  <a:pt x="85725" y="123230"/>
                </a:lnTo>
                <a:cubicBezTo>
                  <a:pt x="85725" y="114356"/>
                  <a:pt x="78525" y="107156"/>
                  <a:pt x="69652" y="107156"/>
                </a:cubicBezTo>
                <a:lnTo>
                  <a:pt x="64294" y="107156"/>
                </a:lnTo>
                <a:lnTo>
                  <a:pt x="64294" y="96441"/>
                </a:lnTo>
                <a:lnTo>
                  <a:pt x="128588" y="96441"/>
                </a:lnTo>
                <a:lnTo>
                  <a:pt x="128588" y="107156"/>
                </a:lnTo>
                <a:lnTo>
                  <a:pt x="123230" y="107156"/>
                </a:lnTo>
                <a:cubicBezTo>
                  <a:pt x="114356" y="107156"/>
                  <a:pt x="107156" y="114356"/>
                  <a:pt x="107156" y="123230"/>
                </a:cubicBezTo>
                <a:lnTo>
                  <a:pt x="107156" y="144661"/>
                </a:lnTo>
                <a:cubicBezTo>
                  <a:pt x="107156" y="153535"/>
                  <a:pt x="114356" y="160734"/>
                  <a:pt x="123230" y="160734"/>
                </a:cubicBezTo>
                <a:lnTo>
                  <a:pt x="155377" y="160734"/>
                </a:lnTo>
                <a:cubicBezTo>
                  <a:pt x="164250" y="160734"/>
                  <a:pt x="171450" y="153535"/>
                  <a:pt x="171450" y="144661"/>
                </a:cubicBezTo>
                <a:lnTo>
                  <a:pt x="171450" y="123230"/>
                </a:lnTo>
                <a:cubicBezTo>
                  <a:pt x="171450" y="114356"/>
                  <a:pt x="164250" y="107156"/>
                  <a:pt x="155377" y="107156"/>
                </a:cubicBezTo>
                <a:lnTo>
                  <a:pt x="150019" y="107156"/>
                </a:lnTo>
                <a:lnTo>
                  <a:pt x="150019" y="96441"/>
                </a:lnTo>
                <a:lnTo>
                  <a:pt x="182166" y="96441"/>
                </a:lnTo>
                <a:cubicBezTo>
                  <a:pt x="188093" y="96441"/>
                  <a:pt x="192881" y="91652"/>
                  <a:pt x="192881" y="85725"/>
                </a:cubicBezTo>
                <a:cubicBezTo>
                  <a:pt x="192881" y="79798"/>
                  <a:pt x="188093" y="75009"/>
                  <a:pt x="182166" y="75009"/>
                </a:cubicBezTo>
                <a:lnTo>
                  <a:pt x="107156" y="75009"/>
                </a:lnTo>
                <a:lnTo>
                  <a:pt x="107156" y="64294"/>
                </a:lnTo>
                <a:lnTo>
                  <a:pt x="112514" y="64294"/>
                </a:lnTo>
                <a:cubicBezTo>
                  <a:pt x="121388" y="64294"/>
                  <a:pt x="128588" y="57094"/>
                  <a:pt x="128588" y="48220"/>
                </a:cubicBezTo>
                <a:lnTo>
                  <a:pt x="128588" y="26789"/>
                </a:lnTo>
                <a:cubicBezTo>
                  <a:pt x="128588" y="17915"/>
                  <a:pt x="121388" y="10716"/>
                  <a:pt x="112514" y="10716"/>
                </a:cubicBezTo>
                <a:lnTo>
                  <a:pt x="80367" y="10716"/>
                </a:lnTo>
                <a:close/>
                <a:moveTo>
                  <a:pt x="150019" y="125909"/>
                </a:moveTo>
                <a:lnTo>
                  <a:pt x="152698" y="125909"/>
                </a:lnTo>
                <a:lnTo>
                  <a:pt x="152698" y="141982"/>
                </a:lnTo>
                <a:lnTo>
                  <a:pt x="125909" y="141982"/>
                </a:lnTo>
                <a:lnTo>
                  <a:pt x="125909" y="125909"/>
                </a:lnTo>
                <a:lnTo>
                  <a:pt x="150019" y="125909"/>
                </a:lnTo>
                <a:close/>
                <a:moveTo>
                  <a:pt x="64294" y="125909"/>
                </a:moveTo>
                <a:lnTo>
                  <a:pt x="66973" y="125909"/>
                </a:lnTo>
                <a:lnTo>
                  <a:pt x="66973" y="141982"/>
                </a:lnTo>
                <a:lnTo>
                  <a:pt x="40184" y="141982"/>
                </a:lnTo>
                <a:lnTo>
                  <a:pt x="40184" y="125909"/>
                </a:lnTo>
                <a:lnTo>
                  <a:pt x="64294" y="125909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3009900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Разрозненность источников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352800"/>
            <a:ext cx="4724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Информация распределена по GitHub, RSS, специализированным ресурсам без единого формата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4191000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143000"/>
                </a:lnTo>
                <a:cubicBezTo>
                  <a:pt x="5581650" y="1185056"/>
                  <a:pt x="5547506" y="1219200"/>
                  <a:pt x="55054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2C3036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00050" y="41910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600" y="4419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38188" y="45243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40184" y="85725"/>
                </a:moveTo>
                <a:cubicBezTo>
                  <a:pt x="35730" y="85725"/>
                  <a:pt x="32147" y="89308"/>
                  <a:pt x="32147" y="93762"/>
                </a:cubicBezTo>
                <a:cubicBezTo>
                  <a:pt x="32147" y="98215"/>
                  <a:pt x="35730" y="101798"/>
                  <a:pt x="40184" y="101798"/>
                </a:cubicBezTo>
                <a:lnTo>
                  <a:pt x="88404" y="101798"/>
                </a:lnTo>
                <a:cubicBezTo>
                  <a:pt x="92858" y="101798"/>
                  <a:pt x="96441" y="98215"/>
                  <a:pt x="96441" y="93762"/>
                </a:cubicBezTo>
                <a:cubicBezTo>
                  <a:pt x="96441" y="89308"/>
                  <a:pt x="92858" y="85725"/>
                  <a:pt x="88404" y="85725"/>
                </a:cubicBezTo>
                <a:lnTo>
                  <a:pt x="40184" y="85725"/>
                </a:lnTo>
                <a:close/>
                <a:moveTo>
                  <a:pt x="40184" y="117872"/>
                </a:moveTo>
                <a:cubicBezTo>
                  <a:pt x="35730" y="117872"/>
                  <a:pt x="32147" y="121455"/>
                  <a:pt x="32147" y="125909"/>
                </a:cubicBezTo>
                <a:cubicBezTo>
                  <a:pt x="32147" y="130362"/>
                  <a:pt x="35730" y="133945"/>
                  <a:pt x="40184" y="133945"/>
                </a:cubicBezTo>
                <a:lnTo>
                  <a:pt x="88404" y="133945"/>
                </a:lnTo>
                <a:cubicBezTo>
                  <a:pt x="92858" y="133945"/>
                  <a:pt x="96441" y="130362"/>
                  <a:pt x="96441" y="125909"/>
                </a:cubicBezTo>
                <a:cubicBezTo>
                  <a:pt x="96441" y="121455"/>
                  <a:pt x="92858" y="117872"/>
                  <a:pt x="88404" y="117872"/>
                </a:cubicBezTo>
                <a:lnTo>
                  <a:pt x="40184" y="117872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4381500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Неструктурированные описания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4724400"/>
            <a:ext cx="4724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README и документация редко описаны в терминах MITRE ATT&amp;CK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29350" y="1447800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143000"/>
                </a:lnTo>
                <a:cubicBezTo>
                  <a:pt x="5581650" y="1185056"/>
                  <a:pt x="5547506" y="1219200"/>
                  <a:pt x="55054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2C3036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229350" y="14478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6" name="Shape 24"/>
          <p:cNvSpPr/>
          <p:nvPr/>
        </p:nvSpPr>
        <p:spPr>
          <a:xfrm>
            <a:off x="6438900" y="1676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46056" y="17811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96441" y="10716"/>
                </a:moveTo>
                <a:cubicBezTo>
                  <a:pt x="96441" y="4789"/>
                  <a:pt x="91652" y="0"/>
                  <a:pt x="85725" y="0"/>
                </a:cubicBezTo>
                <a:cubicBezTo>
                  <a:pt x="79798" y="0"/>
                  <a:pt x="75009" y="4789"/>
                  <a:pt x="75009" y="10716"/>
                </a:cubicBezTo>
                <a:lnTo>
                  <a:pt x="75009" y="80367"/>
                </a:lnTo>
                <a:cubicBezTo>
                  <a:pt x="75009" y="83314"/>
                  <a:pt x="72598" y="85725"/>
                  <a:pt x="69652" y="85725"/>
                </a:cubicBezTo>
                <a:cubicBezTo>
                  <a:pt x="66705" y="85725"/>
                  <a:pt x="64294" y="83314"/>
                  <a:pt x="64294" y="80367"/>
                </a:cubicBezTo>
                <a:lnTo>
                  <a:pt x="64294" y="21431"/>
                </a:lnTo>
                <a:cubicBezTo>
                  <a:pt x="64294" y="15504"/>
                  <a:pt x="59505" y="10716"/>
                  <a:pt x="53578" y="10716"/>
                </a:cubicBezTo>
                <a:cubicBezTo>
                  <a:pt x="47651" y="10716"/>
                  <a:pt x="42863" y="15504"/>
                  <a:pt x="42863" y="21431"/>
                </a:cubicBezTo>
                <a:lnTo>
                  <a:pt x="42863" y="112514"/>
                </a:lnTo>
                <a:cubicBezTo>
                  <a:pt x="42863" y="113016"/>
                  <a:pt x="42863" y="113552"/>
                  <a:pt x="42896" y="114054"/>
                </a:cubicBezTo>
                <a:lnTo>
                  <a:pt x="22637" y="94766"/>
                </a:lnTo>
                <a:cubicBezTo>
                  <a:pt x="17279" y="89676"/>
                  <a:pt x="8807" y="89877"/>
                  <a:pt x="3683" y="95235"/>
                </a:cubicBezTo>
                <a:cubicBezTo>
                  <a:pt x="-1440" y="100593"/>
                  <a:pt x="-1206" y="109065"/>
                  <a:pt x="4152" y="114188"/>
                </a:cubicBezTo>
                <a:lnTo>
                  <a:pt x="41791" y="150019"/>
                </a:lnTo>
                <a:cubicBezTo>
                  <a:pt x="56224" y="163782"/>
                  <a:pt x="75411" y="171450"/>
                  <a:pt x="95369" y="171450"/>
                </a:cubicBezTo>
                <a:lnTo>
                  <a:pt x="101798" y="171450"/>
                </a:lnTo>
                <a:cubicBezTo>
                  <a:pt x="134347" y="171450"/>
                  <a:pt x="160734" y="145063"/>
                  <a:pt x="160734" y="112514"/>
                </a:cubicBezTo>
                <a:lnTo>
                  <a:pt x="160734" y="42863"/>
                </a:lnTo>
                <a:cubicBezTo>
                  <a:pt x="160734" y="36935"/>
                  <a:pt x="155946" y="32147"/>
                  <a:pt x="150019" y="32147"/>
                </a:cubicBezTo>
                <a:cubicBezTo>
                  <a:pt x="144092" y="32147"/>
                  <a:pt x="139303" y="36935"/>
                  <a:pt x="139303" y="42863"/>
                </a:cubicBezTo>
                <a:lnTo>
                  <a:pt x="139303" y="80367"/>
                </a:lnTo>
                <a:cubicBezTo>
                  <a:pt x="139303" y="83314"/>
                  <a:pt x="136892" y="85725"/>
                  <a:pt x="133945" y="85725"/>
                </a:cubicBezTo>
                <a:cubicBezTo>
                  <a:pt x="130999" y="85725"/>
                  <a:pt x="128588" y="83314"/>
                  <a:pt x="128588" y="80367"/>
                </a:cubicBezTo>
                <a:lnTo>
                  <a:pt x="128588" y="21431"/>
                </a:lnTo>
                <a:cubicBezTo>
                  <a:pt x="128588" y="15504"/>
                  <a:pt x="123799" y="10716"/>
                  <a:pt x="117872" y="10716"/>
                </a:cubicBezTo>
                <a:cubicBezTo>
                  <a:pt x="111945" y="10716"/>
                  <a:pt x="107156" y="15504"/>
                  <a:pt x="107156" y="21431"/>
                </a:cubicBezTo>
                <a:lnTo>
                  <a:pt x="107156" y="80367"/>
                </a:lnTo>
                <a:cubicBezTo>
                  <a:pt x="107156" y="83314"/>
                  <a:pt x="104745" y="85725"/>
                  <a:pt x="101798" y="85725"/>
                </a:cubicBezTo>
                <a:cubicBezTo>
                  <a:pt x="98852" y="85725"/>
                  <a:pt x="96441" y="83314"/>
                  <a:pt x="96441" y="80367"/>
                </a:cubicBezTo>
                <a:lnTo>
                  <a:pt x="96441" y="10716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8" name="Text 26"/>
          <p:cNvSpPr/>
          <p:nvPr/>
        </p:nvSpPr>
        <p:spPr>
          <a:xfrm>
            <a:off x="6972300" y="1638300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Медленная ручная классификация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72300" y="1981200"/>
            <a:ext cx="4724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Ручная классификация по MITRE медленная, нестабильная и плохо масштабируется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29350" y="2819400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143000"/>
                </a:lnTo>
                <a:cubicBezTo>
                  <a:pt x="5581650" y="1185056"/>
                  <a:pt x="5547506" y="1219200"/>
                  <a:pt x="55054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2C3036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29350" y="28194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2" name="Shape 30"/>
          <p:cNvSpPr/>
          <p:nvPr/>
        </p:nvSpPr>
        <p:spPr>
          <a:xfrm>
            <a:off x="6438900" y="3048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546056" y="3152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5009" y="0"/>
                </a:moveTo>
                <a:cubicBezTo>
                  <a:pt x="86830" y="0"/>
                  <a:pt x="96441" y="7200"/>
                  <a:pt x="96441" y="16073"/>
                </a:cubicBezTo>
                <a:cubicBezTo>
                  <a:pt x="96441" y="19556"/>
                  <a:pt x="94967" y="22771"/>
                  <a:pt x="92422" y="25416"/>
                </a:cubicBezTo>
                <a:cubicBezTo>
                  <a:pt x="90212" y="27727"/>
                  <a:pt x="88404" y="30540"/>
                  <a:pt x="88404" y="33754"/>
                </a:cubicBezTo>
                <a:cubicBezTo>
                  <a:pt x="88404" y="38777"/>
                  <a:pt x="92489" y="42863"/>
                  <a:pt x="97512" y="42863"/>
                </a:cubicBezTo>
                <a:lnTo>
                  <a:pt x="112514" y="42863"/>
                </a:lnTo>
                <a:cubicBezTo>
                  <a:pt x="121388" y="42863"/>
                  <a:pt x="128588" y="50062"/>
                  <a:pt x="128588" y="58936"/>
                </a:cubicBezTo>
                <a:lnTo>
                  <a:pt x="128588" y="73938"/>
                </a:lnTo>
                <a:cubicBezTo>
                  <a:pt x="128588" y="78961"/>
                  <a:pt x="132673" y="83046"/>
                  <a:pt x="137696" y="83046"/>
                </a:cubicBezTo>
                <a:cubicBezTo>
                  <a:pt x="140877" y="83046"/>
                  <a:pt x="143723" y="81238"/>
                  <a:pt x="146034" y="79028"/>
                </a:cubicBezTo>
                <a:cubicBezTo>
                  <a:pt x="148679" y="76516"/>
                  <a:pt x="151894" y="75009"/>
                  <a:pt x="155377" y="75009"/>
                </a:cubicBezTo>
                <a:cubicBezTo>
                  <a:pt x="164250" y="75009"/>
                  <a:pt x="171450" y="84620"/>
                  <a:pt x="171450" y="96441"/>
                </a:cubicBezTo>
                <a:cubicBezTo>
                  <a:pt x="171450" y="108261"/>
                  <a:pt x="164250" y="117872"/>
                  <a:pt x="155377" y="117872"/>
                </a:cubicBezTo>
                <a:cubicBezTo>
                  <a:pt x="151894" y="117872"/>
                  <a:pt x="148646" y="116398"/>
                  <a:pt x="146034" y="113854"/>
                </a:cubicBezTo>
                <a:cubicBezTo>
                  <a:pt x="143723" y="111643"/>
                  <a:pt x="140910" y="109835"/>
                  <a:pt x="137696" y="109835"/>
                </a:cubicBezTo>
                <a:cubicBezTo>
                  <a:pt x="132673" y="109835"/>
                  <a:pt x="128588" y="113920"/>
                  <a:pt x="128588" y="118943"/>
                </a:cubicBezTo>
                <a:lnTo>
                  <a:pt x="128588" y="155377"/>
                </a:lnTo>
                <a:cubicBezTo>
                  <a:pt x="128588" y="164250"/>
                  <a:pt x="121388" y="171450"/>
                  <a:pt x="112514" y="171450"/>
                </a:cubicBezTo>
                <a:lnTo>
                  <a:pt x="93494" y="171450"/>
                </a:lnTo>
                <a:cubicBezTo>
                  <a:pt x="89208" y="171450"/>
                  <a:pt x="85725" y="167967"/>
                  <a:pt x="85725" y="163681"/>
                </a:cubicBezTo>
                <a:cubicBezTo>
                  <a:pt x="85725" y="160600"/>
                  <a:pt x="87667" y="157888"/>
                  <a:pt x="90145" y="156046"/>
                </a:cubicBezTo>
                <a:cubicBezTo>
                  <a:pt x="94030" y="153133"/>
                  <a:pt x="96441" y="149115"/>
                  <a:pt x="96441" y="144661"/>
                </a:cubicBezTo>
                <a:cubicBezTo>
                  <a:pt x="96441" y="135787"/>
                  <a:pt x="86830" y="128588"/>
                  <a:pt x="75009" y="128588"/>
                </a:cubicBezTo>
                <a:cubicBezTo>
                  <a:pt x="63189" y="128588"/>
                  <a:pt x="53578" y="135787"/>
                  <a:pt x="53578" y="144661"/>
                </a:cubicBezTo>
                <a:cubicBezTo>
                  <a:pt x="53578" y="149115"/>
                  <a:pt x="55989" y="153133"/>
                  <a:pt x="59874" y="156046"/>
                </a:cubicBezTo>
                <a:cubicBezTo>
                  <a:pt x="62352" y="157888"/>
                  <a:pt x="64294" y="160567"/>
                  <a:pt x="64294" y="163681"/>
                </a:cubicBezTo>
                <a:cubicBezTo>
                  <a:pt x="64294" y="167967"/>
                  <a:pt x="60811" y="171450"/>
                  <a:pt x="56525" y="171450"/>
                </a:cubicBezTo>
                <a:lnTo>
                  <a:pt x="16073" y="171450"/>
                </a:lnTo>
                <a:cubicBezTo>
                  <a:pt x="7200" y="171450"/>
                  <a:pt x="0" y="164250"/>
                  <a:pt x="0" y="155377"/>
                </a:cubicBezTo>
                <a:lnTo>
                  <a:pt x="0" y="114925"/>
                </a:lnTo>
                <a:cubicBezTo>
                  <a:pt x="0" y="110639"/>
                  <a:pt x="3483" y="107156"/>
                  <a:pt x="7769" y="107156"/>
                </a:cubicBezTo>
                <a:cubicBezTo>
                  <a:pt x="10850" y="107156"/>
                  <a:pt x="13562" y="109098"/>
                  <a:pt x="15404" y="111576"/>
                </a:cubicBezTo>
                <a:cubicBezTo>
                  <a:pt x="18317" y="115461"/>
                  <a:pt x="22335" y="117872"/>
                  <a:pt x="26789" y="117872"/>
                </a:cubicBezTo>
                <a:cubicBezTo>
                  <a:pt x="35663" y="117872"/>
                  <a:pt x="42863" y="108261"/>
                  <a:pt x="42863" y="96441"/>
                </a:cubicBezTo>
                <a:cubicBezTo>
                  <a:pt x="42863" y="84620"/>
                  <a:pt x="35663" y="75009"/>
                  <a:pt x="26789" y="75009"/>
                </a:cubicBezTo>
                <a:cubicBezTo>
                  <a:pt x="22335" y="75009"/>
                  <a:pt x="18317" y="77420"/>
                  <a:pt x="15404" y="81305"/>
                </a:cubicBezTo>
                <a:cubicBezTo>
                  <a:pt x="13562" y="83783"/>
                  <a:pt x="10883" y="85725"/>
                  <a:pt x="7769" y="85725"/>
                </a:cubicBezTo>
                <a:cubicBezTo>
                  <a:pt x="3483" y="85725"/>
                  <a:pt x="0" y="82242"/>
                  <a:pt x="0" y="77956"/>
                </a:cubicBezTo>
                <a:lnTo>
                  <a:pt x="0" y="58936"/>
                </a:lnTo>
                <a:cubicBezTo>
                  <a:pt x="0" y="50062"/>
                  <a:pt x="7200" y="42863"/>
                  <a:pt x="16073" y="42863"/>
                </a:cubicBezTo>
                <a:lnTo>
                  <a:pt x="52507" y="42863"/>
                </a:lnTo>
                <a:cubicBezTo>
                  <a:pt x="57530" y="42863"/>
                  <a:pt x="61615" y="38777"/>
                  <a:pt x="61615" y="33754"/>
                </a:cubicBezTo>
                <a:cubicBezTo>
                  <a:pt x="61615" y="30573"/>
                  <a:pt x="59807" y="27727"/>
                  <a:pt x="57596" y="25416"/>
                </a:cubicBezTo>
                <a:cubicBezTo>
                  <a:pt x="55085" y="22771"/>
                  <a:pt x="53578" y="19556"/>
                  <a:pt x="53578" y="16073"/>
                </a:cubicBezTo>
                <a:cubicBezTo>
                  <a:pt x="53578" y="7200"/>
                  <a:pt x="63189" y="0"/>
                  <a:pt x="75009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4" name="Text 32"/>
          <p:cNvSpPr/>
          <p:nvPr/>
        </p:nvSpPr>
        <p:spPr>
          <a:xfrm>
            <a:off x="6972300" y="3009900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Множественные техники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72300" y="3352800"/>
            <a:ext cx="4724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Один инструмент может покрывать несколько техник и тактик MITRE одновременно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15063" y="4195763"/>
            <a:ext cx="5591175" cy="1266825"/>
          </a:xfrm>
          <a:custGeom>
            <a:avLst/>
            <a:gdLst/>
            <a:ahLst/>
            <a:cxnLst/>
            <a:rect l="l" t="t" r="r" b="b"/>
            <a:pathLst>
              <a:path w="5591175" h="1266825">
                <a:moveTo>
                  <a:pt x="76200" y="0"/>
                </a:moveTo>
                <a:lnTo>
                  <a:pt x="5514975" y="0"/>
                </a:lnTo>
                <a:cubicBezTo>
                  <a:pt x="5557059" y="0"/>
                  <a:pt x="5591175" y="34116"/>
                  <a:pt x="5591175" y="76200"/>
                </a:cubicBezTo>
                <a:lnTo>
                  <a:pt x="5591175" y="1190625"/>
                </a:lnTo>
                <a:cubicBezTo>
                  <a:pt x="5591175" y="1232709"/>
                  <a:pt x="5557059" y="1266825"/>
                  <a:pt x="5514975" y="1266825"/>
                </a:cubicBezTo>
                <a:lnTo>
                  <a:pt x="76200" y="1266825"/>
                </a:lnTo>
                <a:cubicBezTo>
                  <a:pt x="34116" y="1266825"/>
                  <a:pt x="0" y="1232709"/>
                  <a:pt x="0" y="11906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57950" y="44291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8" name="Text 36"/>
          <p:cNvSpPr/>
          <p:nvPr/>
        </p:nvSpPr>
        <p:spPr>
          <a:xfrm>
            <a:off x="6762750" y="4391025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Решение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10325" y="4772025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Автоматическая система сбора данных, извлечения функциональных возможностей и сопоставления с MITRE ATT&amp;CK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14350" y="514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419100"/>
            <a:ext cx="5838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Соответствие требованиям задания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525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Проект полностью покрывает все формальные требования курса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452563"/>
            <a:ext cx="3695700" cy="2076450"/>
          </a:xfrm>
          <a:custGeom>
            <a:avLst/>
            <a:gdLst/>
            <a:ahLst/>
            <a:cxnLst/>
            <a:rect l="l" t="t" r="r" b="b"/>
            <a:pathLst>
              <a:path w="3695700" h="2076450">
                <a:moveTo>
                  <a:pt x="76206" y="0"/>
                </a:moveTo>
                <a:lnTo>
                  <a:pt x="3619494" y="0"/>
                </a:lnTo>
                <a:cubicBezTo>
                  <a:pt x="3661553" y="0"/>
                  <a:pt x="3695700" y="34147"/>
                  <a:pt x="3695700" y="76206"/>
                </a:cubicBezTo>
                <a:lnTo>
                  <a:pt x="3695700" y="2000244"/>
                </a:lnTo>
                <a:cubicBezTo>
                  <a:pt x="3695700" y="2042332"/>
                  <a:pt x="3661582" y="2076450"/>
                  <a:pt x="3619494" y="2076450"/>
                </a:cubicBezTo>
                <a:lnTo>
                  <a:pt x="76206" y="2076450"/>
                </a:lnTo>
                <a:cubicBezTo>
                  <a:pt x="34118" y="2076450"/>
                  <a:pt x="0" y="2042332"/>
                  <a:pt x="0" y="200024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025" y="164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26281" y="17811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9" name="Text 7"/>
          <p:cNvSpPr/>
          <p:nvPr/>
        </p:nvSpPr>
        <p:spPr>
          <a:xfrm>
            <a:off x="1152525" y="1743075"/>
            <a:ext cx="118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ETL-модуль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1025" y="2257425"/>
            <a:ext cx="33813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Сбор данных из открытых источников: GitHub API, RSS-каналы, Packet Storm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1025" y="2947988"/>
            <a:ext cx="3305175" cy="9525"/>
          </a:xfrm>
          <a:custGeom>
            <a:avLst/>
            <a:gdLst/>
            <a:ahLst/>
            <a:cxnLst/>
            <a:rect l="l" t="t" r="r" b="b"/>
            <a:pathLst>
              <a:path w="3305175" h="9525">
                <a:moveTo>
                  <a:pt x="0" y="0"/>
                </a:moveTo>
                <a:lnTo>
                  <a:pt x="3305175" y="0"/>
                </a:lnTo>
                <a:lnTo>
                  <a:pt x="33051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81025" y="3138488"/>
            <a:ext cx="1253803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Источники данных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46513" y="1452563"/>
            <a:ext cx="3695700" cy="2076450"/>
          </a:xfrm>
          <a:custGeom>
            <a:avLst/>
            <a:gdLst/>
            <a:ahLst/>
            <a:cxnLst/>
            <a:rect l="l" t="t" r="r" b="b"/>
            <a:pathLst>
              <a:path w="3695700" h="2076450">
                <a:moveTo>
                  <a:pt x="76206" y="0"/>
                </a:moveTo>
                <a:lnTo>
                  <a:pt x="3619494" y="0"/>
                </a:lnTo>
                <a:cubicBezTo>
                  <a:pt x="3661553" y="0"/>
                  <a:pt x="3695700" y="34147"/>
                  <a:pt x="3695700" y="76206"/>
                </a:cubicBezTo>
                <a:lnTo>
                  <a:pt x="3695700" y="2000244"/>
                </a:lnTo>
                <a:cubicBezTo>
                  <a:pt x="3695700" y="2042332"/>
                  <a:pt x="3661582" y="2076450"/>
                  <a:pt x="3619494" y="2076450"/>
                </a:cubicBezTo>
                <a:lnTo>
                  <a:pt x="76206" y="2076450"/>
                </a:lnTo>
                <a:cubicBezTo>
                  <a:pt x="34118" y="2076450"/>
                  <a:pt x="0" y="2042332"/>
                  <a:pt x="0" y="200024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41775" y="164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5125" y="17811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6" name="Text 14"/>
          <p:cNvSpPr/>
          <p:nvPr/>
        </p:nvSpPr>
        <p:spPr>
          <a:xfrm>
            <a:off x="5013275" y="1743075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Обработка и ML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41775" y="2257425"/>
            <a:ext cx="33813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Анализ описаний инструментов, извлечение capabilities, классификация по MITRE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41775" y="2947988"/>
            <a:ext cx="3305175" cy="9525"/>
          </a:xfrm>
          <a:custGeom>
            <a:avLst/>
            <a:gdLst/>
            <a:ahLst/>
            <a:cxnLst/>
            <a:rect l="l" t="t" r="r" b="b"/>
            <a:pathLst>
              <a:path w="3305175" h="9525">
                <a:moveTo>
                  <a:pt x="0" y="0"/>
                </a:moveTo>
                <a:lnTo>
                  <a:pt x="3305175" y="0"/>
                </a:lnTo>
                <a:lnTo>
                  <a:pt x="33051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441775" y="3138488"/>
            <a:ext cx="1378446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Аналитическое ядро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07338" y="1452563"/>
            <a:ext cx="3695700" cy="2076450"/>
          </a:xfrm>
          <a:custGeom>
            <a:avLst/>
            <a:gdLst/>
            <a:ahLst/>
            <a:cxnLst/>
            <a:rect l="l" t="t" r="r" b="b"/>
            <a:pathLst>
              <a:path w="3695700" h="2076450">
                <a:moveTo>
                  <a:pt x="76206" y="0"/>
                </a:moveTo>
                <a:lnTo>
                  <a:pt x="3619494" y="0"/>
                </a:lnTo>
                <a:cubicBezTo>
                  <a:pt x="3661553" y="0"/>
                  <a:pt x="3695700" y="34147"/>
                  <a:pt x="3695700" y="76206"/>
                </a:cubicBezTo>
                <a:lnTo>
                  <a:pt x="3695700" y="2000244"/>
                </a:lnTo>
                <a:cubicBezTo>
                  <a:pt x="3695700" y="2042332"/>
                  <a:pt x="3661582" y="2076450"/>
                  <a:pt x="3619494" y="2076450"/>
                </a:cubicBezTo>
                <a:lnTo>
                  <a:pt x="76206" y="2076450"/>
                </a:lnTo>
                <a:cubicBezTo>
                  <a:pt x="34118" y="2076450"/>
                  <a:pt x="0" y="2042332"/>
                  <a:pt x="0" y="200024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02600" y="164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435950" y="17811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3" name="Text 21"/>
          <p:cNvSpPr/>
          <p:nvPr/>
        </p:nvSpPr>
        <p:spPr>
          <a:xfrm>
            <a:off x="8874100" y="1743075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Визуализация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02600" y="2257425"/>
            <a:ext cx="33813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Shiny-приложение с каталогом инструментов, фильтрами, ATT&amp;CK heatmap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02600" y="2947988"/>
            <a:ext cx="3305175" cy="9525"/>
          </a:xfrm>
          <a:custGeom>
            <a:avLst/>
            <a:gdLst/>
            <a:ahLst/>
            <a:cxnLst/>
            <a:rect l="l" t="t" r="r" b="b"/>
            <a:pathLst>
              <a:path w="3305175" h="9525">
                <a:moveTo>
                  <a:pt x="0" y="0"/>
                </a:moveTo>
                <a:lnTo>
                  <a:pt x="3305175" y="0"/>
                </a:lnTo>
                <a:lnTo>
                  <a:pt x="33051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302600" y="3138488"/>
            <a:ext cx="1681311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Интерфейс пользователя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5763" y="3690937"/>
            <a:ext cx="3695700" cy="2076450"/>
          </a:xfrm>
          <a:custGeom>
            <a:avLst/>
            <a:gdLst/>
            <a:ahLst/>
            <a:cxnLst/>
            <a:rect l="l" t="t" r="r" b="b"/>
            <a:pathLst>
              <a:path w="3695700" h="2076450">
                <a:moveTo>
                  <a:pt x="76206" y="0"/>
                </a:moveTo>
                <a:lnTo>
                  <a:pt x="3619494" y="0"/>
                </a:lnTo>
                <a:cubicBezTo>
                  <a:pt x="3661553" y="0"/>
                  <a:pt x="3695700" y="34147"/>
                  <a:pt x="3695700" y="76206"/>
                </a:cubicBezTo>
                <a:lnTo>
                  <a:pt x="3695700" y="2000244"/>
                </a:lnTo>
                <a:cubicBezTo>
                  <a:pt x="3695700" y="2042332"/>
                  <a:pt x="3661582" y="2076450"/>
                  <a:pt x="3619494" y="2076450"/>
                </a:cubicBezTo>
                <a:lnTo>
                  <a:pt x="76206" y="2076450"/>
                </a:lnTo>
                <a:cubicBezTo>
                  <a:pt x="34118" y="2076450"/>
                  <a:pt x="0" y="2042332"/>
                  <a:pt x="0" y="200024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1025" y="3886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26281" y="40195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0" name="Text 28"/>
          <p:cNvSpPr/>
          <p:nvPr/>
        </p:nvSpPr>
        <p:spPr>
          <a:xfrm>
            <a:off x="1152525" y="3981450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Документация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1025" y="4495800"/>
            <a:ext cx="33813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Vignettes с сценариями использования, man-страницы, README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81025" y="5186363"/>
            <a:ext cx="3305175" cy="9525"/>
          </a:xfrm>
          <a:custGeom>
            <a:avLst/>
            <a:gdLst/>
            <a:ahLst/>
            <a:cxnLst/>
            <a:rect l="l" t="t" r="r" b="b"/>
            <a:pathLst>
              <a:path w="3305175" h="9525">
                <a:moveTo>
                  <a:pt x="0" y="0"/>
                </a:moveTo>
                <a:lnTo>
                  <a:pt x="3305175" y="0"/>
                </a:lnTo>
                <a:lnTo>
                  <a:pt x="33051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81025" y="5376863"/>
            <a:ext cx="1320031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Пакетная структура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46513" y="3690937"/>
            <a:ext cx="3695700" cy="2076450"/>
          </a:xfrm>
          <a:custGeom>
            <a:avLst/>
            <a:gdLst/>
            <a:ahLst/>
            <a:cxnLst/>
            <a:rect l="l" t="t" r="r" b="b"/>
            <a:pathLst>
              <a:path w="3695700" h="2076450">
                <a:moveTo>
                  <a:pt x="76206" y="0"/>
                </a:moveTo>
                <a:lnTo>
                  <a:pt x="3619494" y="0"/>
                </a:lnTo>
                <a:cubicBezTo>
                  <a:pt x="3661553" y="0"/>
                  <a:pt x="3695700" y="34147"/>
                  <a:pt x="3695700" y="76206"/>
                </a:cubicBezTo>
                <a:lnTo>
                  <a:pt x="3695700" y="2000244"/>
                </a:lnTo>
                <a:cubicBezTo>
                  <a:pt x="3695700" y="2042332"/>
                  <a:pt x="3661582" y="2076450"/>
                  <a:pt x="3619494" y="2076450"/>
                </a:cubicBezTo>
                <a:lnTo>
                  <a:pt x="76206" y="2076450"/>
                </a:lnTo>
                <a:cubicBezTo>
                  <a:pt x="34118" y="2076450"/>
                  <a:pt x="0" y="2042332"/>
                  <a:pt x="0" y="200024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41775" y="3886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551313" y="40195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7" name="Text 35"/>
          <p:cNvSpPr/>
          <p:nvPr/>
        </p:nvSpPr>
        <p:spPr>
          <a:xfrm>
            <a:off x="5013275" y="3981450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MCP-сервер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41775" y="4495800"/>
            <a:ext cx="33813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Программный доступ AI-агентов к базе знаний через Model Context Protocol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41775" y="5186363"/>
            <a:ext cx="3305175" cy="9525"/>
          </a:xfrm>
          <a:custGeom>
            <a:avLst/>
            <a:gdLst/>
            <a:ahLst/>
            <a:cxnLst/>
            <a:rect l="l" t="t" r="r" b="b"/>
            <a:pathLst>
              <a:path w="3305175" h="9525">
                <a:moveTo>
                  <a:pt x="0" y="0"/>
                </a:moveTo>
                <a:lnTo>
                  <a:pt x="3305175" y="0"/>
                </a:lnTo>
                <a:lnTo>
                  <a:pt x="33051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441775" y="5376863"/>
            <a:ext cx="974527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AI-интеграция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07338" y="3690937"/>
            <a:ext cx="3695700" cy="2076450"/>
          </a:xfrm>
          <a:custGeom>
            <a:avLst/>
            <a:gdLst/>
            <a:ahLst/>
            <a:cxnLst/>
            <a:rect l="l" t="t" r="r" b="b"/>
            <a:pathLst>
              <a:path w="3695700" h="2076450">
                <a:moveTo>
                  <a:pt x="76206" y="0"/>
                </a:moveTo>
                <a:lnTo>
                  <a:pt x="3619494" y="0"/>
                </a:lnTo>
                <a:cubicBezTo>
                  <a:pt x="3661553" y="0"/>
                  <a:pt x="3695700" y="34147"/>
                  <a:pt x="3695700" y="76206"/>
                </a:cubicBezTo>
                <a:lnTo>
                  <a:pt x="3695700" y="2000244"/>
                </a:lnTo>
                <a:cubicBezTo>
                  <a:pt x="3695700" y="2042332"/>
                  <a:pt x="3661582" y="2076450"/>
                  <a:pt x="3619494" y="2076450"/>
                </a:cubicBezTo>
                <a:lnTo>
                  <a:pt x="76206" y="2076450"/>
                </a:lnTo>
                <a:cubicBezTo>
                  <a:pt x="34118" y="2076450"/>
                  <a:pt x="0" y="2042332"/>
                  <a:pt x="0" y="200024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02600" y="3886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424044" y="40195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15243" y="84311"/>
                </a:moveTo>
                <a:cubicBezTo>
                  <a:pt x="215243" y="44314"/>
                  <a:pt x="166836" y="11906"/>
                  <a:pt x="107156" y="11906"/>
                </a:cubicBezTo>
                <a:cubicBezTo>
                  <a:pt x="47476" y="11906"/>
                  <a:pt x="-930" y="44314"/>
                  <a:pt x="-930" y="84311"/>
                </a:cubicBezTo>
                <a:cubicBezTo>
                  <a:pt x="-930" y="119955"/>
                  <a:pt x="37505" y="149572"/>
                  <a:pt x="88143" y="155563"/>
                </a:cubicBezTo>
                <a:lnTo>
                  <a:pt x="88143" y="178594"/>
                </a:lnTo>
                <a:lnTo>
                  <a:pt x="125016" y="178594"/>
                </a:lnTo>
                <a:lnTo>
                  <a:pt x="125016" y="155711"/>
                </a:lnTo>
                <a:cubicBezTo>
                  <a:pt x="134057" y="154707"/>
                  <a:pt x="142726" y="152958"/>
                  <a:pt x="150837" y="150540"/>
                </a:cubicBezTo>
                <a:lnTo>
                  <a:pt x="165757" y="178594"/>
                </a:lnTo>
                <a:lnTo>
                  <a:pt x="207429" y="178594"/>
                </a:lnTo>
                <a:lnTo>
                  <a:pt x="182352" y="136289"/>
                </a:lnTo>
                <a:cubicBezTo>
                  <a:pt x="202629" y="123118"/>
                  <a:pt x="215243" y="104701"/>
                  <a:pt x="215243" y="84311"/>
                </a:cubicBezTo>
                <a:close/>
                <a:moveTo>
                  <a:pt x="41560" y="89706"/>
                </a:moveTo>
                <a:cubicBezTo>
                  <a:pt x="41560" y="62359"/>
                  <a:pt x="78358" y="40221"/>
                  <a:pt x="123713" y="40221"/>
                </a:cubicBezTo>
                <a:cubicBezTo>
                  <a:pt x="169069" y="40221"/>
                  <a:pt x="202555" y="55364"/>
                  <a:pt x="202555" y="89706"/>
                </a:cubicBezTo>
                <a:cubicBezTo>
                  <a:pt x="202555" y="108347"/>
                  <a:pt x="192695" y="121332"/>
                  <a:pt x="176399" y="129294"/>
                </a:cubicBezTo>
                <a:cubicBezTo>
                  <a:pt x="175506" y="128699"/>
                  <a:pt x="174650" y="128215"/>
                  <a:pt x="174017" y="127918"/>
                </a:cubicBezTo>
                <a:cubicBezTo>
                  <a:pt x="170222" y="125983"/>
                  <a:pt x="163674" y="124011"/>
                  <a:pt x="163674" y="124011"/>
                </a:cubicBezTo>
                <a:cubicBezTo>
                  <a:pt x="163674" y="124011"/>
                  <a:pt x="195895" y="121630"/>
                  <a:pt x="195895" y="89520"/>
                </a:cubicBezTo>
                <a:cubicBezTo>
                  <a:pt x="195895" y="57410"/>
                  <a:pt x="162185" y="56815"/>
                  <a:pt x="162185" y="56815"/>
                </a:cubicBezTo>
                <a:lnTo>
                  <a:pt x="88143" y="56815"/>
                </a:lnTo>
                <a:lnTo>
                  <a:pt x="88143" y="134317"/>
                </a:lnTo>
                <a:cubicBezTo>
                  <a:pt x="60573" y="126318"/>
                  <a:pt x="41560" y="109351"/>
                  <a:pt x="41560" y="89706"/>
                </a:cubicBezTo>
                <a:close/>
                <a:moveTo>
                  <a:pt x="125313" y="103956"/>
                </a:moveTo>
                <a:lnTo>
                  <a:pt x="125313" y="83269"/>
                </a:lnTo>
                <a:cubicBezTo>
                  <a:pt x="146819" y="83269"/>
                  <a:pt x="157981" y="80739"/>
                  <a:pt x="157981" y="93427"/>
                </a:cubicBezTo>
                <a:cubicBezTo>
                  <a:pt x="157981" y="107007"/>
                  <a:pt x="143768" y="103956"/>
                  <a:pt x="125313" y="103956"/>
                </a:cubicBezTo>
                <a:close/>
                <a:moveTo>
                  <a:pt x="124978" y="130932"/>
                </a:moveTo>
                <a:lnTo>
                  <a:pt x="134875" y="130932"/>
                </a:lnTo>
                <a:cubicBezTo>
                  <a:pt x="138894" y="130932"/>
                  <a:pt x="141908" y="135285"/>
                  <a:pt x="143805" y="138075"/>
                </a:cubicBezTo>
                <a:cubicBezTo>
                  <a:pt x="137815" y="138782"/>
                  <a:pt x="131527" y="139117"/>
                  <a:pt x="124978" y="139154"/>
                </a:cubicBezTo>
                <a:lnTo>
                  <a:pt x="124978" y="130932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4" name="Text 42"/>
          <p:cNvSpPr/>
          <p:nvPr/>
        </p:nvSpPr>
        <p:spPr>
          <a:xfrm>
            <a:off x="8874100" y="398145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Реализация на R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302600" y="4495800"/>
            <a:ext cx="33813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Полноценный R-пакет со структурой data/, data-raw/, R/, vignettes/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02600" y="5186363"/>
            <a:ext cx="3305175" cy="9525"/>
          </a:xfrm>
          <a:custGeom>
            <a:avLst/>
            <a:gdLst/>
            <a:ahLst/>
            <a:cxnLst/>
            <a:rect l="l" t="t" r="r" b="b"/>
            <a:pathLst>
              <a:path w="3305175" h="9525">
                <a:moveTo>
                  <a:pt x="0" y="0"/>
                </a:moveTo>
                <a:lnTo>
                  <a:pt x="3305175" y="0"/>
                </a:lnTo>
                <a:lnTo>
                  <a:pt x="33051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302600" y="5376863"/>
            <a:ext cx="114739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Язык разработки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85763" y="592931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76200" y="0"/>
                </a:moveTo>
                <a:lnTo>
                  <a:pt x="11344275" y="0"/>
                </a:lnTo>
                <a:cubicBezTo>
                  <a:pt x="11386359" y="0"/>
                  <a:pt x="11420475" y="34116"/>
                  <a:pt x="11420475" y="76200"/>
                </a:cubicBezTo>
                <a:lnTo>
                  <a:pt x="11420475" y="466725"/>
                </a:lnTo>
                <a:cubicBezTo>
                  <a:pt x="11420475" y="508809"/>
                  <a:pt x="11386359" y="542925"/>
                  <a:pt x="11344275" y="542925"/>
                </a:cubicBezTo>
                <a:lnTo>
                  <a:pt x="76200" y="542925"/>
                </a:lnTo>
                <a:cubicBezTo>
                  <a:pt x="34116" y="542925"/>
                  <a:pt x="0" y="508809"/>
                  <a:pt x="0" y="4667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66738" y="61055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50" name="Text 48"/>
          <p:cNvSpPr/>
          <p:nvPr/>
        </p:nvSpPr>
        <p:spPr>
          <a:xfrm>
            <a:off x="933450" y="6086475"/>
            <a:ext cx="859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Дополнительно:</a:t>
            </a: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Docker-контейнеризация, docker-compose для развертывания, DuckDB/Arrow для хранения данных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14350" y="514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419100"/>
            <a:ext cx="2295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Цель проекта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185863"/>
            <a:ext cx="11420475" cy="1733550"/>
          </a:xfrm>
          <a:custGeom>
            <a:avLst/>
            <a:gdLst/>
            <a:ahLst/>
            <a:cxnLst/>
            <a:rect l="l" t="t" r="r" b="b"/>
            <a:pathLst>
              <a:path w="11420475" h="1733550">
                <a:moveTo>
                  <a:pt x="76207" y="0"/>
                </a:moveTo>
                <a:lnTo>
                  <a:pt x="11344268" y="0"/>
                </a:lnTo>
                <a:cubicBezTo>
                  <a:pt x="11386356" y="0"/>
                  <a:pt x="11420475" y="34119"/>
                  <a:pt x="11420475" y="76207"/>
                </a:cubicBezTo>
                <a:lnTo>
                  <a:pt x="11420475" y="1657343"/>
                </a:lnTo>
                <a:cubicBezTo>
                  <a:pt x="11420475" y="1699431"/>
                  <a:pt x="11386356" y="1733550"/>
                  <a:pt x="11344268" y="1733550"/>
                </a:cubicBezTo>
                <a:lnTo>
                  <a:pt x="76207" y="1733550"/>
                </a:lnTo>
                <a:cubicBezTo>
                  <a:pt x="34119" y="1733550"/>
                  <a:pt x="0" y="1699431"/>
                  <a:pt x="0" y="1657343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5325" y="1495425"/>
            <a:ext cx="1091565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Разработать </a:t>
            </a:r>
            <a:r>
              <a:rPr lang="en-US" sz="18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аналитическую систему</a:t>
            </a:r>
            <a:r>
              <a:rPr lang="en-US" sz="18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которая автоматически собирает сведения об инструментах пентеста из открытых источников, извлекает их </a:t>
            </a:r>
            <a:r>
              <a:rPr lang="en-US" sz="18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функциональные возможности</a:t>
            </a:r>
            <a:r>
              <a:rPr lang="en-US" sz="18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и классифицирует их по </a:t>
            </a:r>
            <a:r>
              <a:rPr lang="en-US" sz="18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MITRE ATT&amp;CK</a:t>
            </a:r>
            <a:r>
              <a:rPr lang="en-US" sz="18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 последующей визуализацией и предоставлением доступа через MCP.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3152775"/>
            <a:ext cx="2724150" cy="2724150"/>
          </a:xfrm>
          <a:custGeom>
            <a:avLst/>
            <a:gdLst/>
            <a:ahLst/>
            <a:cxnLst/>
            <a:rect l="l" t="t" r="r" b="b"/>
            <a:pathLst>
              <a:path w="2724150" h="2724150">
                <a:moveTo>
                  <a:pt x="0" y="0"/>
                </a:moveTo>
                <a:lnTo>
                  <a:pt x="2647956" y="0"/>
                </a:lnTo>
                <a:cubicBezTo>
                  <a:pt x="2690037" y="0"/>
                  <a:pt x="2724150" y="34113"/>
                  <a:pt x="2724150" y="76194"/>
                </a:cubicBezTo>
                <a:lnTo>
                  <a:pt x="2724150" y="2647956"/>
                </a:lnTo>
                <a:cubicBezTo>
                  <a:pt x="2724150" y="2690037"/>
                  <a:pt x="2690037" y="2724150"/>
                  <a:pt x="2647956" y="2724150"/>
                </a:cubicBezTo>
                <a:lnTo>
                  <a:pt x="0" y="2724150"/>
                </a:lnTo>
                <a:lnTo>
                  <a:pt x="0" y="0"/>
                </a:lnTo>
                <a:close/>
              </a:path>
            </a:pathLst>
          </a:custGeom>
          <a:solidFill>
            <a:srgbClr val="2C3036">
              <a:alpha val="5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00050" y="3152775"/>
            <a:ext cx="38100" cy="2724150"/>
          </a:xfrm>
          <a:custGeom>
            <a:avLst/>
            <a:gdLst/>
            <a:ahLst/>
            <a:cxnLst/>
            <a:rect l="l" t="t" r="r" b="b"/>
            <a:pathLst>
              <a:path w="38100" h="2724150">
                <a:moveTo>
                  <a:pt x="0" y="0"/>
                </a:moveTo>
                <a:lnTo>
                  <a:pt x="38100" y="0"/>
                </a:lnTo>
                <a:lnTo>
                  <a:pt x="38100" y="2724150"/>
                </a:lnTo>
                <a:lnTo>
                  <a:pt x="0" y="2724150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9" name="Shape 7"/>
          <p:cNvSpPr/>
          <p:nvPr/>
        </p:nvSpPr>
        <p:spPr>
          <a:xfrm>
            <a:off x="647700" y="33813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97793" y="3495675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95400" y="3514725"/>
            <a:ext cx="561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Сбор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7700" y="4067175"/>
            <a:ext cx="23241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Автоматический мониторинг offensive-security инструментов из GitHub, RSS и специализированных ресурсов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76275" y="54768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9525"/>
                </a:moveTo>
                <a:cubicBezTo>
                  <a:pt x="76200" y="4256"/>
                  <a:pt x="71944" y="0"/>
                  <a:pt x="66675" y="0"/>
                </a:cubicBezTo>
                <a:cubicBezTo>
                  <a:pt x="61406" y="0"/>
                  <a:pt x="57150" y="4256"/>
                  <a:pt x="57150" y="9525"/>
                </a:cubicBezTo>
                <a:lnTo>
                  <a:pt x="57150" y="72241"/>
                </a:lnTo>
                <a:lnTo>
                  <a:pt x="44827" y="59918"/>
                </a:lnTo>
                <a:cubicBezTo>
                  <a:pt x="41106" y="56197"/>
                  <a:pt x="35064" y="56197"/>
                  <a:pt x="31343" y="59918"/>
                </a:cubicBezTo>
                <a:cubicBezTo>
                  <a:pt x="27622" y="63639"/>
                  <a:pt x="27622" y="69681"/>
                  <a:pt x="31343" y="73402"/>
                </a:cubicBezTo>
                <a:lnTo>
                  <a:pt x="59918" y="101977"/>
                </a:lnTo>
                <a:cubicBezTo>
                  <a:pt x="63639" y="105698"/>
                  <a:pt x="69681" y="105698"/>
                  <a:pt x="73402" y="101977"/>
                </a:cubicBezTo>
                <a:lnTo>
                  <a:pt x="101977" y="73402"/>
                </a:lnTo>
                <a:cubicBezTo>
                  <a:pt x="105698" y="69681"/>
                  <a:pt x="105698" y="63639"/>
                  <a:pt x="101977" y="59918"/>
                </a:cubicBezTo>
                <a:cubicBezTo>
                  <a:pt x="98256" y="56197"/>
                  <a:pt x="92214" y="56197"/>
                  <a:pt x="88493" y="59918"/>
                </a:cubicBezTo>
                <a:lnTo>
                  <a:pt x="76200" y="72241"/>
                </a:lnTo>
                <a:lnTo>
                  <a:pt x="76200" y="9525"/>
                </a:lnTo>
                <a:close/>
                <a:moveTo>
                  <a:pt x="19050" y="95250"/>
                </a:moveTo>
                <a:cubicBezTo>
                  <a:pt x="8543" y="95250"/>
                  <a:pt x="0" y="103793"/>
                  <a:pt x="0" y="114300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114300"/>
                </a:lnTo>
                <a:cubicBezTo>
                  <a:pt x="133350" y="103793"/>
                  <a:pt x="124807" y="95250"/>
                  <a:pt x="114300" y="95250"/>
                </a:cubicBezTo>
                <a:lnTo>
                  <a:pt x="100340" y="95250"/>
                </a:lnTo>
                <a:lnTo>
                  <a:pt x="83493" y="112097"/>
                </a:lnTo>
                <a:cubicBezTo>
                  <a:pt x="74206" y="121384"/>
                  <a:pt x="59115" y="121384"/>
                  <a:pt x="49828" y="112097"/>
                </a:cubicBezTo>
                <a:lnTo>
                  <a:pt x="33010" y="95250"/>
                </a:lnTo>
                <a:lnTo>
                  <a:pt x="19050" y="95250"/>
                </a:lnTo>
                <a:close/>
                <a:moveTo>
                  <a:pt x="109537" y="111919"/>
                </a:moveTo>
                <a:cubicBezTo>
                  <a:pt x="113480" y="111919"/>
                  <a:pt x="116681" y="115120"/>
                  <a:pt x="116681" y="119062"/>
                </a:cubicBezTo>
                <a:cubicBezTo>
                  <a:pt x="116681" y="123005"/>
                  <a:pt x="113480" y="126206"/>
                  <a:pt x="109537" y="126206"/>
                </a:cubicBezTo>
                <a:cubicBezTo>
                  <a:pt x="105595" y="126206"/>
                  <a:pt x="102394" y="123005"/>
                  <a:pt x="102394" y="119062"/>
                </a:cubicBezTo>
                <a:cubicBezTo>
                  <a:pt x="102394" y="115120"/>
                  <a:pt x="105595" y="111919"/>
                  <a:pt x="109537" y="111919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457825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ETL-модуль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95650" y="3152775"/>
            <a:ext cx="2724150" cy="2724150"/>
          </a:xfrm>
          <a:custGeom>
            <a:avLst/>
            <a:gdLst/>
            <a:ahLst/>
            <a:cxnLst/>
            <a:rect l="l" t="t" r="r" b="b"/>
            <a:pathLst>
              <a:path w="2724150" h="2724150">
                <a:moveTo>
                  <a:pt x="0" y="0"/>
                </a:moveTo>
                <a:lnTo>
                  <a:pt x="2647956" y="0"/>
                </a:lnTo>
                <a:cubicBezTo>
                  <a:pt x="2690037" y="0"/>
                  <a:pt x="2724150" y="34113"/>
                  <a:pt x="2724150" y="76194"/>
                </a:cubicBezTo>
                <a:lnTo>
                  <a:pt x="2724150" y="2647956"/>
                </a:lnTo>
                <a:cubicBezTo>
                  <a:pt x="2724150" y="2690037"/>
                  <a:pt x="2690037" y="2724150"/>
                  <a:pt x="2647956" y="2724150"/>
                </a:cubicBezTo>
                <a:lnTo>
                  <a:pt x="0" y="2724150"/>
                </a:lnTo>
                <a:lnTo>
                  <a:pt x="0" y="0"/>
                </a:lnTo>
                <a:close/>
              </a:path>
            </a:pathLst>
          </a:custGeom>
          <a:solidFill>
            <a:srgbClr val="2C3036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95650" y="3152775"/>
            <a:ext cx="38100" cy="2724150"/>
          </a:xfrm>
          <a:custGeom>
            <a:avLst/>
            <a:gdLst/>
            <a:ahLst/>
            <a:cxnLst/>
            <a:rect l="l" t="t" r="r" b="b"/>
            <a:pathLst>
              <a:path w="38100" h="2724150">
                <a:moveTo>
                  <a:pt x="0" y="0"/>
                </a:moveTo>
                <a:lnTo>
                  <a:pt x="38100" y="0"/>
                </a:lnTo>
                <a:lnTo>
                  <a:pt x="38100" y="2724150"/>
                </a:lnTo>
                <a:lnTo>
                  <a:pt x="0" y="2724150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7" name="Shape 15"/>
          <p:cNvSpPr/>
          <p:nvPr/>
        </p:nvSpPr>
        <p:spPr>
          <a:xfrm>
            <a:off x="3543300" y="33813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674046" y="349567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91000" y="3514725"/>
            <a:ext cx="74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Анализ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43300" y="4067175"/>
            <a:ext cx="23241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Извлечение capabilities из README, документации, release notes с помощью NLP и LLM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62350" y="5476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2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2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2" name="Text 20"/>
          <p:cNvSpPr/>
          <p:nvPr/>
        </p:nvSpPr>
        <p:spPr>
          <a:xfrm>
            <a:off x="3810000" y="5457825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Capability extraction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1250" y="3152775"/>
            <a:ext cx="2724150" cy="2724150"/>
          </a:xfrm>
          <a:custGeom>
            <a:avLst/>
            <a:gdLst/>
            <a:ahLst/>
            <a:cxnLst/>
            <a:rect l="l" t="t" r="r" b="b"/>
            <a:pathLst>
              <a:path w="2724150" h="2724150">
                <a:moveTo>
                  <a:pt x="0" y="0"/>
                </a:moveTo>
                <a:lnTo>
                  <a:pt x="2647956" y="0"/>
                </a:lnTo>
                <a:cubicBezTo>
                  <a:pt x="2690037" y="0"/>
                  <a:pt x="2724150" y="34113"/>
                  <a:pt x="2724150" y="76194"/>
                </a:cubicBezTo>
                <a:lnTo>
                  <a:pt x="2724150" y="2647956"/>
                </a:lnTo>
                <a:cubicBezTo>
                  <a:pt x="2724150" y="2690037"/>
                  <a:pt x="2690037" y="2724150"/>
                  <a:pt x="2647956" y="2724150"/>
                </a:cubicBezTo>
                <a:lnTo>
                  <a:pt x="0" y="2724150"/>
                </a:lnTo>
                <a:lnTo>
                  <a:pt x="0" y="0"/>
                </a:lnTo>
                <a:close/>
              </a:path>
            </a:pathLst>
          </a:custGeom>
          <a:solidFill>
            <a:srgbClr val="2C3036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191250" y="3152775"/>
            <a:ext cx="38100" cy="2724150"/>
          </a:xfrm>
          <a:custGeom>
            <a:avLst/>
            <a:gdLst/>
            <a:ahLst/>
            <a:cxnLst/>
            <a:rect l="l" t="t" r="r" b="b"/>
            <a:pathLst>
              <a:path w="38100" h="2724150">
                <a:moveTo>
                  <a:pt x="0" y="0"/>
                </a:moveTo>
                <a:lnTo>
                  <a:pt x="38100" y="0"/>
                </a:lnTo>
                <a:lnTo>
                  <a:pt x="38100" y="2724150"/>
                </a:lnTo>
                <a:lnTo>
                  <a:pt x="0" y="2724150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5" name="Shape 23"/>
          <p:cNvSpPr/>
          <p:nvPr/>
        </p:nvSpPr>
        <p:spPr>
          <a:xfrm>
            <a:off x="6438900" y="33813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566669" y="349567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6600" y="3514725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Классификация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38900" y="4067175"/>
            <a:ext cx="23241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Сопоставление возможностей с тактиками, техниками и TTP MITRE ATT&amp;CK с confidence score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48425" y="54768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9420" y="11638"/>
                </a:moveTo>
                <a:lnTo>
                  <a:pt x="163532" y="56376"/>
                </a:lnTo>
                <a:cubicBezTo>
                  <a:pt x="171777" y="64740"/>
                  <a:pt x="171777" y="78135"/>
                  <a:pt x="163532" y="86499"/>
                </a:cubicBezTo>
                <a:lnTo>
                  <a:pt x="116979" y="133618"/>
                </a:lnTo>
                <a:cubicBezTo>
                  <a:pt x="114211" y="136416"/>
                  <a:pt x="109686" y="136446"/>
                  <a:pt x="106888" y="133677"/>
                </a:cubicBezTo>
                <a:cubicBezTo>
                  <a:pt x="104090" y="130909"/>
                  <a:pt x="104061" y="126385"/>
                  <a:pt x="106829" y="123587"/>
                </a:cubicBezTo>
                <a:lnTo>
                  <a:pt x="153382" y="76438"/>
                </a:lnTo>
                <a:cubicBezTo>
                  <a:pt x="156121" y="73670"/>
                  <a:pt x="156121" y="69175"/>
                  <a:pt x="153382" y="66407"/>
                </a:cubicBezTo>
                <a:lnTo>
                  <a:pt x="109240" y="21699"/>
                </a:lnTo>
                <a:cubicBezTo>
                  <a:pt x="106472" y="18901"/>
                  <a:pt x="106501" y="14377"/>
                  <a:pt x="109299" y="11609"/>
                </a:cubicBezTo>
                <a:cubicBezTo>
                  <a:pt x="112097" y="8840"/>
                  <a:pt x="116622" y="8870"/>
                  <a:pt x="119390" y="11668"/>
                </a:cubicBezTo>
                <a:close/>
                <a:moveTo>
                  <a:pt x="9555" y="68312"/>
                </a:moveTo>
                <a:lnTo>
                  <a:pt x="9555" y="28575"/>
                </a:lnTo>
                <a:cubicBezTo>
                  <a:pt x="9555" y="18068"/>
                  <a:pt x="18098" y="9525"/>
                  <a:pt x="28605" y="9525"/>
                </a:cubicBezTo>
                <a:lnTo>
                  <a:pt x="68342" y="9525"/>
                </a:lnTo>
                <a:cubicBezTo>
                  <a:pt x="73402" y="9525"/>
                  <a:pt x="78254" y="11519"/>
                  <a:pt x="81826" y="15091"/>
                </a:cubicBezTo>
                <a:lnTo>
                  <a:pt x="124688" y="57954"/>
                </a:lnTo>
                <a:cubicBezTo>
                  <a:pt x="132130" y="65395"/>
                  <a:pt x="132130" y="77450"/>
                  <a:pt x="124688" y="84892"/>
                </a:cubicBezTo>
                <a:lnTo>
                  <a:pt x="84951" y="124629"/>
                </a:lnTo>
                <a:cubicBezTo>
                  <a:pt x="77510" y="132070"/>
                  <a:pt x="65455" y="132070"/>
                  <a:pt x="58013" y="124629"/>
                </a:cubicBezTo>
                <a:lnTo>
                  <a:pt x="15151" y="81766"/>
                </a:lnTo>
                <a:cubicBezTo>
                  <a:pt x="11579" y="78194"/>
                  <a:pt x="9585" y="73343"/>
                  <a:pt x="9585" y="68282"/>
                </a:cubicBezTo>
                <a:close/>
                <a:moveTo>
                  <a:pt x="52417" y="42863"/>
                </a:moveTo>
                <a:cubicBezTo>
                  <a:pt x="52417" y="37606"/>
                  <a:pt x="48149" y="33338"/>
                  <a:pt x="42892" y="33338"/>
                </a:cubicBezTo>
                <a:cubicBezTo>
                  <a:pt x="37635" y="33338"/>
                  <a:pt x="33367" y="37606"/>
                  <a:pt x="33367" y="42863"/>
                </a:cubicBezTo>
                <a:cubicBezTo>
                  <a:pt x="33367" y="48119"/>
                  <a:pt x="37635" y="52388"/>
                  <a:pt x="42892" y="52388"/>
                </a:cubicBezTo>
                <a:cubicBezTo>
                  <a:pt x="48149" y="52388"/>
                  <a:pt x="52417" y="48119"/>
                  <a:pt x="52417" y="42863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0" name="Text 28"/>
          <p:cNvSpPr/>
          <p:nvPr/>
        </p:nvSpPr>
        <p:spPr>
          <a:xfrm>
            <a:off x="6705600" y="5457825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MITRE mapping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086850" y="3152775"/>
            <a:ext cx="2724150" cy="2724150"/>
          </a:xfrm>
          <a:custGeom>
            <a:avLst/>
            <a:gdLst/>
            <a:ahLst/>
            <a:cxnLst/>
            <a:rect l="l" t="t" r="r" b="b"/>
            <a:pathLst>
              <a:path w="2724150" h="2724150">
                <a:moveTo>
                  <a:pt x="0" y="0"/>
                </a:moveTo>
                <a:lnTo>
                  <a:pt x="2647956" y="0"/>
                </a:lnTo>
                <a:cubicBezTo>
                  <a:pt x="2690037" y="0"/>
                  <a:pt x="2724150" y="34113"/>
                  <a:pt x="2724150" y="76194"/>
                </a:cubicBezTo>
                <a:lnTo>
                  <a:pt x="2724150" y="2647956"/>
                </a:lnTo>
                <a:cubicBezTo>
                  <a:pt x="2724150" y="2690037"/>
                  <a:pt x="2690037" y="2724150"/>
                  <a:pt x="2647956" y="2724150"/>
                </a:cubicBezTo>
                <a:lnTo>
                  <a:pt x="0" y="2724150"/>
                </a:lnTo>
                <a:lnTo>
                  <a:pt x="0" y="0"/>
                </a:lnTo>
                <a:close/>
              </a:path>
            </a:pathLst>
          </a:custGeom>
          <a:solidFill>
            <a:srgbClr val="2C3036">
              <a:alpha val="5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086850" y="3152775"/>
            <a:ext cx="38100" cy="2724150"/>
          </a:xfrm>
          <a:custGeom>
            <a:avLst/>
            <a:gdLst/>
            <a:ahLst/>
            <a:cxnLst/>
            <a:rect l="l" t="t" r="r" b="b"/>
            <a:pathLst>
              <a:path w="38100" h="2724150">
                <a:moveTo>
                  <a:pt x="0" y="0"/>
                </a:moveTo>
                <a:lnTo>
                  <a:pt x="38100" y="0"/>
                </a:lnTo>
                <a:lnTo>
                  <a:pt x="38100" y="2724150"/>
                </a:lnTo>
                <a:lnTo>
                  <a:pt x="0" y="2724150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3" name="Shape 31"/>
          <p:cNvSpPr/>
          <p:nvPr/>
        </p:nvSpPr>
        <p:spPr>
          <a:xfrm>
            <a:off x="9334500" y="33813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462492" y="349567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982200" y="3514725"/>
            <a:ext cx="100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Результат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334500" y="4067175"/>
            <a:ext cx="23241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Предоставление данных через Shiny-интерфейс для человека и MCP-сервер для AI-агентов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353550" y="5476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4300" y="57150"/>
                </a:moveTo>
                <a:cubicBezTo>
                  <a:pt x="130076" y="57150"/>
                  <a:pt x="142875" y="44351"/>
                  <a:pt x="142875" y="28575"/>
                </a:cubicBezTo>
                <a:cubicBezTo>
                  <a:pt x="142875" y="12799"/>
                  <a:pt x="130076" y="0"/>
                  <a:pt x="114300" y="0"/>
                </a:cubicBezTo>
                <a:cubicBezTo>
                  <a:pt x="98524" y="0"/>
                  <a:pt x="85725" y="12799"/>
                  <a:pt x="85725" y="28575"/>
                </a:cubicBezTo>
                <a:cubicBezTo>
                  <a:pt x="85725" y="30182"/>
                  <a:pt x="85874" y="31790"/>
                  <a:pt x="86112" y="33338"/>
                </a:cubicBezTo>
                <a:lnTo>
                  <a:pt x="47506" y="54799"/>
                </a:lnTo>
                <a:cubicBezTo>
                  <a:pt x="42476" y="50334"/>
                  <a:pt x="35838" y="47625"/>
                  <a:pt x="28575" y="47625"/>
                </a:cubicBezTo>
                <a:cubicBezTo>
                  <a:pt x="12799" y="47625"/>
                  <a:pt x="0" y="60424"/>
                  <a:pt x="0" y="76200"/>
                </a:cubicBezTo>
                <a:cubicBezTo>
                  <a:pt x="0" y="91976"/>
                  <a:pt x="12799" y="104775"/>
                  <a:pt x="28575" y="104775"/>
                </a:cubicBezTo>
                <a:cubicBezTo>
                  <a:pt x="35838" y="104775"/>
                  <a:pt x="42446" y="102066"/>
                  <a:pt x="47506" y="97601"/>
                </a:cubicBezTo>
                <a:lnTo>
                  <a:pt x="86112" y="119062"/>
                </a:lnTo>
                <a:cubicBezTo>
                  <a:pt x="85844" y="120610"/>
                  <a:pt x="85725" y="122188"/>
                  <a:pt x="85725" y="123825"/>
                </a:cubicBezTo>
                <a:cubicBezTo>
                  <a:pt x="85725" y="139601"/>
                  <a:pt x="98524" y="152400"/>
                  <a:pt x="114300" y="152400"/>
                </a:cubicBezTo>
                <a:cubicBezTo>
                  <a:pt x="130076" y="152400"/>
                  <a:pt x="142875" y="139601"/>
                  <a:pt x="142875" y="123825"/>
                </a:cubicBezTo>
                <a:cubicBezTo>
                  <a:pt x="142875" y="108049"/>
                  <a:pt x="130076" y="95250"/>
                  <a:pt x="114300" y="95250"/>
                </a:cubicBezTo>
                <a:cubicBezTo>
                  <a:pt x="107037" y="95250"/>
                  <a:pt x="100429" y="97959"/>
                  <a:pt x="95369" y="102424"/>
                </a:cubicBezTo>
                <a:lnTo>
                  <a:pt x="56763" y="80962"/>
                </a:lnTo>
                <a:cubicBezTo>
                  <a:pt x="57031" y="79415"/>
                  <a:pt x="57150" y="77837"/>
                  <a:pt x="57150" y="76200"/>
                </a:cubicBezTo>
                <a:cubicBezTo>
                  <a:pt x="57150" y="74563"/>
                  <a:pt x="57001" y="72985"/>
                  <a:pt x="56763" y="71438"/>
                </a:cubicBezTo>
                <a:lnTo>
                  <a:pt x="95369" y="49976"/>
                </a:lnTo>
                <a:cubicBezTo>
                  <a:pt x="100399" y="54441"/>
                  <a:pt x="107037" y="57150"/>
                  <a:pt x="114300" y="5715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8" name="Text 36"/>
          <p:cNvSpPr/>
          <p:nvPr/>
        </p:nvSpPr>
        <p:spPr>
          <a:xfrm>
            <a:off x="9601200" y="5457825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Dual access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85763" y="6034088"/>
            <a:ext cx="11420475" cy="771525"/>
          </a:xfrm>
          <a:custGeom>
            <a:avLst/>
            <a:gdLst/>
            <a:ahLst/>
            <a:cxnLst/>
            <a:rect l="l" t="t" r="r" b="b"/>
            <a:pathLst>
              <a:path w="11420475" h="771525">
                <a:moveTo>
                  <a:pt x="76204" y="0"/>
                </a:moveTo>
                <a:lnTo>
                  <a:pt x="11344271" y="0"/>
                </a:lnTo>
                <a:cubicBezTo>
                  <a:pt x="11386358" y="0"/>
                  <a:pt x="11420475" y="34117"/>
                  <a:pt x="11420475" y="76204"/>
                </a:cubicBezTo>
                <a:lnTo>
                  <a:pt x="11420475" y="695321"/>
                </a:lnTo>
                <a:cubicBezTo>
                  <a:pt x="11420475" y="737408"/>
                  <a:pt x="11386358" y="771525"/>
                  <a:pt x="11344271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7213" y="6324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5016" y="130969"/>
                </a:moveTo>
                <a:cubicBezTo>
                  <a:pt x="161181" y="130969"/>
                  <a:pt x="190500" y="101650"/>
                  <a:pt x="190500" y="65484"/>
                </a:cubicBezTo>
                <a:cubicBezTo>
                  <a:pt x="190500" y="29319"/>
                  <a:pt x="161181" y="0"/>
                  <a:pt x="125016" y="0"/>
                </a:cubicBezTo>
                <a:cubicBezTo>
                  <a:pt x="88850" y="0"/>
                  <a:pt x="59531" y="29319"/>
                  <a:pt x="59531" y="65484"/>
                </a:cubicBezTo>
                <a:cubicBezTo>
                  <a:pt x="59531" y="72442"/>
                  <a:pt x="60610" y="79177"/>
                  <a:pt x="62619" y="85465"/>
                </a:cubicBezTo>
                <a:lnTo>
                  <a:pt x="2604" y="145479"/>
                </a:lnTo>
                <a:cubicBezTo>
                  <a:pt x="930" y="147154"/>
                  <a:pt x="0" y="149423"/>
                  <a:pt x="0" y="151805"/>
                </a:cubicBezTo>
                <a:lnTo>
                  <a:pt x="0" y="181570"/>
                </a:lnTo>
                <a:cubicBezTo>
                  <a:pt x="0" y="186519"/>
                  <a:pt x="3981" y="190500"/>
                  <a:pt x="8930" y="190500"/>
                </a:cubicBezTo>
                <a:lnTo>
                  <a:pt x="38695" y="190500"/>
                </a:lnTo>
                <a:cubicBezTo>
                  <a:pt x="43644" y="190500"/>
                  <a:pt x="47625" y="186519"/>
                  <a:pt x="47625" y="181570"/>
                </a:cubicBezTo>
                <a:lnTo>
                  <a:pt x="47625" y="166688"/>
                </a:lnTo>
                <a:lnTo>
                  <a:pt x="62508" y="166688"/>
                </a:lnTo>
                <a:cubicBezTo>
                  <a:pt x="67456" y="166688"/>
                  <a:pt x="71438" y="162706"/>
                  <a:pt x="71438" y="157758"/>
                </a:cubicBezTo>
                <a:lnTo>
                  <a:pt x="71438" y="142875"/>
                </a:lnTo>
                <a:lnTo>
                  <a:pt x="86320" y="142875"/>
                </a:lnTo>
                <a:cubicBezTo>
                  <a:pt x="88702" y="142875"/>
                  <a:pt x="90971" y="141945"/>
                  <a:pt x="92646" y="140271"/>
                </a:cubicBezTo>
                <a:lnTo>
                  <a:pt x="105035" y="127881"/>
                </a:lnTo>
                <a:cubicBezTo>
                  <a:pt x="111323" y="129890"/>
                  <a:pt x="118058" y="130969"/>
                  <a:pt x="125016" y="130969"/>
                </a:cubicBezTo>
                <a:close/>
                <a:moveTo>
                  <a:pt x="139898" y="35719"/>
                </a:moveTo>
                <a:cubicBezTo>
                  <a:pt x="148112" y="35719"/>
                  <a:pt x="154781" y="42388"/>
                  <a:pt x="154781" y="50602"/>
                </a:cubicBezTo>
                <a:cubicBezTo>
                  <a:pt x="154781" y="58816"/>
                  <a:pt x="148112" y="65484"/>
                  <a:pt x="139898" y="65484"/>
                </a:cubicBezTo>
                <a:cubicBezTo>
                  <a:pt x="131684" y="65484"/>
                  <a:pt x="125016" y="58816"/>
                  <a:pt x="125016" y="50602"/>
                </a:cubicBezTo>
                <a:cubicBezTo>
                  <a:pt x="125016" y="42388"/>
                  <a:pt x="131684" y="35719"/>
                  <a:pt x="139898" y="35719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1" name="Text 39"/>
          <p:cNvSpPr/>
          <p:nvPr/>
        </p:nvSpPr>
        <p:spPr>
          <a:xfrm>
            <a:off x="916335" y="6191250"/>
            <a:ext cx="10810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Ключевой момент:</a:t>
            </a: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Мы анализируем </a:t>
            </a:r>
            <a:r>
              <a:rPr lang="en-US" sz="12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возможности</a:t>
            </a: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инструмента (scanning, enumeration, brute force, exploitation), а не просто храним название с ручной меткой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38163" y="5143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419100"/>
            <a:ext cx="3438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Ключевая концепция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525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Главный концептуальный тезис проекта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452563"/>
            <a:ext cx="11420475" cy="2752725"/>
          </a:xfrm>
          <a:custGeom>
            <a:avLst/>
            <a:gdLst/>
            <a:ahLst/>
            <a:cxnLst/>
            <a:rect l="l" t="t" r="r" b="b"/>
            <a:pathLst>
              <a:path w="11420475" h="2752725">
                <a:moveTo>
                  <a:pt x="76195" y="0"/>
                </a:moveTo>
                <a:lnTo>
                  <a:pt x="11344280" y="0"/>
                </a:lnTo>
                <a:cubicBezTo>
                  <a:pt x="11386333" y="0"/>
                  <a:pt x="11420475" y="34142"/>
                  <a:pt x="11420475" y="76195"/>
                </a:cubicBezTo>
                <a:lnTo>
                  <a:pt x="11420475" y="2676530"/>
                </a:lnTo>
                <a:cubicBezTo>
                  <a:pt x="11420475" y="2718611"/>
                  <a:pt x="11386361" y="2752725"/>
                  <a:pt x="11344280" y="2752725"/>
                </a:cubicBezTo>
                <a:lnTo>
                  <a:pt x="76195" y="2752725"/>
                </a:lnTo>
                <a:cubicBezTo>
                  <a:pt x="34142" y="2752725"/>
                  <a:pt x="0" y="2718583"/>
                  <a:pt x="0" y="267653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83595" y="1762125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14300" y="0"/>
                </a:moveTo>
                <a:lnTo>
                  <a:pt x="800100" y="0"/>
                </a:lnTo>
                <a:cubicBezTo>
                  <a:pt x="863184" y="0"/>
                  <a:pt x="914400" y="51216"/>
                  <a:pt x="914400" y="114300"/>
                </a:cubicBezTo>
                <a:lnTo>
                  <a:pt x="914400" y="800100"/>
                </a:lnTo>
                <a:cubicBezTo>
                  <a:pt x="914400" y="863184"/>
                  <a:pt x="863184" y="914400"/>
                  <a:pt x="800100" y="914400"/>
                </a:cubicBezTo>
                <a:lnTo>
                  <a:pt x="114300" y="914400"/>
                </a:lnTo>
                <a:cubicBezTo>
                  <a:pt x="51216" y="914400"/>
                  <a:pt x="0" y="863184"/>
                  <a:pt x="0" y="8001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600301" y="20764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31254"/>
                </a:moveTo>
                <a:lnTo>
                  <a:pt x="98227" y="53578"/>
                </a:lnTo>
                <a:lnTo>
                  <a:pt x="187523" y="53578"/>
                </a:lnTo>
                <a:lnTo>
                  <a:pt x="187523" y="31254"/>
                </a:lnTo>
                <a:cubicBezTo>
                  <a:pt x="187523" y="28798"/>
                  <a:pt x="185514" y="26789"/>
                  <a:pt x="183059" y="26789"/>
                </a:cubicBezTo>
                <a:lnTo>
                  <a:pt x="102691" y="26789"/>
                </a:lnTo>
                <a:cubicBezTo>
                  <a:pt x="100236" y="26789"/>
                  <a:pt x="98227" y="28798"/>
                  <a:pt x="98227" y="31254"/>
                </a:cubicBezTo>
                <a:close/>
                <a:moveTo>
                  <a:pt x="71438" y="53578"/>
                </a:moveTo>
                <a:lnTo>
                  <a:pt x="71438" y="31254"/>
                </a:lnTo>
                <a:cubicBezTo>
                  <a:pt x="71438" y="14008"/>
                  <a:pt x="85446" y="0"/>
                  <a:pt x="102691" y="0"/>
                </a:cubicBezTo>
                <a:lnTo>
                  <a:pt x="183059" y="0"/>
                </a:lnTo>
                <a:cubicBezTo>
                  <a:pt x="200304" y="0"/>
                  <a:pt x="214313" y="14008"/>
                  <a:pt x="214313" y="31254"/>
                </a:cubicBezTo>
                <a:lnTo>
                  <a:pt x="214313" y="53578"/>
                </a:lnTo>
                <a:lnTo>
                  <a:pt x="229995" y="53578"/>
                </a:lnTo>
                <a:cubicBezTo>
                  <a:pt x="237083" y="53578"/>
                  <a:pt x="243892" y="56424"/>
                  <a:pt x="248915" y="61447"/>
                </a:cubicBezTo>
                <a:lnTo>
                  <a:pt x="277881" y="90413"/>
                </a:lnTo>
                <a:cubicBezTo>
                  <a:pt x="282904" y="95436"/>
                  <a:pt x="285750" y="102245"/>
                  <a:pt x="285750" y="109333"/>
                </a:cubicBezTo>
                <a:lnTo>
                  <a:pt x="285750" y="151805"/>
                </a:lnTo>
                <a:lnTo>
                  <a:pt x="209848" y="151805"/>
                </a:lnTo>
                <a:lnTo>
                  <a:pt x="209848" y="142875"/>
                </a:lnTo>
                <a:cubicBezTo>
                  <a:pt x="209848" y="135452"/>
                  <a:pt x="203876" y="129480"/>
                  <a:pt x="196453" y="129480"/>
                </a:cubicBezTo>
                <a:cubicBezTo>
                  <a:pt x="189030" y="129480"/>
                  <a:pt x="183059" y="135452"/>
                  <a:pt x="183059" y="142875"/>
                </a:cubicBezTo>
                <a:lnTo>
                  <a:pt x="183059" y="151805"/>
                </a:lnTo>
                <a:lnTo>
                  <a:pt x="102691" y="151805"/>
                </a:lnTo>
                <a:lnTo>
                  <a:pt x="102691" y="142875"/>
                </a:lnTo>
                <a:cubicBezTo>
                  <a:pt x="102691" y="135452"/>
                  <a:pt x="96720" y="129480"/>
                  <a:pt x="89297" y="129480"/>
                </a:cubicBezTo>
                <a:cubicBezTo>
                  <a:pt x="81874" y="129480"/>
                  <a:pt x="75902" y="135452"/>
                  <a:pt x="75902" y="142875"/>
                </a:cubicBezTo>
                <a:lnTo>
                  <a:pt x="75902" y="151805"/>
                </a:lnTo>
                <a:lnTo>
                  <a:pt x="0" y="151805"/>
                </a:lnTo>
                <a:lnTo>
                  <a:pt x="0" y="109333"/>
                </a:lnTo>
                <a:cubicBezTo>
                  <a:pt x="0" y="102245"/>
                  <a:pt x="2846" y="95436"/>
                  <a:pt x="7869" y="90413"/>
                </a:cubicBezTo>
                <a:lnTo>
                  <a:pt x="36835" y="61447"/>
                </a:lnTo>
                <a:cubicBezTo>
                  <a:pt x="41858" y="56424"/>
                  <a:pt x="48667" y="53578"/>
                  <a:pt x="55755" y="53578"/>
                </a:cubicBezTo>
                <a:lnTo>
                  <a:pt x="71438" y="53578"/>
                </a:lnTo>
                <a:close/>
                <a:moveTo>
                  <a:pt x="0" y="232172"/>
                </a:moveTo>
                <a:lnTo>
                  <a:pt x="0" y="178594"/>
                </a:lnTo>
                <a:lnTo>
                  <a:pt x="75902" y="178594"/>
                </a:lnTo>
                <a:lnTo>
                  <a:pt x="75902" y="187523"/>
                </a:lnTo>
                <a:cubicBezTo>
                  <a:pt x="75902" y="194946"/>
                  <a:pt x="81874" y="200918"/>
                  <a:pt x="89297" y="200918"/>
                </a:cubicBezTo>
                <a:cubicBezTo>
                  <a:pt x="96720" y="200918"/>
                  <a:pt x="102691" y="194946"/>
                  <a:pt x="102691" y="187523"/>
                </a:cubicBezTo>
                <a:lnTo>
                  <a:pt x="102691" y="178594"/>
                </a:lnTo>
                <a:lnTo>
                  <a:pt x="183059" y="178594"/>
                </a:lnTo>
                <a:lnTo>
                  <a:pt x="183059" y="187523"/>
                </a:lnTo>
                <a:cubicBezTo>
                  <a:pt x="183059" y="194946"/>
                  <a:pt x="189030" y="200918"/>
                  <a:pt x="196453" y="200918"/>
                </a:cubicBezTo>
                <a:cubicBezTo>
                  <a:pt x="203876" y="200918"/>
                  <a:pt x="209848" y="194946"/>
                  <a:pt x="209848" y="187523"/>
                </a:cubicBezTo>
                <a:lnTo>
                  <a:pt x="209848" y="178594"/>
                </a:lnTo>
                <a:lnTo>
                  <a:pt x="285750" y="178594"/>
                </a:lnTo>
                <a:lnTo>
                  <a:pt x="285750" y="232172"/>
                </a:lnTo>
                <a:cubicBezTo>
                  <a:pt x="285750" y="251873"/>
                  <a:pt x="269732" y="267891"/>
                  <a:pt x="250031" y="267891"/>
                </a:cubicBezTo>
                <a:lnTo>
                  <a:pt x="35719" y="267891"/>
                </a:lnTo>
                <a:cubicBezTo>
                  <a:pt x="16018" y="267891"/>
                  <a:pt x="0" y="251873"/>
                  <a:pt x="0" y="232172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9" name="Text 7"/>
          <p:cNvSpPr/>
          <p:nvPr/>
        </p:nvSpPr>
        <p:spPr>
          <a:xfrm>
            <a:off x="3208958" y="2790825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Инструмент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10819" y="22955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1" name="Shape 9"/>
          <p:cNvSpPr/>
          <p:nvPr/>
        </p:nvSpPr>
        <p:spPr>
          <a:xfrm>
            <a:off x="4820394" y="1762125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14300" y="0"/>
                </a:moveTo>
                <a:lnTo>
                  <a:pt x="800100" y="0"/>
                </a:lnTo>
                <a:cubicBezTo>
                  <a:pt x="863184" y="0"/>
                  <a:pt x="914400" y="51216"/>
                  <a:pt x="914400" y="114300"/>
                </a:cubicBezTo>
                <a:lnTo>
                  <a:pt x="914400" y="800100"/>
                </a:lnTo>
                <a:cubicBezTo>
                  <a:pt x="914400" y="863184"/>
                  <a:pt x="863184" y="914400"/>
                  <a:pt x="800100" y="914400"/>
                </a:cubicBezTo>
                <a:lnTo>
                  <a:pt x="114300" y="914400"/>
                </a:lnTo>
                <a:cubicBezTo>
                  <a:pt x="51216" y="914400"/>
                  <a:pt x="0" y="863184"/>
                  <a:pt x="0" y="8001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172819" y="207645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0" y="35719"/>
                </a:moveTo>
                <a:cubicBezTo>
                  <a:pt x="0" y="16018"/>
                  <a:pt x="16018" y="0"/>
                  <a:pt x="35719" y="0"/>
                </a:cubicBezTo>
                <a:lnTo>
                  <a:pt x="119156" y="0"/>
                </a:lnTo>
                <a:cubicBezTo>
                  <a:pt x="128643" y="0"/>
                  <a:pt x="137740" y="3739"/>
                  <a:pt x="144438" y="10437"/>
                </a:cubicBezTo>
                <a:lnTo>
                  <a:pt x="203876" y="69931"/>
                </a:lnTo>
                <a:cubicBezTo>
                  <a:pt x="210573" y="76628"/>
                  <a:pt x="214313" y="85725"/>
                  <a:pt x="214313" y="95213"/>
                </a:cubicBezTo>
                <a:lnTo>
                  <a:pt x="214313" y="250031"/>
                </a:lnTo>
                <a:cubicBezTo>
                  <a:pt x="214313" y="269732"/>
                  <a:pt x="198295" y="285750"/>
                  <a:pt x="178594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35719"/>
                </a:lnTo>
                <a:close/>
                <a:moveTo>
                  <a:pt x="116086" y="32649"/>
                </a:moveTo>
                <a:lnTo>
                  <a:pt x="116086" y="84832"/>
                </a:lnTo>
                <a:cubicBezTo>
                  <a:pt x="116086" y="92255"/>
                  <a:pt x="122058" y="98227"/>
                  <a:pt x="129480" y="98227"/>
                </a:cubicBezTo>
                <a:lnTo>
                  <a:pt x="181663" y="98227"/>
                </a:lnTo>
                <a:lnTo>
                  <a:pt x="116086" y="32649"/>
                </a:lnTo>
                <a:close/>
                <a:moveTo>
                  <a:pt x="86060" y="164976"/>
                </a:moveTo>
                <a:cubicBezTo>
                  <a:pt x="90860" y="159339"/>
                  <a:pt x="90246" y="150912"/>
                  <a:pt x="84609" y="146112"/>
                </a:cubicBezTo>
                <a:cubicBezTo>
                  <a:pt x="78972" y="141312"/>
                  <a:pt x="70545" y="141926"/>
                  <a:pt x="65745" y="147563"/>
                </a:cubicBezTo>
                <a:lnTo>
                  <a:pt x="38956" y="178817"/>
                </a:lnTo>
                <a:cubicBezTo>
                  <a:pt x="34658" y="183840"/>
                  <a:pt x="34658" y="191207"/>
                  <a:pt x="38956" y="196230"/>
                </a:cubicBezTo>
                <a:lnTo>
                  <a:pt x="65745" y="227484"/>
                </a:lnTo>
                <a:cubicBezTo>
                  <a:pt x="70545" y="233121"/>
                  <a:pt x="79028" y="233735"/>
                  <a:pt x="84609" y="228935"/>
                </a:cubicBezTo>
                <a:cubicBezTo>
                  <a:pt x="90190" y="224135"/>
                  <a:pt x="90860" y="215652"/>
                  <a:pt x="86060" y="210071"/>
                </a:cubicBezTo>
                <a:lnTo>
                  <a:pt x="66749" y="187523"/>
                </a:lnTo>
                <a:lnTo>
                  <a:pt x="86060" y="164976"/>
                </a:lnTo>
                <a:close/>
                <a:moveTo>
                  <a:pt x="148568" y="147563"/>
                </a:moveTo>
                <a:cubicBezTo>
                  <a:pt x="143768" y="141926"/>
                  <a:pt x="135285" y="141312"/>
                  <a:pt x="129704" y="146112"/>
                </a:cubicBezTo>
                <a:cubicBezTo>
                  <a:pt x="124123" y="150912"/>
                  <a:pt x="123453" y="159395"/>
                  <a:pt x="128253" y="164976"/>
                </a:cubicBezTo>
                <a:lnTo>
                  <a:pt x="147563" y="187523"/>
                </a:lnTo>
                <a:lnTo>
                  <a:pt x="128253" y="210071"/>
                </a:lnTo>
                <a:cubicBezTo>
                  <a:pt x="123453" y="215708"/>
                  <a:pt x="124067" y="224135"/>
                  <a:pt x="129704" y="228935"/>
                </a:cubicBezTo>
                <a:cubicBezTo>
                  <a:pt x="135341" y="233735"/>
                  <a:pt x="143768" y="233121"/>
                  <a:pt x="148568" y="227484"/>
                </a:cubicBezTo>
                <a:lnTo>
                  <a:pt x="175357" y="196230"/>
                </a:lnTo>
                <a:cubicBezTo>
                  <a:pt x="179654" y="191207"/>
                  <a:pt x="179654" y="183840"/>
                  <a:pt x="175357" y="178817"/>
                </a:cubicBezTo>
                <a:lnTo>
                  <a:pt x="148568" y="147563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3" name="Text 11"/>
          <p:cNvSpPr/>
          <p:nvPr/>
        </p:nvSpPr>
        <p:spPr>
          <a:xfrm>
            <a:off x="4777532" y="2790825"/>
            <a:ext cx="100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Описание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15769" y="22955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5" name="Shape 13"/>
          <p:cNvSpPr/>
          <p:nvPr/>
        </p:nvSpPr>
        <p:spPr>
          <a:xfrm>
            <a:off x="6423050" y="1762125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14300" y="0"/>
                </a:moveTo>
                <a:lnTo>
                  <a:pt x="800100" y="0"/>
                </a:lnTo>
                <a:cubicBezTo>
                  <a:pt x="863184" y="0"/>
                  <a:pt x="914400" y="51216"/>
                  <a:pt x="914400" y="114300"/>
                </a:cubicBezTo>
                <a:lnTo>
                  <a:pt x="914400" y="800100"/>
                </a:lnTo>
                <a:cubicBezTo>
                  <a:pt x="914400" y="863184"/>
                  <a:pt x="863184" y="914400"/>
                  <a:pt x="800100" y="914400"/>
                </a:cubicBezTo>
                <a:lnTo>
                  <a:pt x="114300" y="914400"/>
                </a:lnTo>
                <a:cubicBezTo>
                  <a:pt x="51216" y="914400"/>
                  <a:pt x="0" y="863184"/>
                  <a:pt x="0" y="8001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704037" y="2076450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32116" y="117481"/>
                </a:moveTo>
                <a:cubicBezTo>
                  <a:pt x="238925" y="115639"/>
                  <a:pt x="246069" y="118876"/>
                  <a:pt x="249138" y="125183"/>
                </a:cubicBezTo>
                <a:lnTo>
                  <a:pt x="259519" y="146168"/>
                </a:lnTo>
                <a:cubicBezTo>
                  <a:pt x="265268" y="146949"/>
                  <a:pt x="270904" y="148512"/>
                  <a:pt x="276206" y="150688"/>
                </a:cubicBezTo>
                <a:lnTo>
                  <a:pt x="295740" y="137685"/>
                </a:lnTo>
                <a:cubicBezTo>
                  <a:pt x="301600" y="133778"/>
                  <a:pt x="309358" y="134559"/>
                  <a:pt x="314325" y="139526"/>
                </a:cubicBezTo>
                <a:lnTo>
                  <a:pt x="325041" y="150242"/>
                </a:lnTo>
                <a:cubicBezTo>
                  <a:pt x="330008" y="155209"/>
                  <a:pt x="330789" y="163023"/>
                  <a:pt x="326882" y="168827"/>
                </a:cubicBezTo>
                <a:lnTo>
                  <a:pt x="313879" y="188305"/>
                </a:lnTo>
                <a:cubicBezTo>
                  <a:pt x="314939" y="190928"/>
                  <a:pt x="315888" y="193663"/>
                  <a:pt x="316669" y="196509"/>
                </a:cubicBezTo>
                <a:cubicBezTo>
                  <a:pt x="317450" y="199355"/>
                  <a:pt x="317953" y="202146"/>
                  <a:pt x="318343" y="204992"/>
                </a:cubicBezTo>
                <a:lnTo>
                  <a:pt x="339384" y="215373"/>
                </a:lnTo>
                <a:cubicBezTo>
                  <a:pt x="345691" y="218498"/>
                  <a:pt x="348928" y="225642"/>
                  <a:pt x="347086" y="232395"/>
                </a:cubicBezTo>
                <a:lnTo>
                  <a:pt x="343179" y="247017"/>
                </a:lnTo>
                <a:cubicBezTo>
                  <a:pt x="341337" y="253771"/>
                  <a:pt x="335031" y="258347"/>
                  <a:pt x="327999" y="257901"/>
                </a:cubicBezTo>
                <a:lnTo>
                  <a:pt x="304558" y="256394"/>
                </a:lnTo>
                <a:cubicBezTo>
                  <a:pt x="301042" y="260914"/>
                  <a:pt x="296968" y="265100"/>
                  <a:pt x="292336" y="268672"/>
                </a:cubicBezTo>
                <a:lnTo>
                  <a:pt x="293843" y="292057"/>
                </a:lnTo>
                <a:cubicBezTo>
                  <a:pt x="294289" y="299089"/>
                  <a:pt x="289713" y="305451"/>
                  <a:pt x="282959" y="307237"/>
                </a:cubicBezTo>
                <a:lnTo>
                  <a:pt x="268337" y="311144"/>
                </a:lnTo>
                <a:cubicBezTo>
                  <a:pt x="261528" y="312986"/>
                  <a:pt x="254440" y="309749"/>
                  <a:pt x="251315" y="303442"/>
                </a:cubicBezTo>
                <a:lnTo>
                  <a:pt x="240934" y="282457"/>
                </a:lnTo>
                <a:cubicBezTo>
                  <a:pt x="235186" y="281676"/>
                  <a:pt x="229549" y="280113"/>
                  <a:pt x="224247" y="277937"/>
                </a:cubicBezTo>
                <a:lnTo>
                  <a:pt x="204713" y="290940"/>
                </a:lnTo>
                <a:cubicBezTo>
                  <a:pt x="198853" y="294847"/>
                  <a:pt x="191095" y="294066"/>
                  <a:pt x="186128" y="289099"/>
                </a:cubicBezTo>
                <a:lnTo>
                  <a:pt x="175413" y="278383"/>
                </a:lnTo>
                <a:cubicBezTo>
                  <a:pt x="170445" y="273416"/>
                  <a:pt x="169664" y="265658"/>
                  <a:pt x="173571" y="259798"/>
                </a:cubicBezTo>
                <a:lnTo>
                  <a:pt x="186575" y="240264"/>
                </a:lnTo>
                <a:cubicBezTo>
                  <a:pt x="185514" y="237641"/>
                  <a:pt x="184565" y="234907"/>
                  <a:pt x="183784" y="232060"/>
                </a:cubicBezTo>
                <a:cubicBezTo>
                  <a:pt x="183003" y="229214"/>
                  <a:pt x="182500" y="226368"/>
                  <a:pt x="182110" y="223577"/>
                </a:cubicBezTo>
                <a:lnTo>
                  <a:pt x="161069" y="213196"/>
                </a:lnTo>
                <a:cubicBezTo>
                  <a:pt x="154763" y="210071"/>
                  <a:pt x="151581" y="202927"/>
                  <a:pt x="153367" y="196174"/>
                </a:cubicBezTo>
                <a:lnTo>
                  <a:pt x="157274" y="181552"/>
                </a:lnTo>
                <a:cubicBezTo>
                  <a:pt x="159116" y="174799"/>
                  <a:pt x="165422" y="170222"/>
                  <a:pt x="172455" y="170669"/>
                </a:cubicBezTo>
                <a:lnTo>
                  <a:pt x="195839" y="172176"/>
                </a:lnTo>
                <a:cubicBezTo>
                  <a:pt x="199355" y="167655"/>
                  <a:pt x="203429" y="163469"/>
                  <a:pt x="208062" y="159897"/>
                </a:cubicBezTo>
                <a:lnTo>
                  <a:pt x="206555" y="136568"/>
                </a:lnTo>
                <a:cubicBezTo>
                  <a:pt x="206108" y="129536"/>
                  <a:pt x="210685" y="123174"/>
                  <a:pt x="217438" y="121388"/>
                </a:cubicBezTo>
                <a:lnTo>
                  <a:pt x="232060" y="117481"/>
                </a:lnTo>
                <a:close/>
                <a:moveTo>
                  <a:pt x="250254" y="189756"/>
                </a:moveTo>
                <a:cubicBezTo>
                  <a:pt x="236701" y="189771"/>
                  <a:pt x="225710" y="200787"/>
                  <a:pt x="225726" y="214340"/>
                </a:cubicBezTo>
                <a:cubicBezTo>
                  <a:pt x="225741" y="227894"/>
                  <a:pt x="236757" y="238885"/>
                  <a:pt x="250310" y="238869"/>
                </a:cubicBezTo>
                <a:cubicBezTo>
                  <a:pt x="263863" y="238854"/>
                  <a:pt x="274854" y="227838"/>
                  <a:pt x="274839" y="214285"/>
                </a:cubicBezTo>
                <a:cubicBezTo>
                  <a:pt x="274824" y="200731"/>
                  <a:pt x="263808" y="189740"/>
                  <a:pt x="250254" y="189756"/>
                </a:cubicBezTo>
                <a:close/>
                <a:moveTo>
                  <a:pt x="125518" y="-25394"/>
                </a:moveTo>
                <a:lnTo>
                  <a:pt x="140140" y="-21487"/>
                </a:lnTo>
                <a:cubicBezTo>
                  <a:pt x="146893" y="-19645"/>
                  <a:pt x="151470" y="-13283"/>
                  <a:pt x="151023" y="-6307"/>
                </a:cubicBezTo>
                <a:lnTo>
                  <a:pt x="149516" y="17022"/>
                </a:lnTo>
                <a:cubicBezTo>
                  <a:pt x="154149" y="20594"/>
                  <a:pt x="158223" y="24724"/>
                  <a:pt x="161739" y="29301"/>
                </a:cubicBezTo>
                <a:lnTo>
                  <a:pt x="185179" y="27794"/>
                </a:lnTo>
                <a:cubicBezTo>
                  <a:pt x="192156" y="27347"/>
                  <a:pt x="198518" y="31924"/>
                  <a:pt x="200360" y="38677"/>
                </a:cubicBezTo>
                <a:lnTo>
                  <a:pt x="204267" y="53299"/>
                </a:lnTo>
                <a:cubicBezTo>
                  <a:pt x="206053" y="60052"/>
                  <a:pt x="202871" y="67196"/>
                  <a:pt x="196565" y="70321"/>
                </a:cubicBezTo>
                <a:lnTo>
                  <a:pt x="175524" y="80702"/>
                </a:lnTo>
                <a:cubicBezTo>
                  <a:pt x="175133" y="83548"/>
                  <a:pt x="174575" y="86395"/>
                  <a:pt x="173850" y="89185"/>
                </a:cubicBezTo>
                <a:cubicBezTo>
                  <a:pt x="173124" y="91976"/>
                  <a:pt x="172120" y="94766"/>
                  <a:pt x="171059" y="97389"/>
                </a:cubicBezTo>
                <a:lnTo>
                  <a:pt x="184063" y="116923"/>
                </a:lnTo>
                <a:cubicBezTo>
                  <a:pt x="187970" y="122783"/>
                  <a:pt x="187189" y="130541"/>
                  <a:pt x="182221" y="135508"/>
                </a:cubicBezTo>
                <a:lnTo>
                  <a:pt x="171506" y="146224"/>
                </a:lnTo>
                <a:cubicBezTo>
                  <a:pt x="166539" y="151191"/>
                  <a:pt x="158781" y="151972"/>
                  <a:pt x="152921" y="148065"/>
                </a:cubicBezTo>
                <a:lnTo>
                  <a:pt x="133387" y="135062"/>
                </a:lnTo>
                <a:cubicBezTo>
                  <a:pt x="128085" y="137238"/>
                  <a:pt x="122448" y="138801"/>
                  <a:pt x="116700" y="139582"/>
                </a:cubicBezTo>
                <a:lnTo>
                  <a:pt x="106319" y="160567"/>
                </a:lnTo>
                <a:cubicBezTo>
                  <a:pt x="103194" y="166874"/>
                  <a:pt x="96050" y="170055"/>
                  <a:pt x="89297" y="168269"/>
                </a:cubicBezTo>
                <a:lnTo>
                  <a:pt x="74675" y="164362"/>
                </a:lnTo>
                <a:cubicBezTo>
                  <a:pt x="67866" y="162520"/>
                  <a:pt x="63345" y="156158"/>
                  <a:pt x="63791" y="149182"/>
                </a:cubicBezTo>
                <a:lnTo>
                  <a:pt x="65298" y="125797"/>
                </a:lnTo>
                <a:cubicBezTo>
                  <a:pt x="60666" y="122225"/>
                  <a:pt x="56592" y="118095"/>
                  <a:pt x="53076" y="113519"/>
                </a:cubicBezTo>
                <a:lnTo>
                  <a:pt x="29635" y="115026"/>
                </a:lnTo>
                <a:cubicBezTo>
                  <a:pt x="22659" y="115472"/>
                  <a:pt x="16297" y="110896"/>
                  <a:pt x="14455" y="104142"/>
                </a:cubicBezTo>
                <a:lnTo>
                  <a:pt x="10548" y="89520"/>
                </a:lnTo>
                <a:cubicBezTo>
                  <a:pt x="8762" y="82767"/>
                  <a:pt x="11943" y="75623"/>
                  <a:pt x="18250" y="72498"/>
                </a:cubicBezTo>
                <a:lnTo>
                  <a:pt x="39291" y="62117"/>
                </a:lnTo>
                <a:cubicBezTo>
                  <a:pt x="39681" y="59271"/>
                  <a:pt x="40239" y="56480"/>
                  <a:pt x="40965" y="53634"/>
                </a:cubicBezTo>
                <a:cubicBezTo>
                  <a:pt x="41746" y="50788"/>
                  <a:pt x="42639" y="48053"/>
                  <a:pt x="43755" y="45430"/>
                </a:cubicBezTo>
                <a:lnTo>
                  <a:pt x="30752" y="25952"/>
                </a:lnTo>
                <a:cubicBezTo>
                  <a:pt x="26845" y="20092"/>
                  <a:pt x="27626" y="12334"/>
                  <a:pt x="32593" y="7367"/>
                </a:cubicBezTo>
                <a:lnTo>
                  <a:pt x="43309" y="-3349"/>
                </a:lnTo>
                <a:cubicBezTo>
                  <a:pt x="48276" y="-8316"/>
                  <a:pt x="56034" y="-9097"/>
                  <a:pt x="61894" y="-5190"/>
                </a:cubicBezTo>
                <a:lnTo>
                  <a:pt x="81428" y="7813"/>
                </a:lnTo>
                <a:cubicBezTo>
                  <a:pt x="86730" y="5637"/>
                  <a:pt x="92366" y="4074"/>
                  <a:pt x="98115" y="3293"/>
                </a:cubicBezTo>
                <a:lnTo>
                  <a:pt x="108496" y="-17692"/>
                </a:lnTo>
                <a:cubicBezTo>
                  <a:pt x="111621" y="-23999"/>
                  <a:pt x="118709" y="-27180"/>
                  <a:pt x="125518" y="-25394"/>
                </a:cubicBezTo>
                <a:close/>
                <a:moveTo>
                  <a:pt x="107379" y="46881"/>
                </a:moveTo>
                <a:cubicBezTo>
                  <a:pt x="93826" y="46881"/>
                  <a:pt x="82823" y="57884"/>
                  <a:pt x="82823" y="71438"/>
                </a:cubicBezTo>
                <a:cubicBezTo>
                  <a:pt x="82823" y="84991"/>
                  <a:pt x="93826" y="95994"/>
                  <a:pt x="107379" y="95994"/>
                </a:cubicBezTo>
                <a:cubicBezTo>
                  <a:pt x="120933" y="95994"/>
                  <a:pt x="131936" y="84991"/>
                  <a:pt x="131936" y="71438"/>
                </a:cubicBezTo>
                <a:cubicBezTo>
                  <a:pt x="131936" y="57884"/>
                  <a:pt x="120933" y="46881"/>
                  <a:pt x="107379" y="46881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7" name="Text 15"/>
          <p:cNvSpPr/>
          <p:nvPr/>
        </p:nvSpPr>
        <p:spPr>
          <a:xfrm>
            <a:off x="6282482" y="2790825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Возможности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16130" y="22955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9" name="Shape 17"/>
          <p:cNvSpPr/>
          <p:nvPr/>
        </p:nvSpPr>
        <p:spPr>
          <a:xfrm>
            <a:off x="8025705" y="1762125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14300" y="0"/>
                </a:moveTo>
                <a:lnTo>
                  <a:pt x="800100" y="0"/>
                </a:lnTo>
                <a:cubicBezTo>
                  <a:pt x="863184" y="0"/>
                  <a:pt x="914400" y="51216"/>
                  <a:pt x="914400" y="114300"/>
                </a:cubicBezTo>
                <a:lnTo>
                  <a:pt x="914400" y="800100"/>
                </a:lnTo>
                <a:cubicBezTo>
                  <a:pt x="914400" y="863184"/>
                  <a:pt x="863184" y="914400"/>
                  <a:pt x="800100" y="914400"/>
                </a:cubicBezTo>
                <a:lnTo>
                  <a:pt x="114300" y="914400"/>
                </a:lnTo>
                <a:cubicBezTo>
                  <a:pt x="51216" y="914400"/>
                  <a:pt x="0" y="863184"/>
                  <a:pt x="0" y="8001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342412" y="20764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1" name="Text 19"/>
          <p:cNvSpPr/>
          <p:nvPr/>
        </p:nvSpPr>
        <p:spPr>
          <a:xfrm>
            <a:off x="7982843" y="2790825"/>
            <a:ext cx="100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MITRE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8175" y="3286125"/>
            <a:ext cx="109156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Классифицируем не только инструмент,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 его подтверждённые </a:t>
            </a:r>
            <a:r>
              <a:rPr lang="en-US" sz="18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capabilities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0050" y="4438650"/>
            <a:ext cx="5581650" cy="1790700"/>
          </a:xfrm>
          <a:custGeom>
            <a:avLst/>
            <a:gdLst/>
            <a:ahLst/>
            <a:cxnLst/>
            <a:rect l="l" t="t" r="r" b="b"/>
            <a:pathLst>
              <a:path w="5581650" h="1790700">
                <a:moveTo>
                  <a:pt x="0" y="0"/>
                </a:moveTo>
                <a:lnTo>
                  <a:pt x="5505456" y="0"/>
                </a:lnTo>
                <a:cubicBezTo>
                  <a:pt x="5547508" y="0"/>
                  <a:pt x="5581650" y="34142"/>
                  <a:pt x="5581650" y="76194"/>
                </a:cubicBezTo>
                <a:lnTo>
                  <a:pt x="5581650" y="1714506"/>
                </a:lnTo>
                <a:cubicBezTo>
                  <a:pt x="5581650" y="1756587"/>
                  <a:pt x="5547537" y="1790700"/>
                  <a:pt x="5505456" y="1790700"/>
                </a:cubicBezTo>
                <a:lnTo>
                  <a:pt x="0" y="1790700"/>
                </a:lnTo>
                <a:lnTo>
                  <a:pt x="0" y="0"/>
                </a:lnTo>
                <a:close/>
              </a:path>
            </a:pathLst>
          </a:custGeom>
          <a:solidFill>
            <a:srgbClr val="2C3036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00050" y="4438650"/>
            <a:ext cx="38100" cy="1790700"/>
          </a:xfrm>
          <a:custGeom>
            <a:avLst/>
            <a:gdLst/>
            <a:ahLst/>
            <a:cxnLst/>
            <a:rect l="l" t="t" r="r" b="b"/>
            <a:pathLst>
              <a:path w="38100" h="1790700">
                <a:moveTo>
                  <a:pt x="0" y="0"/>
                </a:moveTo>
                <a:lnTo>
                  <a:pt x="38100" y="0"/>
                </a:lnTo>
                <a:lnTo>
                  <a:pt x="38100" y="1790700"/>
                </a:lnTo>
                <a:lnTo>
                  <a:pt x="0" y="1790700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76275" y="4686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4563" y="74563"/>
                </a:moveTo>
                <a:cubicBezTo>
                  <a:pt x="78760" y="70366"/>
                  <a:pt x="85546" y="70366"/>
                  <a:pt x="89699" y="74563"/>
                </a:cubicBezTo>
                <a:lnTo>
                  <a:pt x="114255" y="99120"/>
                </a:lnTo>
                <a:lnTo>
                  <a:pt x="138812" y="74563"/>
                </a:lnTo>
                <a:cubicBezTo>
                  <a:pt x="143009" y="70366"/>
                  <a:pt x="149796" y="70366"/>
                  <a:pt x="153948" y="74563"/>
                </a:cubicBezTo>
                <a:cubicBezTo>
                  <a:pt x="158100" y="78760"/>
                  <a:pt x="158145" y="85546"/>
                  <a:pt x="153948" y="89699"/>
                </a:cubicBezTo>
                <a:lnTo>
                  <a:pt x="129391" y="114255"/>
                </a:lnTo>
                <a:lnTo>
                  <a:pt x="153948" y="138812"/>
                </a:lnTo>
                <a:cubicBezTo>
                  <a:pt x="158145" y="143009"/>
                  <a:pt x="158145" y="149796"/>
                  <a:pt x="153948" y="153948"/>
                </a:cubicBezTo>
                <a:cubicBezTo>
                  <a:pt x="149751" y="158100"/>
                  <a:pt x="142964" y="158145"/>
                  <a:pt x="138812" y="153948"/>
                </a:cubicBezTo>
                <a:lnTo>
                  <a:pt x="114255" y="129391"/>
                </a:lnTo>
                <a:lnTo>
                  <a:pt x="89699" y="153948"/>
                </a:lnTo>
                <a:cubicBezTo>
                  <a:pt x="85502" y="158145"/>
                  <a:pt x="78715" y="158145"/>
                  <a:pt x="74563" y="153948"/>
                </a:cubicBezTo>
                <a:cubicBezTo>
                  <a:pt x="70411" y="149751"/>
                  <a:pt x="70366" y="142964"/>
                  <a:pt x="74563" y="138812"/>
                </a:cubicBezTo>
                <a:lnTo>
                  <a:pt x="99120" y="114255"/>
                </a:lnTo>
                <a:lnTo>
                  <a:pt x="74563" y="89699"/>
                </a:lnTo>
                <a:cubicBezTo>
                  <a:pt x="70366" y="85502"/>
                  <a:pt x="70366" y="78715"/>
                  <a:pt x="74563" y="74563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6" name="Text 24"/>
          <p:cNvSpPr/>
          <p:nvPr/>
        </p:nvSpPr>
        <p:spPr>
          <a:xfrm>
            <a:off x="1047750" y="4667250"/>
            <a:ext cx="2162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Традиционный подход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76275" y="51244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76200"/>
                </a:moveTo>
                <a:cubicBezTo>
                  <a:pt x="0" y="70931"/>
                  <a:pt x="4256" y="66675"/>
                  <a:pt x="9525" y="66675"/>
                </a:cubicBezTo>
                <a:lnTo>
                  <a:pt x="123825" y="66675"/>
                </a:lnTo>
                <a:cubicBezTo>
                  <a:pt x="129094" y="66675"/>
                  <a:pt x="133350" y="70931"/>
                  <a:pt x="133350" y="76200"/>
                </a:cubicBezTo>
                <a:cubicBezTo>
                  <a:pt x="133350" y="81469"/>
                  <a:pt x="129094" y="85725"/>
                  <a:pt x="123825" y="85725"/>
                </a:cubicBezTo>
                <a:lnTo>
                  <a:pt x="9525" y="85725"/>
                </a:lnTo>
                <a:cubicBezTo>
                  <a:pt x="4256" y="85725"/>
                  <a:pt x="0" y="81469"/>
                  <a:pt x="0" y="7620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8" name="Text 26"/>
          <p:cNvSpPr/>
          <p:nvPr/>
        </p:nvSpPr>
        <p:spPr>
          <a:xfrm>
            <a:off x="952500" y="5086350"/>
            <a:ext cx="298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Один инструмент = одна техника MITRE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76275" y="54673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76200"/>
                </a:moveTo>
                <a:cubicBezTo>
                  <a:pt x="0" y="70931"/>
                  <a:pt x="4256" y="66675"/>
                  <a:pt x="9525" y="66675"/>
                </a:cubicBezTo>
                <a:lnTo>
                  <a:pt x="123825" y="66675"/>
                </a:lnTo>
                <a:cubicBezTo>
                  <a:pt x="129094" y="66675"/>
                  <a:pt x="133350" y="70931"/>
                  <a:pt x="133350" y="76200"/>
                </a:cubicBezTo>
                <a:cubicBezTo>
                  <a:pt x="133350" y="81469"/>
                  <a:pt x="129094" y="85725"/>
                  <a:pt x="123825" y="85725"/>
                </a:cubicBezTo>
                <a:lnTo>
                  <a:pt x="9525" y="85725"/>
                </a:lnTo>
                <a:cubicBezTo>
                  <a:pt x="4256" y="85725"/>
                  <a:pt x="0" y="81469"/>
                  <a:pt x="0" y="7620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0" name="Text 28"/>
          <p:cNvSpPr/>
          <p:nvPr/>
        </p:nvSpPr>
        <p:spPr>
          <a:xfrm>
            <a:off x="952500" y="5429250"/>
            <a:ext cx="2800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Слишком грубый и часто ошибочный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76275" y="58102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76200"/>
                </a:moveTo>
                <a:cubicBezTo>
                  <a:pt x="0" y="70931"/>
                  <a:pt x="4256" y="66675"/>
                  <a:pt x="9525" y="66675"/>
                </a:cubicBezTo>
                <a:lnTo>
                  <a:pt x="123825" y="66675"/>
                </a:lnTo>
                <a:cubicBezTo>
                  <a:pt x="129094" y="66675"/>
                  <a:pt x="133350" y="70931"/>
                  <a:pt x="133350" y="76200"/>
                </a:cubicBezTo>
                <a:cubicBezTo>
                  <a:pt x="133350" y="81469"/>
                  <a:pt x="129094" y="85725"/>
                  <a:pt x="123825" y="85725"/>
                </a:cubicBezTo>
                <a:lnTo>
                  <a:pt x="9525" y="85725"/>
                </a:lnTo>
                <a:cubicBezTo>
                  <a:pt x="4256" y="85725"/>
                  <a:pt x="0" y="81469"/>
                  <a:pt x="0" y="7620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2" name="Text 30"/>
          <p:cNvSpPr/>
          <p:nvPr/>
        </p:nvSpPr>
        <p:spPr>
          <a:xfrm>
            <a:off x="952500" y="5772150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 учитывает множественность сценариев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29350" y="4438650"/>
            <a:ext cx="5581650" cy="1790700"/>
          </a:xfrm>
          <a:custGeom>
            <a:avLst/>
            <a:gdLst/>
            <a:ahLst/>
            <a:cxnLst/>
            <a:rect l="l" t="t" r="r" b="b"/>
            <a:pathLst>
              <a:path w="5581650" h="1790700">
                <a:moveTo>
                  <a:pt x="0" y="0"/>
                </a:moveTo>
                <a:lnTo>
                  <a:pt x="5505456" y="0"/>
                </a:lnTo>
                <a:cubicBezTo>
                  <a:pt x="5547508" y="0"/>
                  <a:pt x="5581650" y="34142"/>
                  <a:pt x="5581650" y="76194"/>
                </a:cubicBezTo>
                <a:lnTo>
                  <a:pt x="5581650" y="1714506"/>
                </a:lnTo>
                <a:cubicBezTo>
                  <a:pt x="5581650" y="1756587"/>
                  <a:pt x="5547537" y="1790700"/>
                  <a:pt x="5505456" y="1790700"/>
                </a:cubicBezTo>
                <a:lnTo>
                  <a:pt x="0" y="1790700"/>
                </a:lnTo>
                <a:lnTo>
                  <a:pt x="0" y="0"/>
                </a:lnTo>
                <a:close/>
              </a:path>
            </a:pathLst>
          </a:custGeom>
          <a:solidFill>
            <a:srgbClr val="2C3036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229350" y="4438650"/>
            <a:ext cx="38100" cy="1790700"/>
          </a:xfrm>
          <a:custGeom>
            <a:avLst/>
            <a:gdLst/>
            <a:ahLst/>
            <a:cxnLst/>
            <a:rect l="l" t="t" r="r" b="b"/>
            <a:pathLst>
              <a:path w="38100" h="1790700">
                <a:moveTo>
                  <a:pt x="0" y="0"/>
                </a:moveTo>
                <a:lnTo>
                  <a:pt x="38100" y="0"/>
                </a:lnTo>
                <a:lnTo>
                  <a:pt x="38100" y="1790700"/>
                </a:lnTo>
                <a:lnTo>
                  <a:pt x="0" y="17907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5" name="Shape 33"/>
          <p:cNvSpPr/>
          <p:nvPr/>
        </p:nvSpPr>
        <p:spPr>
          <a:xfrm>
            <a:off x="6505575" y="4686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6" name="Text 34"/>
          <p:cNvSpPr/>
          <p:nvPr/>
        </p:nvSpPr>
        <p:spPr>
          <a:xfrm>
            <a:off x="6877050" y="4667250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Наш подход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505575" y="51244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19050"/>
                </a:moveTo>
                <a:cubicBezTo>
                  <a:pt x="76200" y="13781"/>
                  <a:pt x="71944" y="9525"/>
                  <a:pt x="66675" y="9525"/>
                </a:cubicBezTo>
                <a:cubicBezTo>
                  <a:pt x="61406" y="9525"/>
                  <a:pt x="57150" y="13781"/>
                  <a:pt x="57150" y="19050"/>
                </a:cubicBezTo>
                <a:lnTo>
                  <a:pt x="5715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57150" y="85725"/>
                </a:lnTo>
                <a:lnTo>
                  <a:pt x="57150" y="133350"/>
                </a:lnTo>
                <a:cubicBezTo>
                  <a:pt x="57150" y="138619"/>
                  <a:pt x="61406" y="142875"/>
                  <a:pt x="66675" y="142875"/>
                </a:cubicBezTo>
                <a:cubicBezTo>
                  <a:pt x="71944" y="142875"/>
                  <a:pt x="76200" y="138619"/>
                  <a:pt x="76200" y="133350"/>
                </a:cubicBezTo>
                <a:lnTo>
                  <a:pt x="76200" y="85725"/>
                </a:lnTo>
                <a:lnTo>
                  <a:pt x="123825" y="85725"/>
                </a:lnTo>
                <a:cubicBezTo>
                  <a:pt x="129094" y="85725"/>
                  <a:pt x="133350" y="81469"/>
                  <a:pt x="133350" y="76200"/>
                </a:cubicBezTo>
                <a:cubicBezTo>
                  <a:pt x="133350" y="70931"/>
                  <a:pt x="129094" y="66675"/>
                  <a:pt x="123825" y="66675"/>
                </a:cubicBezTo>
                <a:lnTo>
                  <a:pt x="76200" y="66675"/>
                </a:lnTo>
                <a:lnTo>
                  <a:pt x="76200" y="1905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8" name="Text 36"/>
          <p:cNvSpPr/>
          <p:nvPr/>
        </p:nvSpPr>
        <p:spPr>
          <a:xfrm>
            <a:off x="6781800" y="5086350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Анализируем capabilities из описаний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505575" y="54673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19050"/>
                </a:moveTo>
                <a:cubicBezTo>
                  <a:pt x="76200" y="13781"/>
                  <a:pt x="71944" y="9525"/>
                  <a:pt x="66675" y="9525"/>
                </a:cubicBezTo>
                <a:cubicBezTo>
                  <a:pt x="61406" y="9525"/>
                  <a:pt x="57150" y="13781"/>
                  <a:pt x="57150" y="19050"/>
                </a:cubicBezTo>
                <a:lnTo>
                  <a:pt x="5715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57150" y="85725"/>
                </a:lnTo>
                <a:lnTo>
                  <a:pt x="57150" y="133350"/>
                </a:lnTo>
                <a:cubicBezTo>
                  <a:pt x="57150" y="138619"/>
                  <a:pt x="61406" y="142875"/>
                  <a:pt x="66675" y="142875"/>
                </a:cubicBezTo>
                <a:cubicBezTo>
                  <a:pt x="71944" y="142875"/>
                  <a:pt x="76200" y="138619"/>
                  <a:pt x="76200" y="133350"/>
                </a:cubicBezTo>
                <a:lnTo>
                  <a:pt x="76200" y="85725"/>
                </a:lnTo>
                <a:lnTo>
                  <a:pt x="123825" y="85725"/>
                </a:lnTo>
                <a:cubicBezTo>
                  <a:pt x="129094" y="85725"/>
                  <a:pt x="133350" y="81469"/>
                  <a:pt x="133350" y="76200"/>
                </a:cubicBezTo>
                <a:cubicBezTo>
                  <a:pt x="133350" y="70931"/>
                  <a:pt x="129094" y="66675"/>
                  <a:pt x="123825" y="66675"/>
                </a:cubicBezTo>
                <a:lnTo>
                  <a:pt x="76200" y="66675"/>
                </a:lnTo>
                <a:lnTo>
                  <a:pt x="76200" y="1905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0" name="Text 38"/>
          <p:cNvSpPr/>
          <p:nvPr/>
        </p:nvSpPr>
        <p:spPr>
          <a:xfrm>
            <a:off x="6781800" y="5429250"/>
            <a:ext cx="3257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Более точная и объяснимая классификация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505575" y="58102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19050"/>
                </a:moveTo>
                <a:cubicBezTo>
                  <a:pt x="76200" y="13781"/>
                  <a:pt x="71944" y="9525"/>
                  <a:pt x="66675" y="9525"/>
                </a:cubicBezTo>
                <a:cubicBezTo>
                  <a:pt x="61406" y="9525"/>
                  <a:pt x="57150" y="13781"/>
                  <a:pt x="57150" y="19050"/>
                </a:cubicBezTo>
                <a:lnTo>
                  <a:pt x="5715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57150" y="85725"/>
                </a:lnTo>
                <a:lnTo>
                  <a:pt x="57150" y="133350"/>
                </a:lnTo>
                <a:cubicBezTo>
                  <a:pt x="57150" y="138619"/>
                  <a:pt x="61406" y="142875"/>
                  <a:pt x="66675" y="142875"/>
                </a:cubicBezTo>
                <a:cubicBezTo>
                  <a:pt x="71944" y="142875"/>
                  <a:pt x="76200" y="138619"/>
                  <a:pt x="76200" y="133350"/>
                </a:cubicBezTo>
                <a:lnTo>
                  <a:pt x="76200" y="85725"/>
                </a:lnTo>
                <a:lnTo>
                  <a:pt x="123825" y="85725"/>
                </a:lnTo>
                <a:cubicBezTo>
                  <a:pt x="129094" y="85725"/>
                  <a:pt x="133350" y="81469"/>
                  <a:pt x="133350" y="76200"/>
                </a:cubicBezTo>
                <a:cubicBezTo>
                  <a:pt x="133350" y="70931"/>
                  <a:pt x="129094" y="66675"/>
                  <a:pt x="123825" y="66675"/>
                </a:cubicBezTo>
                <a:lnTo>
                  <a:pt x="76200" y="66675"/>
                </a:lnTo>
                <a:lnTo>
                  <a:pt x="76200" y="1905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2" name="Text 40"/>
          <p:cNvSpPr/>
          <p:nvPr/>
        </p:nvSpPr>
        <p:spPr>
          <a:xfrm>
            <a:off x="6781800" y="577215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Каждая метка подтверждена evidence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26256" y="5143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419100"/>
            <a:ext cx="3095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Источники данных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525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Многоуровневая система сбора информации об offensive-security инструментах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414463"/>
            <a:ext cx="5610225" cy="2219325"/>
          </a:xfrm>
          <a:custGeom>
            <a:avLst/>
            <a:gdLst/>
            <a:ahLst/>
            <a:cxnLst/>
            <a:rect l="l" t="t" r="r" b="b"/>
            <a:pathLst>
              <a:path w="5610225" h="2219325">
                <a:moveTo>
                  <a:pt x="76189" y="0"/>
                </a:moveTo>
                <a:lnTo>
                  <a:pt x="5534036" y="0"/>
                </a:lnTo>
                <a:cubicBezTo>
                  <a:pt x="5576086" y="0"/>
                  <a:pt x="5610225" y="34139"/>
                  <a:pt x="5610225" y="76189"/>
                </a:cubicBezTo>
                <a:lnTo>
                  <a:pt x="5610225" y="2143136"/>
                </a:lnTo>
                <a:cubicBezTo>
                  <a:pt x="5610225" y="2185214"/>
                  <a:pt x="5576114" y="2219325"/>
                  <a:pt x="5534036" y="2219325"/>
                </a:cubicBezTo>
                <a:lnTo>
                  <a:pt x="76189" y="2219325"/>
                </a:lnTo>
                <a:cubicBezTo>
                  <a:pt x="34139" y="2219325"/>
                  <a:pt x="0" y="2185186"/>
                  <a:pt x="0" y="2143136"/>
                </a:cubicBezTo>
                <a:lnTo>
                  <a:pt x="0" y="76189"/>
                </a:lnTo>
                <a:cubicBezTo>
                  <a:pt x="0" y="34111"/>
                  <a:pt x="34111" y="0"/>
                  <a:pt x="76189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025" y="16097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3425" y="17621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7644" y="177433"/>
                </a:moveTo>
                <a:cubicBezTo>
                  <a:pt x="77644" y="178326"/>
                  <a:pt x="76617" y="179040"/>
                  <a:pt x="75322" y="179040"/>
                </a:cubicBezTo>
                <a:cubicBezTo>
                  <a:pt x="73849" y="179174"/>
                  <a:pt x="72822" y="178460"/>
                  <a:pt x="72822" y="177433"/>
                </a:cubicBezTo>
                <a:cubicBezTo>
                  <a:pt x="72822" y="176540"/>
                  <a:pt x="73849" y="175826"/>
                  <a:pt x="75143" y="175826"/>
                </a:cubicBezTo>
                <a:cubicBezTo>
                  <a:pt x="76483" y="175692"/>
                  <a:pt x="77644" y="176406"/>
                  <a:pt x="77644" y="177433"/>
                </a:cubicBezTo>
                <a:close/>
                <a:moveTo>
                  <a:pt x="63758" y="175424"/>
                </a:moveTo>
                <a:cubicBezTo>
                  <a:pt x="63445" y="176317"/>
                  <a:pt x="64338" y="177344"/>
                  <a:pt x="65678" y="177611"/>
                </a:cubicBezTo>
                <a:cubicBezTo>
                  <a:pt x="66839" y="178058"/>
                  <a:pt x="68178" y="177611"/>
                  <a:pt x="68446" y="176719"/>
                </a:cubicBezTo>
                <a:cubicBezTo>
                  <a:pt x="68714" y="175826"/>
                  <a:pt x="67866" y="174799"/>
                  <a:pt x="66526" y="174397"/>
                </a:cubicBezTo>
                <a:cubicBezTo>
                  <a:pt x="65365" y="174084"/>
                  <a:pt x="64071" y="174531"/>
                  <a:pt x="63758" y="175424"/>
                </a:cubicBezTo>
                <a:close/>
                <a:moveTo>
                  <a:pt x="83493" y="174665"/>
                </a:moveTo>
                <a:cubicBezTo>
                  <a:pt x="82198" y="174977"/>
                  <a:pt x="81305" y="175826"/>
                  <a:pt x="81439" y="176852"/>
                </a:cubicBezTo>
                <a:cubicBezTo>
                  <a:pt x="81573" y="177745"/>
                  <a:pt x="82734" y="178326"/>
                  <a:pt x="84073" y="178013"/>
                </a:cubicBezTo>
                <a:cubicBezTo>
                  <a:pt x="85368" y="177701"/>
                  <a:pt x="86261" y="176852"/>
                  <a:pt x="86127" y="175959"/>
                </a:cubicBezTo>
                <a:cubicBezTo>
                  <a:pt x="85993" y="175111"/>
                  <a:pt x="84787" y="174531"/>
                  <a:pt x="83493" y="174665"/>
                </a:cubicBezTo>
                <a:close/>
                <a:moveTo>
                  <a:pt x="112871" y="3572"/>
                </a:moveTo>
                <a:cubicBezTo>
                  <a:pt x="50944" y="3572"/>
                  <a:pt x="3572" y="50587"/>
                  <a:pt x="3572" y="112514"/>
                </a:cubicBezTo>
                <a:cubicBezTo>
                  <a:pt x="3572" y="162029"/>
                  <a:pt x="34736" y="204401"/>
                  <a:pt x="79251" y="219313"/>
                </a:cubicBezTo>
                <a:cubicBezTo>
                  <a:pt x="84966" y="220340"/>
                  <a:pt x="86975" y="216813"/>
                  <a:pt x="86975" y="213911"/>
                </a:cubicBezTo>
                <a:cubicBezTo>
                  <a:pt x="86975" y="211142"/>
                  <a:pt x="86841" y="195873"/>
                  <a:pt x="86841" y="186497"/>
                </a:cubicBezTo>
                <a:cubicBezTo>
                  <a:pt x="86841" y="186497"/>
                  <a:pt x="55587" y="193194"/>
                  <a:pt x="49024" y="173191"/>
                </a:cubicBezTo>
                <a:cubicBezTo>
                  <a:pt x="49024" y="173191"/>
                  <a:pt x="43934" y="160199"/>
                  <a:pt x="36612" y="156850"/>
                </a:cubicBezTo>
                <a:cubicBezTo>
                  <a:pt x="36612" y="156850"/>
                  <a:pt x="26387" y="149840"/>
                  <a:pt x="37326" y="149974"/>
                </a:cubicBezTo>
                <a:cubicBezTo>
                  <a:pt x="37326" y="149974"/>
                  <a:pt x="48444" y="150867"/>
                  <a:pt x="54560" y="161493"/>
                </a:cubicBezTo>
                <a:cubicBezTo>
                  <a:pt x="64338" y="178728"/>
                  <a:pt x="80724" y="173772"/>
                  <a:pt x="87109" y="170825"/>
                </a:cubicBezTo>
                <a:cubicBezTo>
                  <a:pt x="88136" y="163681"/>
                  <a:pt x="91038" y="158725"/>
                  <a:pt x="94253" y="155778"/>
                </a:cubicBezTo>
                <a:cubicBezTo>
                  <a:pt x="69294" y="153010"/>
                  <a:pt x="44113" y="149394"/>
                  <a:pt x="44113" y="106442"/>
                </a:cubicBezTo>
                <a:cubicBezTo>
                  <a:pt x="44113" y="94164"/>
                  <a:pt x="47506" y="88002"/>
                  <a:pt x="54650" y="80144"/>
                </a:cubicBezTo>
                <a:cubicBezTo>
                  <a:pt x="53489" y="77242"/>
                  <a:pt x="49694" y="65276"/>
                  <a:pt x="55811" y="49828"/>
                </a:cubicBezTo>
                <a:cubicBezTo>
                  <a:pt x="65142" y="46926"/>
                  <a:pt x="86618" y="61883"/>
                  <a:pt x="86618" y="61883"/>
                </a:cubicBezTo>
                <a:cubicBezTo>
                  <a:pt x="95548" y="59382"/>
                  <a:pt x="105147" y="58088"/>
                  <a:pt x="114657" y="58088"/>
                </a:cubicBezTo>
                <a:cubicBezTo>
                  <a:pt x="124167" y="58088"/>
                  <a:pt x="133767" y="59382"/>
                  <a:pt x="142696" y="61883"/>
                </a:cubicBezTo>
                <a:cubicBezTo>
                  <a:pt x="142696" y="61883"/>
                  <a:pt x="164172" y="46881"/>
                  <a:pt x="173504" y="49828"/>
                </a:cubicBezTo>
                <a:cubicBezTo>
                  <a:pt x="179621" y="65321"/>
                  <a:pt x="175826" y="77242"/>
                  <a:pt x="174665" y="80144"/>
                </a:cubicBezTo>
                <a:cubicBezTo>
                  <a:pt x="181808" y="88047"/>
                  <a:pt x="186184" y="94208"/>
                  <a:pt x="186184" y="106442"/>
                </a:cubicBezTo>
                <a:cubicBezTo>
                  <a:pt x="186184" y="149528"/>
                  <a:pt x="159886" y="152966"/>
                  <a:pt x="134928" y="155778"/>
                </a:cubicBezTo>
                <a:cubicBezTo>
                  <a:pt x="139035" y="159306"/>
                  <a:pt x="142518" y="166003"/>
                  <a:pt x="142518" y="176495"/>
                </a:cubicBezTo>
                <a:cubicBezTo>
                  <a:pt x="142518" y="191542"/>
                  <a:pt x="142384" y="210160"/>
                  <a:pt x="142384" y="213821"/>
                </a:cubicBezTo>
                <a:cubicBezTo>
                  <a:pt x="142384" y="216724"/>
                  <a:pt x="144438" y="220251"/>
                  <a:pt x="150108" y="219224"/>
                </a:cubicBezTo>
                <a:cubicBezTo>
                  <a:pt x="194756" y="204401"/>
                  <a:pt x="225028" y="162029"/>
                  <a:pt x="225028" y="112514"/>
                </a:cubicBezTo>
                <a:cubicBezTo>
                  <a:pt x="225028" y="50587"/>
                  <a:pt x="174799" y="3572"/>
                  <a:pt x="112871" y="3572"/>
                </a:cubicBezTo>
                <a:close/>
                <a:moveTo>
                  <a:pt x="46970" y="157564"/>
                </a:moveTo>
                <a:cubicBezTo>
                  <a:pt x="46390" y="158011"/>
                  <a:pt x="46524" y="159038"/>
                  <a:pt x="47283" y="159886"/>
                </a:cubicBezTo>
                <a:cubicBezTo>
                  <a:pt x="47997" y="160600"/>
                  <a:pt x="49024" y="160913"/>
                  <a:pt x="49604" y="160333"/>
                </a:cubicBezTo>
                <a:cubicBezTo>
                  <a:pt x="50185" y="159886"/>
                  <a:pt x="50051" y="158859"/>
                  <a:pt x="49292" y="158011"/>
                </a:cubicBezTo>
                <a:cubicBezTo>
                  <a:pt x="48578" y="157296"/>
                  <a:pt x="47551" y="156984"/>
                  <a:pt x="46970" y="157564"/>
                </a:cubicBezTo>
                <a:close/>
                <a:moveTo>
                  <a:pt x="42148" y="153948"/>
                </a:moveTo>
                <a:cubicBezTo>
                  <a:pt x="41836" y="154528"/>
                  <a:pt x="42282" y="155243"/>
                  <a:pt x="43175" y="155689"/>
                </a:cubicBezTo>
                <a:cubicBezTo>
                  <a:pt x="43889" y="156136"/>
                  <a:pt x="44782" y="156002"/>
                  <a:pt x="45095" y="155377"/>
                </a:cubicBezTo>
                <a:cubicBezTo>
                  <a:pt x="45407" y="154796"/>
                  <a:pt x="44961" y="154082"/>
                  <a:pt x="44068" y="153635"/>
                </a:cubicBezTo>
                <a:cubicBezTo>
                  <a:pt x="43175" y="153367"/>
                  <a:pt x="42461" y="153501"/>
                  <a:pt x="42148" y="153948"/>
                </a:cubicBezTo>
                <a:close/>
                <a:moveTo>
                  <a:pt x="56614" y="169843"/>
                </a:moveTo>
                <a:cubicBezTo>
                  <a:pt x="55900" y="170423"/>
                  <a:pt x="56168" y="171763"/>
                  <a:pt x="57195" y="172611"/>
                </a:cubicBezTo>
                <a:cubicBezTo>
                  <a:pt x="58222" y="173638"/>
                  <a:pt x="59516" y="173772"/>
                  <a:pt x="60097" y="173057"/>
                </a:cubicBezTo>
                <a:cubicBezTo>
                  <a:pt x="60677" y="172477"/>
                  <a:pt x="60409" y="171137"/>
                  <a:pt x="59516" y="170289"/>
                </a:cubicBezTo>
                <a:cubicBezTo>
                  <a:pt x="58534" y="169262"/>
                  <a:pt x="57195" y="169128"/>
                  <a:pt x="56614" y="169843"/>
                </a:cubicBezTo>
                <a:close/>
                <a:moveTo>
                  <a:pt x="51524" y="163279"/>
                </a:moveTo>
                <a:cubicBezTo>
                  <a:pt x="50810" y="163726"/>
                  <a:pt x="50810" y="164887"/>
                  <a:pt x="51524" y="165914"/>
                </a:cubicBezTo>
                <a:cubicBezTo>
                  <a:pt x="52239" y="166941"/>
                  <a:pt x="53444" y="167387"/>
                  <a:pt x="54025" y="166941"/>
                </a:cubicBezTo>
                <a:cubicBezTo>
                  <a:pt x="54739" y="166360"/>
                  <a:pt x="54739" y="165199"/>
                  <a:pt x="54025" y="164172"/>
                </a:cubicBezTo>
                <a:cubicBezTo>
                  <a:pt x="53400" y="163145"/>
                  <a:pt x="52239" y="162699"/>
                  <a:pt x="51524" y="163279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9" name="Text 7"/>
          <p:cNvSpPr/>
          <p:nvPr/>
        </p:nvSpPr>
        <p:spPr>
          <a:xfrm>
            <a:off x="1266825" y="1628775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GitHub API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66825" y="1928813"/>
            <a:ext cx="1319436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Основной источник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8409" y="23431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2" name="Text 10"/>
          <p:cNvSpPr/>
          <p:nvPr/>
        </p:nvSpPr>
        <p:spPr>
          <a:xfrm>
            <a:off x="862013" y="2295525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Репозитории и метаданные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8409" y="26479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4" name="Text 12"/>
          <p:cNvSpPr/>
          <p:nvPr/>
        </p:nvSpPr>
        <p:spPr>
          <a:xfrm>
            <a:off x="862013" y="2600325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README и описания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8409" y="29527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6" name="Text 14"/>
          <p:cNvSpPr/>
          <p:nvPr/>
        </p:nvSpPr>
        <p:spPr>
          <a:xfrm>
            <a:off x="862013" y="2905125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Topics и теги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8409" y="32575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8" name="Text 16"/>
          <p:cNvSpPr/>
          <p:nvPr/>
        </p:nvSpPr>
        <p:spPr>
          <a:xfrm>
            <a:off x="862013" y="3209925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Release notes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5763" y="3795713"/>
            <a:ext cx="5610225" cy="1914525"/>
          </a:xfrm>
          <a:custGeom>
            <a:avLst/>
            <a:gdLst/>
            <a:ahLst/>
            <a:cxnLst/>
            <a:rect l="l" t="t" r="r" b="b"/>
            <a:pathLst>
              <a:path w="5610225" h="1914525">
                <a:moveTo>
                  <a:pt x="76198" y="0"/>
                </a:moveTo>
                <a:lnTo>
                  <a:pt x="5534027" y="0"/>
                </a:lnTo>
                <a:cubicBezTo>
                  <a:pt x="5576110" y="0"/>
                  <a:pt x="5610225" y="34115"/>
                  <a:pt x="5610225" y="76198"/>
                </a:cubicBezTo>
                <a:lnTo>
                  <a:pt x="5610225" y="1838327"/>
                </a:lnTo>
                <a:cubicBezTo>
                  <a:pt x="5610225" y="1880410"/>
                  <a:pt x="5576110" y="1914525"/>
                  <a:pt x="5534027" y="1914525"/>
                </a:cubicBezTo>
                <a:lnTo>
                  <a:pt x="76198" y="1914525"/>
                </a:lnTo>
                <a:cubicBezTo>
                  <a:pt x="34115" y="1914525"/>
                  <a:pt x="0" y="1880410"/>
                  <a:pt x="0" y="18383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1025" y="39909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47713" y="41433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28575"/>
                </a:moveTo>
                <a:cubicBezTo>
                  <a:pt x="0" y="20672"/>
                  <a:pt x="6385" y="14288"/>
                  <a:pt x="14288" y="14288"/>
                </a:cubicBezTo>
                <a:cubicBezTo>
                  <a:pt x="116890" y="14288"/>
                  <a:pt x="200025" y="97423"/>
                  <a:pt x="200025" y="200025"/>
                </a:cubicBezTo>
                <a:cubicBezTo>
                  <a:pt x="200025" y="207928"/>
                  <a:pt x="193640" y="214313"/>
                  <a:pt x="185738" y="214313"/>
                </a:cubicBezTo>
                <a:cubicBezTo>
                  <a:pt x="177835" y="214313"/>
                  <a:pt x="171450" y="207928"/>
                  <a:pt x="171450" y="200025"/>
                </a:cubicBezTo>
                <a:cubicBezTo>
                  <a:pt x="171450" y="113228"/>
                  <a:pt x="101084" y="42863"/>
                  <a:pt x="14288" y="42863"/>
                </a:cubicBezTo>
                <a:cubicBezTo>
                  <a:pt x="6385" y="42863"/>
                  <a:pt x="0" y="36478"/>
                  <a:pt x="0" y="28575"/>
                </a:cubicBezTo>
                <a:close/>
                <a:moveTo>
                  <a:pt x="0" y="185738"/>
                </a:moveTo>
                <a:cubicBezTo>
                  <a:pt x="0" y="169967"/>
                  <a:pt x="12804" y="157163"/>
                  <a:pt x="28575" y="157163"/>
                </a:cubicBezTo>
                <a:cubicBezTo>
                  <a:pt x="44346" y="157163"/>
                  <a:pt x="57150" y="169967"/>
                  <a:pt x="57150" y="185738"/>
                </a:cubicBezTo>
                <a:cubicBezTo>
                  <a:pt x="57150" y="201508"/>
                  <a:pt x="44346" y="214313"/>
                  <a:pt x="28575" y="214313"/>
                </a:cubicBezTo>
                <a:cubicBezTo>
                  <a:pt x="12804" y="214313"/>
                  <a:pt x="0" y="201508"/>
                  <a:pt x="0" y="185738"/>
                </a:cubicBezTo>
                <a:close/>
                <a:moveTo>
                  <a:pt x="14288" y="71438"/>
                </a:moveTo>
                <a:cubicBezTo>
                  <a:pt x="85323" y="71438"/>
                  <a:pt x="142875" y="128989"/>
                  <a:pt x="142875" y="200025"/>
                </a:cubicBezTo>
                <a:cubicBezTo>
                  <a:pt x="142875" y="207928"/>
                  <a:pt x="136490" y="214313"/>
                  <a:pt x="128588" y="214313"/>
                </a:cubicBezTo>
                <a:cubicBezTo>
                  <a:pt x="120685" y="214313"/>
                  <a:pt x="114300" y="207928"/>
                  <a:pt x="114300" y="200025"/>
                </a:cubicBezTo>
                <a:cubicBezTo>
                  <a:pt x="114300" y="144795"/>
                  <a:pt x="69518" y="100013"/>
                  <a:pt x="14288" y="100013"/>
                </a:cubicBezTo>
                <a:cubicBezTo>
                  <a:pt x="6385" y="100013"/>
                  <a:pt x="0" y="93628"/>
                  <a:pt x="0" y="85725"/>
                </a:cubicBezTo>
                <a:cubicBezTo>
                  <a:pt x="0" y="77822"/>
                  <a:pt x="6385" y="71438"/>
                  <a:pt x="14288" y="71438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2" name="Text 20"/>
          <p:cNvSpPr/>
          <p:nvPr/>
        </p:nvSpPr>
        <p:spPr>
          <a:xfrm>
            <a:off x="1266825" y="4010025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RSS-каналы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66825" y="4310063"/>
            <a:ext cx="1398091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Вторичный источник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8409" y="4724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5" name="Text 23"/>
          <p:cNvSpPr/>
          <p:nvPr/>
        </p:nvSpPr>
        <p:spPr>
          <a:xfrm>
            <a:off x="862013" y="4676775"/>
            <a:ext cx="216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Специализированные ленты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08409" y="50292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7" name="Text 25"/>
          <p:cNvSpPr/>
          <p:nvPr/>
        </p:nvSpPr>
        <p:spPr>
          <a:xfrm>
            <a:off x="862013" y="4981575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Анонсы новых инструментов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08409" y="53340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9" name="Text 27"/>
          <p:cNvSpPr/>
          <p:nvPr/>
        </p:nvSpPr>
        <p:spPr>
          <a:xfrm>
            <a:off x="862013" y="5286375"/>
            <a:ext cx="1685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Обновления и релизы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6013" y="1414463"/>
            <a:ext cx="5610225" cy="1609725"/>
          </a:xfrm>
          <a:custGeom>
            <a:avLst/>
            <a:gdLst/>
            <a:ahLst/>
            <a:cxnLst/>
            <a:rect l="l" t="t" r="r" b="b"/>
            <a:pathLst>
              <a:path w="5610225" h="1609725">
                <a:moveTo>
                  <a:pt x="76204" y="0"/>
                </a:moveTo>
                <a:lnTo>
                  <a:pt x="5534021" y="0"/>
                </a:lnTo>
                <a:cubicBezTo>
                  <a:pt x="5576107" y="0"/>
                  <a:pt x="5610225" y="34118"/>
                  <a:pt x="5610225" y="76204"/>
                </a:cubicBezTo>
                <a:lnTo>
                  <a:pt x="5610225" y="1533521"/>
                </a:lnTo>
                <a:cubicBezTo>
                  <a:pt x="5610225" y="1575607"/>
                  <a:pt x="5576107" y="1609725"/>
                  <a:pt x="5534021" y="1609725"/>
                </a:cubicBezTo>
                <a:lnTo>
                  <a:pt x="76204" y="1609725"/>
                </a:lnTo>
                <a:cubicBezTo>
                  <a:pt x="34118" y="1609725"/>
                  <a:pt x="0" y="1575607"/>
                  <a:pt x="0" y="15335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2C3036">
              <a:alpha val="37647"/>
            </a:srgbClr>
          </a:solidFill>
          <a:ln w="12700">
            <a:solidFill>
              <a:srgbClr val="8D939C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91275" y="16097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D939C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543675" y="17621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8D939C"/>
          </a:solidFill>
          <a:ln/>
        </p:spPr>
      </p:sp>
      <p:sp>
        <p:nvSpPr>
          <p:cNvPr id="33" name="Text 31"/>
          <p:cNvSpPr/>
          <p:nvPr/>
        </p:nvSpPr>
        <p:spPr>
          <a:xfrm>
            <a:off x="7077075" y="1628775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Packet Storm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77075" y="1928813"/>
            <a:ext cx="158621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Расширенный источник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10325" y="23431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8D939C"/>
          </a:solidFill>
          <a:ln/>
        </p:spPr>
      </p:sp>
      <p:sp>
        <p:nvSpPr>
          <p:cNvPr id="36" name="Text 34"/>
          <p:cNvSpPr/>
          <p:nvPr/>
        </p:nvSpPr>
        <p:spPr>
          <a:xfrm>
            <a:off x="6672263" y="2295525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Каталоги эксплойтов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10325" y="26479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8D939C"/>
          </a:solidFill>
          <a:ln/>
        </p:spPr>
      </p:sp>
      <p:sp>
        <p:nvSpPr>
          <p:cNvPr id="38" name="Text 36"/>
          <p:cNvSpPr/>
          <p:nvPr/>
        </p:nvSpPr>
        <p:spPr>
          <a:xfrm>
            <a:off x="6672263" y="2600325"/>
            <a:ext cx="2333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Специализированные ресурсы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96013" y="3186113"/>
            <a:ext cx="5610225" cy="1609725"/>
          </a:xfrm>
          <a:custGeom>
            <a:avLst/>
            <a:gdLst/>
            <a:ahLst/>
            <a:cxnLst/>
            <a:rect l="l" t="t" r="r" b="b"/>
            <a:pathLst>
              <a:path w="5610225" h="1609725">
                <a:moveTo>
                  <a:pt x="76204" y="0"/>
                </a:moveTo>
                <a:lnTo>
                  <a:pt x="5534021" y="0"/>
                </a:lnTo>
                <a:cubicBezTo>
                  <a:pt x="5576107" y="0"/>
                  <a:pt x="5610225" y="34118"/>
                  <a:pt x="5610225" y="76204"/>
                </a:cubicBezTo>
                <a:lnTo>
                  <a:pt x="5610225" y="1533521"/>
                </a:lnTo>
                <a:cubicBezTo>
                  <a:pt x="5610225" y="1575607"/>
                  <a:pt x="5576107" y="1609725"/>
                  <a:pt x="5534021" y="1609725"/>
                </a:cubicBezTo>
                <a:lnTo>
                  <a:pt x="76204" y="1609725"/>
                </a:lnTo>
                <a:cubicBezTo>
                  <a:pt x="34118" y="1609725"/>
                  <a:pt x="0" y="1575607"/>
                  <a:pt x="0" y="15335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2C3036">
              <a:alpha val="37647"/>
            </a:srgbClr>
          </a:solidFill>
          <a:ln w="12700">
            <a:solidFill>
              <a:srgbClr val="8D939C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91275" y="33813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D939C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57963" y="35337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71450" y="228600"/>
                </a:moveTo>
                <a:lnTo>
                  <a:pt x="42863" y="228600"/>
                </a:lnTo>
                <a:cubicBezTo>
                  <a:pt x="19199" y="228600"/>
                  <a:pt x="0" y="209401"/>
                  <a:pt x="0" y="185738"/>
                </a:cubicBezTo>
                <a:lnTo>
                  <a:pt x="0" y="42863"/>
                </a:lnTo>
                <a:cubicBezTo>
                  <a:pt x="0" y="19199"/>
                  <a:pt x="19199" y="0"/>
                  <a:pt x="42863" y="0"/>
                </a:cubicBezTo>
                <a:lnTo>
                  <a:pt x="178594" y="0"/>
                </a:lnTo>
                <a:cubicBezTo>
                  <a:pt x="190426" y="0"/>
                  <a:pt x="200025" y="9599"/>
                  <a:pt x="200025" y="21431"/>
                </a:cubicBezTo>
                <a:lnTo>
                  <a:pt x="200025" y="150019"/>
                </a:lnTo>
                <a:cubicBezTo>
                  <a:pt x="200025" y="159350"/>
                  <a:pt x="194042" y="167298"/>
                  <a:pt x="185738" y="170244"/>
                </a:cubicBezTo>
                <a:lnTo>
                  <a:pt x="185738" y="200025"/>
                </a:lnTo>
                <a:cubicBezTo>
                  <a:pt x="193640" y="200025"/>
                  <a:pt x="200025" y="206410"/>
                  <a:pt x="200025" y="214313"/>
                </a:cubicBezTo>
                <a:cubicBezTo>
                  <a:pt x="200025" y="222215"/>
                  <a:pt x="193640" y="228600"/>
                  <a:pt x="185738" y="228600"/>
                </a:cubicBezTo>
                <a:lnTo>
                  <a:pt x="171450" y="228600"/>
                </a:lnTo>
                <a:close/>
                <a:moveTo>
                  <a:pt x="42863" y="171450"/>
                </a:moveTo>
                <a:cubicBezTo>
                  <a:pt x="34960" y="171450"/>
                  <a:pt x="28575" y="177835"/>
                  <a:pt x="28575" y="185738"/>
                </a:cubicBezTo>
                <a:cubicBezTo>
                  <a:pt x="28575" y="193640"/>
                  <a:pt x="34960" y="200025"/>
                  <a:pt x="42863" y="200025"/>
                </a:cubicBezTo>
                <a:lnTo>
                  <a:pt x="157163" y="200025"/>
                </a:lnTo>
                <a:lnTo>
                  <a:pt x="157163" y="171450"/>
                </a:lnTo>
                <a:lnTo>
                  <a:pt x="42863" y="171450"/>
                </a:lnTo>
                <a:close/>
                <a:moveTo>
                  <a:pt x="57150" y="67866"/>
                </a:moveTo>
                <a:cubicBezTo>
                  <a:pt x="57150" y="73804"/>
                  <a:pt x="61927" y="78581"/>
                  <a:pt x="67866" y="78581"/>
                </a:cubicBezTo>
                <a:lnTo>
                  <a:pt x="146447" y="78581"/>
                </a:lnTo>
                <a:cubicBezTo>
                  <a:pt x="152385" y="78581"/>
                  <a:pt x="157163" y="73804"/>
                  <a:pt x="157163" y="67866"/>
                </a:cubicBezTo>
                <a:cubicBezTo>
                  <a:pt x="157163" y="61927"/>
                  <a:pt x="152385" y="57150"/>
                  <a:pt x="146447" y="57150"/>
                </a:cubicBezTo>
                <a:lnTo>
                  <a:pt x="67866" y="57150"/>
                </a:lnTo>
                <a:cubicBezTo>
                  <a:pt x="61927" y="57150"/>
                  <a:pt x="57150" y="61927"/>
                  <a:pt x="57150" y="67866"/>
                </a:cubicBezTo>
                <a:close/>
                <a:moveTo>
                  <a:pt x="67866" y="100013"/>
                </a:moveTo>
                <a:cubicBezTo>
                  <a:pt x="61927" y="100013"/>
                  <a:pt x="57150" y="104790"/>
                  <a:pt x="57150" y="110728"/>
                </a:cubicBezTo>
                <a:cubicBezTo>
                  <a:pt x="57150" y="116666"/>
                  <a:pt x="61927" y="121444"/>
                  <a:pt x="67866" y="121444"/>
                </a:cubicBezTo>
                <a:lnTo>
                  <a:pt x="146447" y="121444"/>
                </a:lnTo>
                <a:cubicBezTo>
                  <a:pt x="152385" y="121444"/>
                  <a:pt x="157163" y="116666"/>
                  <a:pt x="157163" y="110728"/>
                </a:cubicBezTo>
                <a:cubicBezTo>
                  <a:pt x="157163" y="104790"/>
                  <a:pt x="152385" y="100013"/>
                  <a:pt x="146447" y="100013"/>
                </a:cubicBezTo>
                <a:lnTo>
                  <a:pt x="67866" y="100013"/>
                </a:lnTo>
                <a:close/>
              </a:path>
            </a:pathLst>
          </a:custGeom>
          <a:solidFill>
            <a:srgbClr val="8D939C"/>
          </a:solidFill>
          <a:ln/>
        </p:spPr>
      </p:sp>
      <p:sp>
        <p:nvSpPr>
          <p:cNvPr id="42" name="Text 40"/>
          <p:cNvSpPr/>
          <p:nvPr/>
        </p:nvSpPr>
        <p:spPr>
          <a:xfrm>
            <a:off x="7077075" y="3400425"/>
            <a:ext cx="2676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Официальная документация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077075" y="3700463"/>
            <a:ext cx="178690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Дополнительный источник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10325" y="41148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8D939C"/>
          </a:solidFill>
          <a:ln/>
        </p:spPr>
      </p:sp>
      <p:sp>
        <p:nvSpPr>
          <p:cNvPr id="45" name="Text 43"/>
          <p:cNvSpPr/>
          <p:nvPr/>
        </p:nvSpPr>
        <p:spPr>
          <a:xfrm>
            <a:off x="6672263" y="4067175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Сайты инструментов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10325" y="44196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8D939C"/>
          </a:solidFill>
          <a:ln/>
        </p:spPr>
      </p:sp>
      <p:sp>
        <p:nvSpPr>
          <p:cNvPr id="47" name="Text 45"/>
          <p:cNvSpPr/>
          <p:nvPr/>
        </p:nvSpPr>
        <p:spPr>
          <a:xfrm>
            <a:off x="6672263" y="4371975"/>
            <a:ext cx="118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Wiki и мануалы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96013" y="4957763"/>
            <a:ext cx="5610225" cy="733425"/>
          </a:xfrm>
          <a:custGeom>
            <a:avLst/>
            <a:gdLst/>
            <a:ahLst/>
            <a:cxnLst/>
            <a:rect l="l" t="t" r="r" b="b"/>
            <a:pathLst>
              <a:path w="5610225" h="733425">
                <a:moveTo>
                  <a:pt x="76203" y="0"/>
                </a:moveTo>
                <a:lnTo>
                  <a:pt x="5534022" y="0"/>
                </a:lnTo>
                <a:cubicBezTo>
                  <a:pt x="5576080" y="0"/>
                  <a:pt x="5610225" y="34145"/>
                  <a:pt x="5610225" y="76203"/>
                </a:cubicBezTo>
                <a:lnTo>
                  <a:pt x="5610225" y="657222"/>
                </a:lnTo>
                <a:cubicBezTo>
                  <a:pt x="5610225" y="699280"/>
                  <a:pt x="5576080" y="733425"/>
                  <a:pt x="5534022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76988" y="52292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50" name="Text 48"/>
          <p:cNvSpPr/>
          <p:nvPr/>
        </p:nvSpPr>
        <p:spPr>
          <a:xfrm>
            <a:off x="6705600" y="5114925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MVP-источники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05600" y="5343525"/>
            <a:ext cx="309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GitHub + RSS для демонстрации полного цикла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2625" y="352625"/>
            <a:ext cx="423150" cy="423150"/>
          </a:xfrm>
          <a:custGeom>
            <a:avLst/>
            <a:gdLst/>
            <a:ahLst/>
            <a:cxnLst/>
            <a:rect l="l" t="t" r="r" b="b"/>
            <a:pathLst>
              <a:path w="423150" h="423150">
                <a:moveTo>
                  <a:pt x="70526" y="0"/>
                </a:moveTo>
                <a:lnTo>
                  <a:pt x="352623" y="0"/>
                </a:lnTo>
                <a:cubicBezTo>
                  <a:pt x="391548" y="0"/>
                  <a:pt x="423150" y="31602"/>
                  <a:pt x="423150" y="70526"/>
                </a:cubicBezTo>
                <a:lnTo>
                  <a:pt x="423150" y="352623"/>
                </a:lnTo>
                <a:cubicBezTo>
                  <a:pt x="423150" y="391574"/>
                  <a:pt x="391574" y="423150"/>
                  <a:pt x="352623" y="423150"/>
                </a:cubicBezTo>
                <a:lnTo>
                  <a:pt x="70526" y="423150"/>
                </a:lnTo>
                <a:cubicBezTo>
                  <a:pt x="31602" y="423150"/>
                  <a:pt x="0" y="391548"/>
                  <a:pt x="0" y="352623"/>
                </a:cubicBezTo>
                <a:lnTo>
                  <a:pt x="0" y="70526"/>
                </a:lnTo>
                <a:cubicBezTo>
                  <a:pt x="0" y="31602"/>
                  <a:pt x="31602" y="0"/>
                  <a:pt x="70526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76043" y="476043"/>
            <a:ext cx="176312" cy="176312"/>
          </a:xfrm>
          <a:custGeom>
            <a:avLst/>
            <a:gdLst/>
            <a:ahLst/>
            <a:cxnLst/>
            <a:rect l="l" t="t" r="r" b="b"/>
            <a:pathLst>
              <a:path w="176312" h="176312">
                <a:moveTo>
                  <a:pt x="0" y="27549"/>
                </a:moveTo>
                <a:cubicBezTo>
                  <a:pt x="0" y="18423"/>
                  <a:pt x="7404" y="11020"/>
                  <a:pt x="16529" y="11020"/>
                </a:cubicBezTo>
                <a:lnTo>
                  <a:pt x="49588" y="11020"/>
                </a:lnTo>
                <a:cubicBezTo>
                  <a:pt x="58713" y="11020"/>
                  <a:pt x="66117" y="18423"/>
                  <a:pt x="66117" y="27549"/>
                </a:cubicBezTo>
                <a:lnTo>
                  <a:pt x="66117" y="33059"/>
                </a:lnTo>
                <a:lnTo>
                  <a:pt x="110195" y="33059"/>
                </a:lnTo>
                <a:lnTo>
                  <a:pt x="110195" y="27549"/>
                </a:lnTo>
                <a:cubicBezTo>
                  <a:pt x="110195" y="18423"/>
                  <a:pt x="117599" y="11020"/>
                  <a:pt x="126725" y="11020"/>
                </a:cubicBezTo>
                <a:lnTo>
                  <a:pt x="159783" y="11020"/>
                </a:lnTo>
                <a:cubicBezTo>
                  <a:pt x="168909" y="11020"/>
                  <a:pt x="176312" y="18423"/>
                  <a:pt x="176312" y="27549"/>
                </a:cubicBezTo>
                <a:lnTo>
                  <a:pt x="176312" y="60607"/>
                </a:lnTo>
                <a:cubicBezTo>
                  <a:pt x="176312" y="69733"/>
                  <a:pt x="168909" y="77137"/>
                  <a:pt x="159783" y="77137"/>
                </a:cubicBezTo>
                <a:lnTo>
                  <a:pt x="126725" y="77137"/>
                </a:lnTo>
                <a:cubicBezTo>
                  <a:pt x="117599" y="77137"/>
                  <a:pt x="110195" y="69733"/>
                  <a:pt x="110195" y="60607"/>
                </a:cubicBezTo>
                <a:lnTo>
                  <a:pt x="110195" y="55098"/>
                </a:lnTo>
                <a:lnTo>
                  <a:pt x="66117" y="55098"/>
                </a:lnTo>
                <a:lnTo>
                  <a:pt x="66117" y="60607"/>
                </a:lnTo>
                <a:cubicBezTo>
                  <a:pt x="66117" y="63121"/>
                  <a:pt x="65532" y="65532"/>
                  <a:pt x="64533" y="67667"/>
                </a:cubicBezTo>
                <a:lnTo>
                  <a:pt x="88156" y="99176"/>
                </a:lnTo>
                <a:lnTo>
                  <a:pt x="115705" y="99176"/>
                </a:lnTo>
                <a:cubicBezTo>
                  <a:pt x="124831" y="99176"/>
                  <a:pt x="132234" y="106579"/>
                  <a:pt x="132234" y="115705"/>
                </a:cubicBezTo>
                <a:lnTo>
                  <a:pt x="132234" y="148764"/>
                </a:lnTo>
                <a:cubicBezTo>
                  <a:pt x="132234" y="157889"/>
                  <a:pt x="124831" y="165293"/>
                  <a:pt x="115705" y="165293"/>
                </a:cubicBezTo>
                <a:lnTo>
                  <a:pt x="82646" y="165293"/>
                </a:lnTo>
                <a:cubicBezTo>
                  <a:pt x="73521" y="165293"/>
                  <a:pt x="66117" y="157889"/>
                  <a:pt x="66117" y="148764"/>
                </a:cubicBezTo>
                <a:lnTo>
                  <a:pt x="66117" y="115705"/>
                </a:lnTo>
                <a:cubicBezTo>
                  <a:pt x="66117" y="113191"/>
                  <a:pt x="66703" y="110781"/>
                  <a:pt x="67701" y="108646"/>
                </a:cubicBezTo>
                <a:lnTo>
                  <a:pt x="44078" y="77137"/>
                </a:lnTo>
                <a:lnTo>
                  <a:pt x="16529" y="77137"/>
                </a:lnTo>
                <a:cubicBezTo>
                  <a:pt x="7404" y="77137"/>
                  <a:pt x="0" y="69733"/>
                  <a:pt x="0" y="60607"/>
                </a:cubicBezTo>
                <a:lnTo>
                  <a:pt x="0" y="27549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" name="Text 2"/>
          <p:cNvSpPr/>
          <p:nvPr/>
        </p:nvSpPr>
        <p:spPr>
          <a:xfrm>
            <a:off x="916824" y="387887"/>
            <a:ext cx="4460703" cy="3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Основные сущности системы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2625" y="881562"/>
            <a:ext cx="11566091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Концептуальная модель данных для воспроизводимой архитектуры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0256" y="1304711"/>
            <a:ext cx="3720191" cy="2186273"/>
          </a:xfrm>
          <a:custGeom>
            <a:avLst/>
            <a:gdLst/>
            <a:ahLst/>
            <a:cxnLst/>
            <a:rect l="l" t="t" r="r" b="b"/>
            <a:pathLst>
              <a:path w="3720191" h="2186273">
                <a:moveTo>
                  <a:pt x="0" y="0"/>
                </a:moveTo>
                <a:lnTo>
                  <a:pt x="3649662" y="0"/>
                </a:lnTo>
                <a:cubicBezTo>
                  <a:pt x="3688614" y="0"/>
                  <a:pt x="3720191" y="31577"/>
                  <a:pt x="3720191" y="70529"/>
                </a:cubicBezTo>
                <a:lnTo>
                  <a:pt x="3720191" y="2115744"/>
                </a:lnTo>
                <a:cubicBezTo>
                  <a:pt x="3720191" y="2154696"/>
                  <a:pt x="3688614" y="2186273"/>
                  <a:pt x="3649662" y="2186273"/>
                </a:cubicBezTo>
                <a:lnTo>
                  <a:pt x="0" y="2186273"/>
                </a:lnTo>
                <a:lnTo>
                  <a:pt x="0" y="0"/>
                </a:lnTo>
                <a:close/>
              </a:path>
            </a:pathLst>
          </a:custGeom>
          <a:solidFill>
            <a:srgbClr val="2C3036">
              <a:alpha val="5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70256" y="1304711"/>
            <a:ext cx="35262" cy="2186273"/>
          </a:xfrm>
          <a:custGeom>
            <a:avLst/>
            <a:gdLst/>
            <a:ahLst/>
            <a:cxnLst/>
            <a:rect l="l" t="t" r="r" b="b"/>
            <a:pathLst>
              <a:path w="35262" h="2186273">
                <a:moveTo>
                  <a:pt x="0" y="0"/>
                </a:moveTo>
                <a:lnTo>
                  <a:pt x="35262" y="0"/>
                </a:lnTo>
                <a:lnTo>
                  <a:pt x="35262" y="2186273"/>
                </a:lnTo>
                <a:lnTo>
                  <a:pt x="0" y="2186273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8" name="Shape 6"/>
          <p:cNvSpPr/>
          <p:nvPr/>
        </p:nvSpPr>
        <p:spPr>
          <a:xfrm>
            <a:off x="564200" y="1481024"/>
            <a:ext cx="423150" cy="423150"/>
          </a:xfrm>
          <a:custGeom>
            <a:avLst/>
            <a:gdLst/>
            <a:ahLst/>
            <a:cxnLst/>
            <a:rect l="l" t="t" r="r" b="b"/>
            <a:pathLst>
              <a:path w="423150" h="423150">
                <a:moveTo>
                  <a:pt x="70526" y="0"/>
                </a:moveTo>
                <a:lnTo>
                  <a:pt x="352623" y="0"/>
                </a:lnTo>
                <a:cubicBezTo>
                  <a:pt x="391548" y="0"/>
                  <a:pt x="423150" y="31602"/>
                  <a:pt x="423150" y="70526"/>
                </a:cubicBezTo>
                <a:lnTo>
                  <a:pt x="423150" y="352623"/>
                </a:lnTo>
                <a:cubicBezTo>
                  <a:pt x="423150" y="391574"/>
                  <a:pt x="391574" y="423150"/>
                  <a:pt x="352623" y="423150"/>
                </a:cubicBezTo>
                <a:lnTo>
                  <a:pt x="70526" y="423150"/>
                </a:lnTo>
                <a:cubicBezTo>
                  <a:pt x="31602" y="423150"/>
                  <a:pt x="0" y="391548"/>
                  <a:pt x="0" y="352623"/>
                </a:cubicBezTo>
                <a:lnTo>
                  <a:pt x="0" y="70526"/>
                </a:lnTo>
                <a:cubicBezTo>
                  <a:pt x="0" y="31602"/>
                  <a:pt x="31602" y="0"/>
                  <a:pt x="70526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98638" y="1604443"/>
            <a:ext cx="154273" cy="176312"/>
          </a:xfrm>
          <a:custGeom>
            <a:avLst/>
            <a:gdLst/>
            <a:ahLst/>
            <a:cxnLst/>
            <a:rect l="l" t="t" r="r" b="b"/>
            <a:pathLst>
              <a:path w="154273" h="176312">
                <a:moveTo>
                  <a:pt x="22039" y="11020"/>
                </a:moveTo>
                <a:cubicBezTo>
                  <a:pt x="9883" y="11020"/>
                  <a:pt x="0" y="20903"/>
                  <a:pt x="0" y="33059"/>
                </a:cubicBezTo>
                <a:lnTo>
                  <a:pt x="0" y="55098"/>
                </a:lnTo>
                <a:cubicBezTo>
                  <a:pt x="0" y="67254"/>
                  <a:pt x="9883" y="77137"/>
                  <a:pt x="22039" y="77137"/>
                </a:cubicBezTo>
                <a:lnTo>
                  <a:pt x="132234" y="77137"/>
                </a:lnTo>
                <a:cubicBezTo>
                  <a:pt x="144390" y="77137"/>
                  <a:pt x="154273" y="67254"/>
                  <a:pt x="154273" y="55098"/>
                </a:cubicBezTo>
                <a:lnTo>
                  <a:pt x="154273" y="33059"/>
                </a:lnTo>
                <a:cubicBezTo>
                  <a:pt x="154273" y="20903"/>
                  <a:pt x="144390" y="11020"/>
                  <a:pt x="132234" y="11020"/>
                </a:cubicBezTo>
                <a:lnTo>
                  <a:pt x="22039" y="11020"/>
                </a:lnTo>
                <a:close/>
                <a:moveTo>
                  <a:pt x="96421" y="35813"/>
                </a:moveTo>
                <a:cubicBezTo>
                  <a:pt x="100982" y="35813"/>
                  <a:pt x="104685" y="39517"/>
                  <a:pt x="104685" y="44078"/>
                </a:cubicBezTo>
                <a:cubicBezTo>
                  <a:pt x="104685" y="48639"/>
                  <a:pt x="100982" y="52343"/>
                  <a:pt x="96421" y="52343"/>
                </a:cubicBezTo>
                <a:cubicBezTo>
                  <a:pt x="91859" y="52343"/>
                  <a:pt x="88156" y="48639"/>
                  <a:pt x="88156" y="44078"/>
                </a:cubicBezTo>
                <a:cubicBezTo>
                  <a:pt x="88156" y="39517"/>
                  <a:pt x="91859" y="35813"/>
                  <a:pt x="96421" y="35813"/>
                </a:cubicBezTo>
                <a:close/>
                <a:moveTo>
                  <a:pt x="115705" y="44078"/>
                </a:moveTo>
                <a:cubicBezTo>
                  <a:pt x="115705" y="39517"/>
                  <a:pt x="119408" y="35813"/>
                  <a:pt x="123970" y="35813"/>
                </a:cubicBezTo>
                <a:cubicBezTo>
                  <a:pt x="128531" y="35813"/>
                  <a:pt x="132234" y="39517"/>
                  <a:pt x="132234" y="44078"/>
                </a:cubicBezTo>
                <a:cubicBezTo>
                  <a:pt x="132234" y="48639"/>
                  <a:pt x="128531" y="52343"/>
                  <a:pt x="123970" y="52343"/>
                </a:cubicBezTo>
                <a:cubicBezTo>
                  <a:pt x="119408" y="52343"/>
                  <a:pt x="115705" y="48639"/>
                  <a:pt x="115705" y="44078"/>
                </a:cubicBezTo>
                <a:close/>
                <a:moveTo>
                  <a:pt x="22039" y="99176"/>
                </a:moveTo>
                <a:cubicBezTo>
                  <a:pt x="9883" y="99176"/>
                  <a:pt x="0" y="109059"/>
                  <a:pt x="0" y="121215"/>
                </a:cubicBezTo>
                <a:lnTo>
                  <a:pt x="0" y="143254"/>
                </a:lnTo>
                <a:cubicBezTo>
                  <a:pt x="0" y="155410"/>
                  <a:pt x="9883" y="165293"/>
                  <a:pt x="22039" y="165293"/>
                </a:cubicBezTo>
                <a:lnTo>
                  <a:pt x="132234" y="165293"/>
                </a:lnTo>
                <a:cubicBezTo>
                  <a:pt x="144390" y="165293"/>
                  <a:pt x="154273" y="155410"/>
                  <a:pt x="154273" y="143254"/>
                </a:cubicBezTo>
                <a:lnTo>
                  <a:pt x="154273" y="121215"/>
                </a:lnTo>
                <a:cubicBezTo>
                  <a:pt x="154273" y="109059"/>
                  <a:pt x="144390" y="99176"/>
                  <a:pt x="132234" y="99176"/>
                </a:cubicBezTo>
                <a:lnTo>
                  <a:pt x="22039" y="99176"/>
                </a:lnTo>
                <a:close/>
                <a:moveTo>
                  <a:pt x="96421" y="123970"/>
                </a:moveTo>
                <a:cubicBezTo>
                  <a:pt x="100982" y="123970"/>
                  <a:pt x="104685" y="127673"/>
                  <a:pt x="104685" y="132234"/>
                </a:cubicBezTo>
                <a:cubicBezTo>
                  <a:pt x="104685" y="136796"/>
                  <a:pt x="100982" y="140499"/>
                  <a:pt x="96421" y="140499"/>
                </a:cubicBezTo>
                <a:cubicBezTo>
                  <a:pt x="91859" y="140499"/>
                  <a:pt x="88156" y="136796"/>
                  <a:pt x="88156" y="132234"/>
                </a:cubicBezTo>
                <a:cubicBezTo>
                  <a:pt x="88156" y="127673"/>
                  <a:pt x="91859" y="123970"/>
                  <a:pt x="96421" y="123970"/>
                </a:cubicBezTo>
                <a:close/>
                <a:moveTo>
                  <a:pt x="115705" y="132234"/>
                </a:moveTo>
                <a:cubicBezTo>
                  <a:pt x="115705" y="127673"/>
                  <a:pt x="119408" y="123970"/>
                  <a:pt x="123970" y="123970"/>
                </a:cubicBezTo>
                <a:cubicBezTo>
                  <a:pt x="128531" y="123970"/>
                  <a:pt x="132234" y="127673"/>
                  <a:pt x="132234" y="132234"/>
                </a:cubicBezTo>
                <a:cubicBezTo>
                  <a:pt x="132234" y="136796"/>
                  <a:pt x="128531" y="140499"/>
                  <a:pt x="123970" y="140499"/>
                </a:cubicBezTo>
                <a:cubicBezTo>
                  <a:pt x="119408" y="140499"/>
                  <a:pt x="115705" y="136796"/>
                  <a:pt x="115705" y="132234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0" name="Text 8"/>
          <p:cNvSpPr/>
          <p:nvPr/>
        </p:nvSpPr>
        <p:spPr>
          <a:xfrm>
            <a:off x="1093137" y="1569180"/>
            <a:ext cx="652356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Source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4200" y="2045223"/>
            <a:ext cx="3420460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Источник данных — откуда пришла информация об инструменте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4200" y="2609423"/>
            <a:ext cx="3349935" cy="317362"/>
          </a:xfrm>
          <a:custGeom>
            <a:avLst/>
            <a:gdLst/>
            <a:ahLst/>
            <a:cxnLst/>
            <a:rect l="l" t="t" r="r" b="b"/>
            <a:pathLst>
              <a:path w="3349935" h="317362">
                <a:moveTo>
                  <a:pt x="35262" y="0"/>
                </a:moveTo>
                <a:lnTo>
                  <a:pt x="3314673" y="0"/>
                </a:lnTo>
                <a:cubicBezTo>
                  <a:pt x="3334148" y="0"/>
                  <a:pt x="3349935" y="15787"/>
                  <a:pt x="3349935" y="35262"/>
                </a:cubicBezTo>
                <a:lnTo>
                  <a:pt x="3349935" y="282100"/>
                </a:lnTo>
                <a:cubicBezTo>
                  <a:pt x="3349935" y="301575"/>
                  <a:pt x="3334148" y="317362"/>
                  <a:pt x="3314673" y="317362"/>
                </a:cubicBezTo>
                <a:lnTo>
                  <a:pt x="35262" y="317362"/>
                </a:lnTo>
                <a:cubicBezTo>
                  <a:pt x="15787" y="317362"/>
                  <a:pt x="0" y="301575"/>
                  <a:pt x="0" y="282100"/>
                </a:cubicBezTo>
                <a:lnTo>
                  <a:pt x="0" y="35262"/>
                </a:lnTo>
                <a:cubicBezTo>
                  <a:pt x="0" y="15800"/>
                  <a:pt x="15800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69987" y="2679948"/>
            <a:ext cx="3200069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source_id, name, type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4200" y="2997310"/>
            <a:ext cx="3349935" cy="317362"/>
          </a:xfrm>
          <a:custGeom>
            <a:avLst/>
            <a:gdLst/>
            <a:ahLst/>
            <a:cxnLst/>
            <a:rect l="l" t="t" r="r" b="b"/>
            <a:pathLst>
              <a:path w="3349935" h="317362">
                <a:moveTo>
                  <a:pt x="35262" y="0"/>
                </a:moveTo>
                <a:lnTo>
                  <a:pt x="3314673" y="0"/>
                </a:lnTo>
                <a:cubicBezTo>
                  <a:pt x="3334148" y="0"/>
                  <a:pt x="3349935" y="15787"/>
                  <a:pt x="3349935" y="35262"/>
                </a:cubicBezTo>
                <a:lnTo>
                  <a:pt x="3349935" y="282100"/>
                </a:lnTo>
                <a:cubicBezTo>
                  <a:pt x="3349935" y="301575"/>
                  <a:pt x="3334148" y="317362"/>
                  <a:pt x="3314673" y="317362"/>
                </a:cubicBezTo>
                <a:lnTo>
                  <a:pt x="35262" y="317362"/>
                </a:lnTo>
                <a:cubicBezTo>
                  <a:pt x="15787" y="317362"/>
                  <a:pt x="0" y="301575"/>
                  <a:pt x="0" y="282100"/>
                </a:cubicBezTo>
                <a:lnTo>
                  <a:pt x="0" y="35262"/>
                </a:lnTo>
                <a:cubicBezTo>
                  <a:pt x="0" y="15800"/>
                  <a:pt x="15800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69987" y="3067835"/>
            <a:ext cx="3200069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url, last_fetch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46511" y="1304711"/>
            <a:ext cx="3720191" cy="2186273"/>
          </a:xfrm>
          <a:custGeom>
            <a:avLst/>
            <a:gdLst/>
            <a:ahLst/>
            <a:cxnLst/>
            <a:rect l="l" t="t" r="r" b="b"/>
            <a:pathLst>
              <a:path w="3720191" h="2186273">
                <a:moveTo>
                  <a:pt x="0" y="0"/>
                </a:moveTo>
                <a:lnTo>
                  <a:pt x="3649662" y="0"/>
                </a:lnTo>
                <a:cubicBezTo>
                  <a:pt x="3688614" y="0"/>
                  <a:pt x="3720191" y="31577"/>
                  <a:pt x="3720191" y="70529"/>
                </a:cubicBezTo>
                <a:lnTo>
                  <a:pt x="3720191" y="2115744"/>
                </a:lnTo>
                <a:cubicBezTo>
                  <a:pt x="3720191" y="2154696"/>
                  <a:pt x="3688614" y="2186273"/>
                  <a:pt x="3649662" y="2186273"/>
                </a:cubicBezTo>
                <a:lnTo>
                  <a:pt x="0" y="2186273"/>
                </a:lnTo>
                <a:lnTo>
                  <a:pt x="0" y="0"/>
                </a:lnTo>
                <a:close/>
              </a:path>
            </a:pathLst>
          </a:custGeom>
          <a:solidFill>
            <a:srgbClr val="2C3036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246511" y="1304711"/>
            <a:ext cx="35262" cy="2186273"/>
          </a:xfrm>
          <a:custGeom>
            <a:avLst/>
            <a:gdLst/>
            <a:ahLst/>
            <a:cxnLst/>
            <a:rect l="l" t="t" r="r" b="b"/>
            <a:pathLst>
              <a:path w="35262" h="2186273">
                <a:moveTo>
                  <a:pt x="0" y="0"/>
                </a:moveTo>
                <a:lnTo>
                  <a:pt x="35262" y="0"/>
                </a:lnTo>
                <a:lnTo>
                  <a:pt x="35262" y="2186273"/>
                </a:lnTo>
                <a:lnTo>
                  <a:pt x="0" y="2186273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8" name="Shape 16"/>
          <p:cNvSpPr/>
          <p:nvPr/>
        </p:nvSpPr>
        <p:spPr>
          <a:xfrm>
            <a:off x="4440454" y="1481024"/>
            <a:ext cx="423150" cy="423150"/>
          </a:xfrm>
          <a:custGeom>
            <a:avLst/>
            <a:gdLst/>
            <a:ahLst/>
            <a:cxnLst/>
            <a:rect l="l" t="t" r="r" b="b"/>
            <a:pathLst>
              <a:path w="423150" h="423150">
                <a:moveTo>
                  <a:pt x="70526" y="0"/>
                </a:moveTo>
                <a:lnTo>
                  <a:pt x="352623" y="0"/>
                </a:lnTo>
                <a:cubicBezTo>
                  <a:pt x="391548" y="0"/>
                  <a:pt x="423150" y="31602"/>
                  <a:pt x="423150" y="70526"/>
                </a:cubicBezTo>
                <a:lnTo>
                  <a:pt x="423150" y="352623"/>
                </a:lnTo>
                <a:cubicBezTo>
                  <a:pt x="423150" y="391574"/>
                  <a:pt x="391574" y="423150"/>
                  <a:pt x="352623" y="423150"/>
                </a:cubicBezTo>
                <a:lnTo>
                  <a:pt x="70526" y="423150"/>
                </a:lnTo>
                <a:cubicBezTo>
                  <a:pt x="31602" y="423150"/>
                  <a:pt x="0" y="391548"/>
                  <a:pt x="0" y="352623"/>
                </a:cubicBezTo>
                <a:lnTo>
                  <a:pt x="0" y="70526"/>
                </a:lnTo>
                <a:cubicBezTo>
                  <a:pt x="0" y="31602"/>
                  <a:pt x="31602" y="0"/>
                  <a:pt x="70526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563873" y="1604443"/>
            <a:ext cx="176312" cy="176312"/>
          </a:xfrm>
          <a:custGeom>
            <a:avLst/>
            <a:gdLst/>
            <a:ahLst/>
            <a:cxnLst/>
            <a:rect l="l" t="t" r="r" b="b"/>
            <a:pathLst>
              <a:path w="176312" h="176312">
                <a:moveTo>
                  <a:pt x="60607" y="19284"/>
                </a:moveTo>
                <a:lnTo>
                  <a:pt x="60607" y="33059"/>
                </a:lnTo>
                <a:lnTo>
                  <a:pt x="115705" y="33059"/>
                </a:lnTo>
                <a:lnTo>
                  <a:pt x="115705" y="19284"/>
                </a:lnTo>
                <a:cubicBezTo>
                  <a:pt x="115705" y="17769"/>
                  <a:pt x="114465" y="16529"/>
                  <a:pt x="112950" y="16529"/>
                </a:cubicBezTo>
                <a:lnTo>
                  <a:pt x="63362" y="16529"/>
                </a:lnTo>
                <a:cubicBezTo>
                  <a:pt x="61847" y="16529"/>
                  <a:pt x="60607" y="17769"/>
                  <a:pt x="60607" y="19284"/>
                </a:cubicBezTo>
                <a:close/>
                <a:moveTo>
                  <a:pt x="44078" y="33059"/>
                </a:moveTo>
                <a:lnTo>
                  <a:pt x="44078" y="19284"/>
                </a:lnTo>
                <a:cubicBezTo>
                  <a:pt x="44078" y="8643"/>
                  <a:pt x="52722" y="0"/>
                  <a:pt x="63362" y="0"/>
                </a:cubicBezTo>
                <a:lnTo>
                  <a:pt x="112950" y="0"/>
                </a:lnTo>
                <a:cubicBezTo>
                  <a:pt x="123591" y="0"/>
                  <a:pt x="132234" y="8643"/>
                  <a:pt x="132234" y="19284"/>
                </a:cubicBezTo>
                <a:lnTo>
                  <a:pt x="132234" y="33059"/>
                </a:lnTo>
                <a:lnTo>
                  <a:pt x="141911" y="33059"/>
                </a:lnTo>
                <a:cubicBezTo>
                  <a:pt x="146284" y="33059"/>
                  <a:pt x="150485" y="34815"/>
                  <a:pt x="153585" y="37914"/>
                </a:cubicBezTo>
                <a:lnTo>
                  <a:pt x="171457" y="55786"/>
                </a:lnTo>
                <a:cubicBezTo>
                  <a:pt x="174556" y="58886"/>
                  <a:pt x="176312" y="63087"/>
                  <a:pt x="176312" y="67460"/>
                </a:cubicBezTo>
                <a:lnTo>
                  <a:pt x="176312" y="93666"/>
                </a:lnTo>
                <a:lnTo>
                  <a:pt x="129479" y="93666"/>
                </a:lnTo>
                <a:lnTo>
                  <a:pt x="129479" y="88156"/>
                </a:lnTo>
                <a:cubicBezTo>
                  <a:pt x="129479" y="83576"/>
                  <a:pt x="125795" y="79892"/>
                  <a:pt x="121215" y="79892"/>
                </a:cubicBezTo>
                <a:cubicBezTo>
                  <a:pt x="116635" y="79892"/>
                  <a:pt x="112950" y="83576"/>
                  <a:pt x="112950" y="88156"/>
                </a:cubicBezTo>
                <a:lnTo>
                  <a:pt x="112950" y="93666"/>
                </a:lnTo>
                <a:lnTo>
                  <a:pt x="63362" y="93666"/>
                </a:lnTo>
                <a:lnTo>
                  <a:pt x="63362" y="88156"/>
                </a:lnTo>
                <a:cubicBezTo>
                  <a:pt x="63362" y="83576"/>
                  <a:pt x="59678" y="79892"/>
                  <a:pt x="55098" y="79892"/>
                </a:cubicBezTo>
                <a:cubicBezTo>
                  <a:pt x="50518" y="79892"/>
                  <a:pt x="46833" y="83576"/>
                  <a:pt x="46833" y="88156"/>
                </a:cubicBezTo>
                <a:lnTo>
                  <a:pt x="46833" y="93666"/>
                </a:lnTo>
                <a:lnTo>
                  <a:pt x="0" y="93666"/>
                </a:lnTo>
                <a:lnTo>
                  <a:pt x="0" y="67460"/>
                </a:lnTo>
                <a:cubicBezTo>
                  <a:pt x="0" y="63087"/>
                  <a:pt x="1756" y="58886"/>
                  <a:pt x="4855" y="55786"/>
                </a:cubicBezTo>
                <a:lnTo>
                  <a:pt x="22728" y="37914"/>
                </a:lnTo>
                <a:cubicBezTo>
                  <a:pt x="25827" y="34815"/>
                  <a:pt x="30028" y="33059"/>
                  <a:pt x="34402" y="33059"/>
                </a:cubicBezTo>
                <a:lnTo>
                  <a:pt x="44078" y="33059"/>
                </a:lnTo>
                <a:close/>
                <a:moveTo>
                  <a:pt x="0" y="143254"/>
                </a:moveTo>
                <a:lnTo>
                  <a:pt x="0" y="110195"/>
                </a:lnTo>
                <a:lnTo>
                  <a:pt x="46833" y="110195"/>
                </a:lnTo>
                <a:lnTo>
                  <a:pt x="46833" y="115705"/>
                </a:lnTo>
                <a:cubicBezTo>
                  <a:pt x="46833" y="120285"/>
                  <a:pt x="50518" y="123970"/>
                  <a:pt x="55098" y="123970"/>
                </a:cubicBezTo>
                <a:cubicBezTo>
                  <a:pt x="59678" y="123970"/>
                  <a:pt x="63362" y="120285"/>
                  <a:pt x="63362" y="115705"/>
                </a:cubicBezTo>
                <a:lnTo>
                  <a:pt x="63362" y="110195"/>
                </a:lnTo>
                <a:lnTo>
                  <a:pt x="112950" y="110195"/>
                </a:lnTo>
                <a:lnTo>
                  <a:pt x="112950" y="115705"/>
                </a:lnTo>
                <a:cubicBezTo>
                  <a:pt x="112950" y="120285"/>
                  <a:pt x="116635" y="123970"/>
                  <a:pt x="121215" y="123970"/>
                </a:cubicBezTo>
                <a:cubicBezTo>
                  <a:pt x="125795" y="123970"/>
                  <a:pt x="129479" y="120285"/>
                  <a:pt x="129479" y="115705"/>
                </a:cubicBezTo>
                <a:lnTo>
                  <a:pt x="129479" y="110195"/>
                </a:lnTo>
                <a:lnTo>
                  <a:pt x="176312" y="110195"/>
                </a:lnTo>
                <a:lnTo>
                  <a:pt x="176312" y="143254"/>
                </a:lnTo>
                <a:cubicBezTo>
                  <a:pt x="176312" y="155410"/>
                  <a:pt x="166429" y="165293"/>
                  <a:pt x="154273" y="165293"/>
                </a:cubicBezTo>
                <a:lnTo>
                  <a:pt x="22039" y="165293"/>
                </a:lnTo>
                <a:cubicBezTo>
                  <a:pt x="9883" y="165293"/>
                  <a:pt x="0" y="155410"/>
                  <a:pt x="0" y="143254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0" name="Text 18"/>
          <p:cNvSpPr/>
          <p:nvPr/>
        </p:nvSpPr>
        <p:spPr>
          <a:xfrm>
            <a:off x="4969392" y="1569180"/>
            <a:ext cx="440781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40454" y="2045223"/>
            <a:ext cx="3420460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Каноническая сущность инструмента после нормализации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40454" y="2609423"/>
            <a:ext cx="3349935" cy="317362"/>
          </a:xfrm>
          <a:custGeom>
            <a:avLst/>
            <a:gdLst/>
            <a:ahLst/>
            <a:cxnLst/>
            <a:rect l="l" t="t" r="r" b="b"/>
            <a:pathLst>
              <a:path w="3349935" h="317362">
                <a:moveTo>
                  <a:pt x="35262" y="0"/>
                </a:moveTo>
                <a:lnTo>
                  <a:pt x="3314673" y="0"/>
                </a:lnTo>
                <a:cubicBezTo>
                  <a:pt x="3334148" y="0"/>
                  <a:pt x="3349935" y="15787"/>
                  <a:pt x="3349935" y="35262"/>
                </a:cubicBezTo>
                <a:lnTo>
                  <a:pt x="3349935" y="282100"/>
                </a:lnTo>
                <a:cubicBezTo>
                  <a:pt x="3349935" y="301575"/>
                  <a:pt x="3334148" y="317362"/>
                  <a:pt x="3314673" y="317362"/>
                </a:cubicBezTo>
                <a:lnTo>
                  <a:pt x="35262" y="317362"/>
                </a:lnTo>
                <a:cubicBezTo>
                  <a:pt x="15787" y="317362"/>
                  <a:pt x="0" y="301575"/>
                  <a:pt x="0" y="282100"/>
                </a:cubicBezTo>
                <a:lnTo>
                  <a:pt x="0" y="35262"/>
                </a:lnTo>
                <a:cubicBezTo>
                  <a:pt x="0" y="15800"/>
                  <a:pt x="15800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546242" y="2679948"/>
            <a:ext cx="3200069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tool_id, name, canonical_name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40454" y="2997310"/>
            <a:ext cx="3349935" cy="317362"/>
          </a:xfrm>
          <a:custGeom>
            <a:avLst/>
            <a:gdLst/>
            <a:ahLst/>
            <a:cxnLst/>
            <a:rect l="l" t="t" r="r" b="b"/>
            <a:pathLst>
              <a:path w="3349935" h="317362">
                <a:moveTo>
                  <a:pt x="35262" y="0"/>
                </a:moveTo>
                <a:lnTo>
                  <a:pt x="3314673" y="0"/>
                </a:lnTo>
                <a:cubicBezTo>
                  <a:pt x="3334148" y="0"/>
                  <a:pt x="3349935" y="15787"/>
                  <a:pt x="3349935" y="35262"/>
                </a:cubicBezTo>
                <a:lnTo>
                  <a:pt x="3349935" y="282100"/>
                </a:lnTo>
                <a:cubicBezTo>
                  <a:pt x="3349935" y="301575"/>
                  <a:pt x="3334148" y="317362"/>
                  <a:pt x="3314673" y="317362"/>
                </a:cubicBezTo>
                <a:lnTo>
                  <a:pt x="35262" y="317362"/>
                </a:lnTo>
                <a:cubicBezTo>
                  <a:pt x="15787" y="317362"/>
                  <a:pt x="0" y="301575"/>
                  <a:pt x="0" y="282100"/>
                </a:cubicBezTo>
                <a:lnTo>
                  <a:pt x="0" y="35262"/>
                </a:lnTo>
                <a:cubicBezTo>
                  <a:pt x="0" y="15800"/>
                  <a:pt x="15800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46242" y="3067835"/>
            <a:ext cx="3200069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description, category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22766" y="1304711"/>
            <a:ext cx="3720191" cy="2186273"/>
          </a:xfrm>
          <a:custGeom>
            <a:avLst/>
            <a:gdLst/>
            <a:ahLst/>
            <a:cxnLst/>
            <a:rect l="l" t="t" r="r" b="b"/>
            <a:pathLst>
              <a:path w="3720191" h="2186273">
                <a:moveTo>
                  <a:pt x="0" y="0"/>
                </a:moveTo>
                <a:lnTo>
                  <a:pt x="3649662" y="0"/>
                </a:lnTo>
                <a:cubicBezTo>
                  <a:pt x="3688614" y="0"/>
                  <a:pt x="3720191" y="31577"/>
                  <a:pt x="3720191" y="70529"/>
                </a:cubicBezTo>
                <a:lnTo>
                  <a:pt x="3720191" y="2115744"/>
                </a:lnTo>
                <a:cubicBezTo>
                  <a:pt x="3720191" y="2154696"/>
                  <a:pt x="3688614" y="2186273"/>
                  <a:pt x="3649662" y="2186273"/>
                </a:cubicBezTo>
                <a:lnTo>
                  <a:pt x="0" y="2186273"/>
                </a:lnTo>
                <a:lnTo>
                  <a:pt x="0" y="0"/>
                </a:lnTo>
                <a:close/>
              </a:path>
            </a:pathLst>
          </a:custGeom>
          <a:solidFill>
            <a:srgbClr val="2C3036">
              <a:alpha val="5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122766" y="1304711"/>
            <a:ext cx="35262" cy="2186273"/>
          </a:xfrm>
          <a:custGeom>
            <a:avLst/>
            <a:gdLst/>
            <a:ahLst/>
            <a:cxnLst/>
            <a:rect l="l" t="t" r="r" b="b"/>
            <a:pathLst>
              <a:path w="35262" h="2186273">
                <a:moveTo>
                  <a:pt x="0" y="0"/>
                </a:moveTo>
                <a:lnTo>
                  <a:pt x="35262" y="0"/>
                </a:lnTo>
                <a:lnTo>
                  <a:pt x="35262" y="2186273"/>
                </a:lnTo>
                <a:lnTo>
                  <a:pt x="0" y="2186273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8" name="Shape 26"/>
          <p:cNvSpPr/>
          <p:nvPr/>
        </p:nvSpPr>
        <p:spPr>
          <a:xfrm>
            <a:off x="8316709" y="1481024"/>
            <a:ext cx="423150" cy="423150"/>
          </a:xfrm>
          <a:custGeom>
            <a:avLst/>
            <a:gdLst/>
            <a:ahLst/>
            <a:cxnLst/>
            <a:rect l="l" t="t" r="r" b="b"/>
            <a:pathLst>
              <a:path w="423150" h="423150">
                <a:moveTo>
                  <a:pt x="70526" y="0"/>
                </a:moveTo>
                <a:lnTo>
                  <a:pt x="352623" y="0"/>
                </a:lnTo>
                <a:cubicBezTo>
                  <a:pt x="391548" y="0"/>
                  <a:pt x="423150" y="31602"/>
                  <a:pt x="423150" y="70526"/>
                </a:cubicBezTo>
                <a:lnTo>
                  <a:pt x="423150" y="352623"/>
                </a:lnTo>
                <a:cubicBezTo>
                  <a:pt x="423150" y="391574"/>
                  <a:pt x="391574" y="423150"/>
                  <a:pt x="352623" y="423150"/>
                </a:cubicBezTo>
                <a:lnTo>
                  <a:pt x="70526" y="423150"/>
                </a:lnTo>
                <a:cubicBezTo>
                  <a:pt x="31602" y="423150"/>
                  <a:pt x="0" y="391548"/>
                  <a:pt x="0" y="352623"/>
                </a:cubicBezTo>
                <a:lnTo>
                  <a:pt x="0" y="70526"/>
                </a:lnTo>
                <a:cubicBezTo>
                  <a:pt x="0" y="31602"/>
                  <a:pt x="31602" y="0"/>
                  <a:pt x="70526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462167" y="1604443"/>
            <a:ext cx="132234" cy="176312"/>
          </a:xfrm>
          <a:custGeom>
            <a:avLst/>
            <a:gdLst/>
            <a:ahLst/>
            <a:cxnLst/>
            <a:rect l="l" t="t" r="r" b="b"/>
            <a:pathLst>
              <a:path w="132234" h="176312">
                <a:moveTo>
                  <a:pt x="0" y="22039"/>
                </a:moveTo>
                <a:cubicBezTo>
                  <a:pt x="0" y="9883"/>
                  <a:pt x="9883" y="0"/>
                  <a:pt x="22039" y="0"/>
                </a:cubicBezTo>
                <a:lnTo>
                  <a:pt x="73521" y="0"/>
                </a:lnTo>
                <a:cubicBezTo>
                  <a:pt x="79375" y="0"/>
                  <a:pt x="84988" y="2307"/>
                  <a:pt x="89120" y="6440"/>
                </a:cubicBezTo>
                <a:lnTo>
                  <a:pt x="125795" y="43148"/>
                </a:lnTo>
                <a:cubicBezTo>
                  <a:pt x="129927" y="47281"/>
                  <a:pt x="132234" y="52894"/>
                  <a:pt x="132234" y="58748"/>
                </a:cubicBezTo>
                <a:lnTo>
                  <a:pt x="132234" y="154273"/>
                </a:lnTo>
                <a:cubicBezTo>
                  <a:pt x="132234" y="166429"/>
                  <a:pt x="122351" y="176312"/>
                  <a:pt x="110195" y="176312"/>
                </a:cubicBezTo>
                <a:lnTo>
                  <a:pt x="22039" y="176312"/>
                </a:lnTo>
                <a:cubicBezTo>
                  <a:pt x="9883" y="176312"/>
                  <a:pt x="0" y="166429"/>
                  <a:pt x="0" y="154273"/>
                </a:cubicBezTo>
                <a:lnTo>
                  <a:pt x="0" y="22039"/>
                </a:lnTo>
                <a:close/>
                <a:moveTo>
                  <a:pt x="71627" y="20145"/>
                </a:moveTo>
                <a:lnTo>
                  <a:pt x="71627" y="52343"/>
                </a:lnTo>
                <a:cubicBezTo>
                  <a:pt x="71627" y="56923"/>
                  <a:pt x="75312" y="60607"/>
                  <a:pt x="79892" y="60607"/>
                </a:cubicBezTo>
                <a:lnTo>
                  <a:pt x="112089" y="60607"/>
                </a:lnTo>
                <a:lnTo>
                  <a:pt x="71627" y="20145"/>
                </a:lnTo>
                <a:close/>
                <a:moveTo>
                  <a:pt x="41323" y="88156"/>
                </a:moveTo>
                <a:cubicBezTo>
                  <a:pt x="36743" y="88156"/>
                  <a:pt x="33059" y="91841"/>
                  <a:pt x="33059" y="96421"/>
                </a:cubicBezTo>
                <a:cubicBezTo>
                  <a:pt x="33059" y="101001"/>
                  <a:pt x="36743" y="104685"/>
                  <a:pt x="41323" y="104685"/>
                </a:cubicBezTo>
                <a:lnTo>
                  <a:pt x="90911" y="104685"/>
                </a:lnTo>
                <a:cubicBezTo>
                  <a:pt x="95491" y="104685"/>
                  <a:pt x="99176" y="101001"/>
                  <a:pt x="99176" y="96421"/>
                </a:cubicBezTo>
                <a:cubicBezTo>
                  <a:pt x="99176" y="91841"/>
                  <a:pt x="95491" y="88156"/>
                  <a:pt x="90911" y="88156"/>
                </a:cubicBezTo>
                <a:lnTo>
                  <a:pt x="41323" y="88156"/>
                </a:lnTo>
                <a:close/>
                <a:moveTo>
                  <a:pt x="41323" y="121215"/>
                </a:moveTo>
                <a:cubicBezTo>
                  <a:pt x="36743" y="121215"/>
                  <a:pt x="33059" y="124899"/>
                  <a:pt x="33059" y="129479"/>
                </a:cubicBezTo>
                <a:cubicBezTo>
                  <a:pt x="33059" y="134059"/>
                  <a:pt x="36743" y="137744"/>
                  <a:pt x="41323" y="137744"/>
                </a:cubicBezTo>
                <a:lnTo>
                  <a:pt x="90911" y="137744"/>
                </a:lnTo>
                <a:cubicBezTo>
                  <a:pt x="95491" y="137744"/>
                  <a:pt x="99176" y="134059"/>
                  <a:pt x="99176" y="129479"/>
                </a:cubicBezTo>
                <a:cubicBezTo>
                  <a:pt x="99176" y="124899"/>
                  <a:pt x="95491" y="121215"/>
                  <a:pt x="90911" y="121215"/>
                </a:cubicBezTo>
                <a:lnTo>
                  <a:pt x="41323" y="121215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0" name="Text 28"/>
          <p:cNvSpPr/>
          <p:nvPr/>
        </p:nvSpPr>
        <p:spPr>
          <a:xfrm>
            <a:off x="8845646" y="1569180"/>
            <a:ext cx="68761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Artifact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16709" y="2045223"/>
            <a:ext cx="3420460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Текстовые артефакты для анализа: README, документация, release notes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16709" y="2609423"/>
            <a:ext cx="3349935" cy="317362"/>
          </a:xfrm>
          <a:custGeom>
            <a:avLst/>
            <a:gdLst/>
            <a:ahLst/>
            <a:cxnLst/>
            <a:rect l="l" t="t" r="r" b="b"/>
            <a:pathLst>
              <a:path w="3349935" h="317362">
                <a:moveTo>
                  <a:pt x="35262" y="0"/>
                </a:moveTo>
                <a:lnTo>
                  <a:pt x="3314673" y="0"/>
                </a:lnTo>
                <a:cubicBezTo>
                  <a:pt x="3334148" y="0"/>
                  <a:pt x="3349935" y="15787"/>
                  <a:pt x="3349935" y="35262"/>
                </a:cubicBezTo>
                <a:lnTo>
                  <a:pt x="3349935" y="282100"/>
                </a:lnTo>
                <a:cubicBezTo>
                  <a:pt x="3349935" y="301575"/>
                  <a:pt x="3334148" y="317362"/>
                  <a:pt x="3314673" y="317362"/>
                </a:cubicBezTo>
                <a:lnTo>
                  <a:pt x="35262" y="317362"/>
                </a:lnTo>
                <a:cubicBezTo>
                  <a:pt x="15787" y="317362"/>
                  <a:pt x="0" y="301575"/>
                  <a:pt x="0" y="282100"/>
                </a:cubicBezTo>
                <a:lnTo>
                  <a:pt x="0" y="35262"/>
                </a:lnTo>
                <a:cubicBezTo>
                  <a:pt x="0" y="15800"/>
                  <a:pt x="15800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422497" y="2679948"/>
            <a:ext cx="3200069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artifact_id, tool_id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16709" y="2997310"/>
            <a:ext cx="3349935" cy="317362"/>
          </a:xfrm>
          <a:custGeom>
            <a:avLst/>
            <a:gdLst/>
            <a:ahLst/>
            <a:cxnLst/>
            <a:rect l="l" t="t" r="r" b="b"/>
            <a:pathLst>
              <a:path w="3349935" h="317362">
                <a:moveTo>
                  <a:pt x="35262" y="0"/>
                </a:moveTo>
                <a:lnTo>
                  <a:pt x="3314673" y="0"/>
                </a:lnTo>
                <a:cubicBezTo>
                  <a:pt x="3334148" y="0"/>
                  <a:pt x="3349935" y="15787"/>
                  <a:pt x="3349935" y="35262"/>
                </a:cubicBezTo>
                <a:lnTo>
                  <a:pt x="3349935" y="282100"/>
                </a:lnTo>
                <a:cubicBezTo>
                  <a:pt x="3349935" y="301575"/>
                  <a:pt x="3334148" y="317362"/>
                  <a:pt x="3314673" y="317362"/>
                </a:cubicBezTo>
                <a:lnTo>
                  <a:pt x="35262" y="317362"/>
                </a:lnTo>
                <a:cubicBezTo>
                  <a:pt x="15787" y="317362"/>
                  <a:pt x="0" y="301575"/>
                  <a:pt x="0" y="282100"/>
                </a:cubicBezTo>
                <a:lnTo>
                  <a:pt x="0" y="35262"/>
                </a:lnTo>
                <a:cubicBezTo>
                  <a:pt x="0" y="15800"/>
                  <a:pt x="15800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422497" y="3067835"/>
            <a:ext cx="3200069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type, content, source_url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70256" y="3632035"/>
            <a:ext cx="3720191" cy="2574161"/>
          </a:xfrm>
          <a:custGeom>
            <a:avLst/>
            <a:gdLst/>
            <a:ahLst/>
            <a:cxnLst/>
            <a:rect l="l" t="t" r="r" b="b"/>
            <a:pathLst>
              <a:path w="3720191" h="2574161">
                <a:moveTo>
                  <a:pt x="0" y="0"/>
                </a:moveTo>
                <a:lnTo>
                  <a:pt x="3649659" y="0"/>
                </a:lnTo>
                <a:cubicBezTo>
                  <a:pt x="3688613" y="0"/>
                  <a:pt x="3720191" y="31578"/>
                  <a:pt x="3720191" y="70532"/>
                </a:cubicBezTo>
                <a:lnTo>
                  <a:pt x="3720191" y="2503629"/>
                </a:lnTo>
                <a:cubicBezTo>
                  <a:pt x="3720191" y="2542582"/>
                  <a:pt x="3688613" y="2574161"/>
                  <a:pt x="3649659" y="2574161"/>
                </a:cubicBezTo>
                <a:lnTo>
                  <a:pt x="0" y="2574161"/>
                </a:lnTo>
                <a:lnTo>
                  <a:pt x="0" y="0"/>
                </a:lnTo>
                <a:close/>
              </a:path>
            </a:pathLst>
          </a:custGeom>
          <a:solidFill>
            <a:srgbClr val="2C3036">
              <a:alpha val="5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70256" y="3632035"/>
            <a:ext cx="35262" cy="2574161"/>
          </a:xfrm>
          <a:custGeom>
            <a:avLst/>
            <a:gdLst/>
            <a:ahLst/>
            <a:cxnLst/>
            <a:rect l="l" t="t" r="r" b="b"/>
            <a:pathLst>
              <a:path w="35262" h="2574161">
                <a:moveTo>
                  <a:pt x="0" y="0"/>
                </a:moveTo>
                <a:lnTo>
                  <a:pt x="35262" y="0"/>
                </a:lnTo>
                <a:lnTo>
                  <a:pt x="35262" y="2574161"/>
                </a:lnTo>
                <a:lnTo>
                  <a:pt x="0" y="2574161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8" name="Shape 36"/>
          <p:cNvSpPr/>
          <p:nvPr/>
        </p:nvSpPr>
        <p:spPr>
          <a:xfrm>
            <a:off x="564200" y="3808347"/>
            <a:ext cx="423150" cy="423150"/>
          </a:xfrm>
          <a:custGeom>
            <a:avLst/>
            <a:gdLst/>
            <a:ahLst/>
            <a:cxnLst/>
            <a:rect l="l" t="t" r="r" b="b"/>
            <a:pathLst>
              <a:path w="423150" h="423150">
                <a:moveTo>
                  <a:pt x="70526" y="0"/>
                </a:moveTo>
                <a:lnTo>
                  <a:pt x="352623" y="0"/>
                </a:lnTo>
                <a:cubicBezTo>
                  <a:pt x="391548" y="0"/>
                  <a:pt x="423150" y="31602"/>
                  <a:pt x="423150" y="70526"/>
                </a:cubicBezTo>
                <a:lnTo>
                  <a:pt x="423150" y="352623"/>
                </a:lnTo>
                <a:cubicBezTo>
                  <a:pt x="423150" y="391574"/>
                  <a:pt x="391574" y="423150"/>
                  <a:pt x="352623" y="423150"/>
                </a:cubicBezTo>
                <a:lnTo>
                  <a:pt x="70526" y="423150"/>
                </a:lnTo>
                <a:cubicBezTo>
                  <a:pt x="31602" y="423150"/>
                  <a:pt x="0" y="391548"/>
                  <a:pt x="0" y="352623"/>
                </a:cubicBezTo>
                <a:lnTo>
                  <a:pt x="0" y="70526"/>
                </a:lnTo>
                <a:cubicBezTo>
                  <a:pt x="0" y="31602"/>
                  <a:pt x="31602" y="0"/>
                  <a:pt x="70526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5579" y="3931766"/>
            <a:ext cx="220390" cy="176312"/>
          </a:xfrm>
          <a:custGeom>
            <a:avLst/>
            <a:gdLst/>
            <a:ahLst/>
            <a:cxnLst/>
            <a:rect l="l" t="t" r="r" b="b"/>
            <a:pathLst>
              <a:path w="220390" h="176312">
                <a:moveTo>
                  <a:pt x="143219" y="72488"/>
                </a:moveTo>
                <a:cubicBezTo>
                  <a:pt x="147421" y="71351"/>
                  <a:pt x="151828" y="73349"/>
                  <a:pt x="153722" y="77240"/>
                </a:cubicBezTo>
                <a:lnTo>
                  <a:pt x="160127" y="90188"/>
                </a:lnTo>
                <a:cubicBezTo>
                  <a:pt x="163674" y="90670"/>
                  <a:pt x="167152" y="91634"/>
                  <a:pt x="170424" y="92977"/>
                </a:cubicBezTo>
                <a:lnTo>
                  <a:pt x="182476" y="84954"/>
                </a:lnTo>
                <a:cubicBezTo>
                  <a:pt x="186092" y="82543"/>
                  <a:pt x="190879" y="83025"/>
                  <a:pt x="193944" y="86090"/>
                </a:cubicBezTo>
                <a:lnTo>
                  <a:pt x="200555" y="92702"/>
                </a:lnTo>
                <a:cubicBezTo>
                  <a:pt x="203620" y="95767"/>
                  <a:pt x="204102" y="100588"/>
                  <a:pt x="201692" y="104169"/>
                </a:cubicBezTo>
                <a:lnTo>
                  <a:pt x="193668" y="116187"/>
                </a:lnTo>
                <a:cubicBezTo>
                  <a:pt x="194322" y="117806"/>
                  <a:pt x="194908" y="119493"/>
                  <a:pt x="195390" y="121249"/>
                </a:cubicBezTo>
                <a:cubicBezTo>
                  <a:pt x="195872" y="123005"/>
                  <a:pt x="196182" y="124727"/>
                  <a:pt x="196423" y="126483"/>
                </a:cubicBezTo>
                <a:lnTo>
                  <a:pt x="209405" y="132889"/>
                </a:lnTo>
                <a:cubicBezTo>
                  <a:pt x="213297" y="134817"/>
                  <a:pt x="215294" y="139225"/>
                  <a:pt x="214158" y="143392"/>
                </a:cubicBezTo>
                <a:lnTo>
                  <a:pt x="211747" y="152414"/>
                </a:lnTo>
                <a:cubicBezTo>
                  <a:pt x="210611" y="156581"/>
                  <a:pt x="206719" y="159404"/>
                  <a:pt x="202380" y="159129"/>
                </a:cubicBezTo>
                <a:lnTo>
                  <a:pt x="187917" y="158199"/>
                </a:lnTo>
                <a:cubicBezTo>
                  <a:pt x="185748" y="160988"/>
                  <a:pt x="183234" y="163571"/>
                  <a:pt x="180376" y="165775"/>
                </a:cubicBezTo>
                <a:lnTo>
                  <a:pt x="181306" y="180204"/>
                </a:lnTo>
                <a:cubicBezTo>
                  <a:pt x="181581" y="184543"/>
                  <a:pt x="178757" y="188468"/>
                  <a:pt x="174591" y="189570"/>
                </a:cubicBezTo>
                <a:lnTo>
                  <a:pt x="165568" y="191981"/>
                </a:lnTo>
                <a:cubicBezTo>
                  <a:pt x="161367" y="193117"/>
                  <a:pt x="156994" y="191120"/>
                  <a:pt x="155065" y="187229"/>
                </a:cubicBezTo>
                <a:lnTo>
                  <a:pt x="148660" y="174281"/>
                </a:lnTo>
                <a:cubicBezTo>
                  <a:pt x="145113" y="173799"/>
                  <a:pt x="141635" y="172834"/>
                  <a:pt x="138364" y="171491"/>
                </a:cubicBezTo>
                <a:lnTo>
                  <a:pt x="126311" y="179515"/>
                </a:lnTo>
                <a:cubicBezTo>
                  <a:pt x="122695" y="181925"/>
                  <a:pt x="117909" y="181443"/>
                  <a:pt x="114844" y="178379"/>
                </a:cubicBezTo>
                <a:lnTo>
                  <a:pt x="108232" y="171767"/>
                </a:lnTo>
                <a:cubicBezTo>
                  <a:pt x="105168" y="168702"/>
                  <a:pt x="104685" y="163915"/>
                  <a:pt x="107096" y="160300"/>
                </a:cubicBezTo>
                <a:lnTo>
                  <a:pt x="115120" y="148247"/>
                </a:lnTo>
                <a:cubicBezTo>
                  <a:pt x="114465" y="146629"/>
                  <a:pt x="113880" y="144941"/>
                  <a:pt x="113398" y="143185"/>
                </a:cubicBezTo>
                <a:cubicBezTo>
                  <a:pt x="112916" y="141429"/>
                  <a:pt x="112606" y="139672"/>
                  <a:pt x="112365" y="137951"/>
                </a:cubicBezTo>
                <a:lnTo>
                  <a:pt x="99382" y="131546"/>
                </a:lnTo>
                <a:cubicBezTo>
                  <a:pt x="95491" y="129617"/>
                  <a:pt x="93528" y="125209"/>
                  <a:pt x="94630" y="121043"/>
                </a:cubicBezTo>
                <a:lnTo>
                  <a:pt x="97041" y="112020"/>
                </a:lnTo>
                <a:cubicBezTo>
                  <a:pt x="98177" y="107854"/>
                  <a:pt x="102068" y="105030"/>
                  <a:pt x="106407" y="105305"/>
                </a:cubicBezTo>
                <a:lnTo>
                  <a:pt x="120836" y="106235"/>
                </a:lnTo>
                <a:cubicBezTo>
                  <a:pt x="123005" y="103446"/>
                  <a:pt x="125519" y="100863"/>
                  <a:pt x="128377" y="98659"/>
                </a:cubicBezTo>
                <a:lnTo>
                  <a:pt x="127448" y="84265"/>
                </a:lnTo>
                <a:cubicBezTo>
                  <a:pt x="127172" y="79926"/>
                  <a:pt x="129996" y="76000"/>
                  <a:pt x="134163" y="74898"/>
                </a:cubicBezTo>
                <a:lnTo>
                  <a:pt x="143185" y="72488"/>
                </a:lnTo>
                <a:close/>
                <a:moveTo>
                  <a:pt x="154411" y="117082"/>
                </a:moveTo>
                <a:cubicBezTo>
                  <a:pt x="146049" y="117092"/>
                  <a:pt x="139267" y="123889"/>
                  <a:pt x="139276" y="132251"/>
                </a:cubicBezTo>
                <a:cubicBezTo>
                  <a:pt x="139286" y="140614"/>
                  <a:pt x="146083" y="147396"/>
                  <a:pt x="154445" y="147386"/>
                </a:cubicBezTo>
                <a:cubicBezTo>
                  <a:pt x="162808" y="147377"/>
                  <a:pt x="169590" y="140580"/>
                  <a:pt x="169580" y="132217"/>
                </a:cubicBezTo>
                <a:cubicBezTo>
                  <a:pt x="169571" y="123855"/>
                  <a:pt x="162774" y="117073"/>
                  <a:pt x="154411" y="117082"/>
                </a:cubicBezTo>
                <a:close/>
                <a:moveTo>
                  <a:pt x="77447" y="-15668"/>
                </a:moveTo>
                <a:lnTo>
                  <a:pt x="86469" y="-13258"/>
                </a:lnTo>
                <a:cubicBezTo>
                  <a:pt x="90636" y="-12121"/>
                  <a:pt x="93459" y="-8196"/>
                  <a:pt x="93184" y="-3891"/>
                </a:cubicBezTo>
                <a:lnTo>
                  <a:pt x="92254" y="10503"/>
                </a:lnTo>
                <a:cubicBezTo>
                  <a:pt x="95112" y="12707"/>
                  <a:pt x="97626" y="15255"/>
                  <a:pt x="99796" y="18079"/>
                </a:cubicBezTo>
                <a:lnTo>
                  <a:pt x="114259" y="17149"/>
                </a:lnTo>
                <a:cubicBezTo>
                  <a:pt x="118563" y="16874"/>
                  <a:pt x="122489" y="19697"/>
                  <a:pt x="123625" y="23864"/>
                </a:cubicBezTo>
                <a:lnTo>
                  <a:pt x="126036" y="32886"/>
                </a:lnTo>
                <a:cubicBezTo>
                  <a:pt x="127138" y="37053"/>
                  <a:pt x="125175" y="41461"/>
                  <a:pt x="121284" y="43389"/>
                </a:cubicBezTo>
                <a:lnTo>
                  <a:pt x="108301" y="49794"/>
                </a:lnTo>
                <a:cubicBezTo>
                  <a:pt x="108060" y="51551"/>
                  <a:pt x="107716" y="53307"/>
                  <a:pt x="107268" y="55029"/>
                </a:cubicBezTo>
                <a:cubicBezTo>
                  <a:pt x="106820" y="56751"/>
                  <a:pt x="106201" y="58472"/>
                  <a:pt x="105546" y="60091"/>
                </a:cubicBezTo>
                <a:lnTo>
                  <a:pt x="113570" y="72143"/>
                </a:lnTo>
                <a:cubicBezTo>
                  <a:pt x="115980" y="75759"/>
                  <a:pt x="115498" y="80546"/>
                  <a:pt x="112434" y="83611"/>
                </a:cubicBezTo>
                <a:lnTo>
                  <a:pt x="105822" y="90222"/>
                </a:lnTo>
                <a:cubicBezTo>
                  <a:pt x="102757" y="93287"/>
                  <a:pt x="97970" y="93769"/>
                  <a:pt x="94355" y="91359"/>
                </a:cubicBezTo>
                <a:lnTo>
                  <a:pt x="82302" y="83335"/>
                </a:lnTo>
                <a:cubicBezTo>
                  <a:pt x="79031" y="84678"/>
                  <a:pt x="75553" y="85642"/>
                  <a:pt x="72006" y="86124"/>
                </a:cubicBezTo>
                <a:lnTo>
                  <a:pt x="65601" y="99072"/>
                </a:lnTo>
                <a:cubicBezTo>
                  <a:pt x="63672" y="102964"/>
                  <a:pt x="59264" y="104927"/>
                  <a:pt x="55098" y="103825"/>
                </a:cubicBezTo>
                <a:lnTo>
                  <a:pt x="46075" y="101414"/>
                </a:lnTo>
                <a:cubicBezTo>
                  <a:pt x="41874" y="100278"/>
                  <a:pt x="39085" y="96352"/>
                  <a:pt x="39360" y="92047"/>
                </a:cubicBezTo>
                <a:lnTo>
                  <a:pt x="40290" y="77619"/>
                </a:lnTo>
                <a:cubicBezTo>
                  <a:pt x="37432" y="75415"/>
                  <a:pt x="34918" y="72867"/>
                  <a:pt x="32749" y="70043"/>
                </a:cubicBezTo>
                <a:lnTo>
                  <a:pt x="18286" y="70973"/>
                </a:lnTo>
                <a:cubicBezTo>
                  <a:pt x="13981" y="71248"/>
                  <a:pt x="10055" y="68424"/>
                  <a:pt x="8919" y="64258"/>
                </a:cubicBezTo>
                <a:lnTo>
                  <a:pt x="6508" y="55235"/>
                </a:lnTo>
                <a:cubicBezTo>
                  <a:pt x="5406" y="51069"/>
                  <a:pt x="7369" y="46661"/>
                  <a:pt x="11261" y="44732"/>
                </a:cubicBezTo>
                <a:lnTo>
                  <a:pt x="24243" y="38327"/>
                </a:lnTo>
                <a:cubicBezTo>
                  <a:pt x="24484" y="36571"/>
                  <a:pt x="24828" y="34849"/>
                  <a:pt x="25276" y="33093"/>
                </a:cubicBezTo>
                <a:cubicBezTo>
                  <a:pt x="25758" y="31337"/>
                  <a:pt x="26309" y="29649"/>
                  <a:pt x="26998" y="28031"/>
                </a:cubicBezTo>
                <a:lnTo>
                  <a:pt x="18974" y="16013"/>
                </a:lnTo>
                <a:cubicBezTo>
                  <a:pt x="16564" y="12397"/>
                  <a:pt x="17046" y="7610"/>
                  <a:pt x="20111" y="4546"/>
                </a:cubicBezTo>
                <a:lnTo>
                  <a:pt x="26722" y="-2066"/>
                </a:lnTo>
                <a:cubicBezTo>
                  <a:pt x="29787" y="-5131"/>
                  <a:pt x="34574" y="-5613"/>
                  <a:pt x="38190" y="-3203"/>
                </a:cubicBezTo>
                <a:lnTo>
                  <a:pt x="50242" y="4821"/>
                </a:lnTo>
                <a:cubicBezTo>
                  <a:pt x="53514" y="3478"/>
                  <a:pt x="56992" y="2514"/>
                  <a:pt x="60539" y="2032"/>
                </a:cubicBezTo>
                <a:lnTo>
                  <a:pt x="66944" y="-10916"/>
                </a:lnTo>
                <a:cubicBezTo>
                  <a:pt x="68872" y="-14807"/>
                  <a:pt x="73245" y="-16770"/>
                  <a:pt x="77447" y="-15668"/>
                </a:cubicBezTo>
                <a:close/>
                <a:moveTo>
                  <a:pt x="66255" y="28926"/>
                </a:moveTo>
                <a:cubicBezTo>
                  <a:pt x="57892" y="28926"/>
                  <a:pt x="51103" y="35716"/>
                  <a:pt x="51103" y="44078"/>
                </a:cubicBezTo>
                <a:cubicBezTo>
                  <a:pt x="51103" y="52441"/>
                  <a:pt x="57892" y="59230"/>
                  <a:pt x="66255" y="59230"/>
                </a:cubicBezTo>
                <a:cubicBezTo>
                  <a:pt x="74617" y="59230"/>
                  <a:pt x="81407" y="52441"/>
                  <a:pt x="81407" y="44078"/>
                </a:cubicBezTo>
                <a:cubicBezTo>
                  <a:pt x="81407" y="35716"/>
                  <a:pt x="74617" y="28926"/>
                  <a:pt x="66255" y="28926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0" name="Text 38"/>
          <p:cNvSpPr/>
          <p:nvPr/>
        </p:nvSpPr>
        <p:spPr>
          <a:xfrm>
            <a:off x="1093137" y="3896503"/>
            <a:ext cx="890377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Capability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64200" y="4372547"/>
            <a:ext cx="3420460" cy="81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Извлечённая функциональная возможность инструмента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64200" y="5324633"/>
            <a:ext cx="3349935" cy="317362"/>
          </a:xfrm>
          <a:custGeom>
            <a:avLst/>
            <a:gdLst/>
            <a:ahLst/>
            <a:cxnLst/>
            <a:rect l="l" t="t" r="r" b="b"/>
            <a:pathLst>
              <a:path w="3349935" h="317362">
                <a:moveTo>
                  <a:pt x="35262" y="0"/>
                </a:moveTo>
                <a:lnTo>
                  <a:pt x="3314673" y="0"/>
                </a:lnTo>
                <a:cubicBezTo>
                  <a:pt x="3334148" y="0"/>
                  <a:pt x="3349935" y="15787"/>
                  <a:pt x="3349935" y="35262"/>
                </a:cubicBezTo>
                <a:lnTo>
                  <a:pt x="3349935" y="282100"/>
                </a:lnTo>
                <a:cubicBezTo>
                  <a:pt x="3349935" y="301575"/>
                  <a:pt x="3334148" y="317362"/>
                  <a:pt x="3314673" y="317362"/>
                </a:cubicBezTo>
                <a:lnTo>
                  <a:pt x="35262" y="317362"/>
                </a:lnTo>
                <a:cubicBezTo>
                  <a:pt x="15787" y="317362"/>
                  <a:pt x="0" y="301575"/>
                  <a:pt x="0" y="282100"/>
                </a:cubicBezTo>
                <a:lnTo>
                  <a:pt x="0" y="35262"/>
                </a:lnTo>
                <a:cubicBezTo>
                  <a:pt x="0" y="15800"/>
                  <a:pt x="15800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69987" y="5395158"/>
            <a:ext cx="3200069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capability_id, artifact_id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64200" y="5712521"/>
            <a:ext cx="3349935" cy="317362"/>
          </a:xfrm>
          <a:custGeom>
            <a:avLst/>
            <a:gdLst/>
            <a:ahLst/>
            <a:cxnLst/>
            <a:rect l="l" t="t" r="r" b="b"/>
            <a:pathLst>
              <a:path w="3349935" h="317362">
                <a:moveTo>
                  <a:pt x="35262" y="0"/>
                </a:moveTo>
                <a:lnTo>
                  <a:pt x="3314673" y="0"/>
                </a:lnTo>
                <a:cubicBezTo>
                  <a:pt x="3334148" y="0"/>
                  <a:pt x="3349935" y="15787"/>
                  <a:pt x="3349935" y="35262"/>
                </a:cubicBezTo>
                <a:lnTo>
                  <a:pt x="3349935" y="282100"/>
                </a:lnTo>
                <a:cubicBezTo>
                  <a:pt x="3349935" y="301575"/>
                  <a:pt x="3334148" y="317362"/>
                  <a:pt x="3314673" y="317362"/>
                </a:cubicBezTo>
                <a:lnTo>
                  <a:pt x="35262" y="317362"/>
                </a:lnTo>
                <a:cubicBezTo>
                  <a:pt x="15787" y="317362"/>
                  <a:pt x="0" y="301575"/>
                  <a:pt x="0" y="282100"/>
                </a:cubicBezTo>
                <a:lnTo>
                  <a:pt x="0" y="35262"/>
                </a:lnTo>
                <a:cubicBezTo>
                  <a:pt x="0" y="15800"/>
                  <a:pt x="15800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69987" y="5783046"/>
            <a:ext cx="3200069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name, description, evidence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246511" y="3632035"/>
            <a:ext cx="3720191" cy="2574161"/>
          </a:xfrm>
          <a:custGeom>
            <a:avLst/>
            <a:gdLst/>
            <a:ahLst/>
            <a:cxnLst/>
            <a:rect l="l" t="t" r="r" b="b"/>
            <a:pathLst>
              <a:path w="3720191" h="2574161">
                <a:moveTo>
                  <a:pt x="0" y="0"/>
                </a:moveTo>
                <a:lnTo>
                  <a:pt x="3649659" y="0"/>
                </a:lnTo>
                <a:cubicBezTo>
                  <a:pt x="3688613" y="0"/>
                  <a:pt x="3720191" y="31578"/>
                  <a:pt x="3720191" y="70532"/>
                </a:cubicBezTo>
                <a:lnTo>
                  <a:pt x="3720191" y="2503629"/>
                </a:lnTo>
                <a:cubicBezTo>
                  <a:pt x="3720191" y="2542582"/>
                  <a:pt x="3688613" y="2574161"/>
                  <a:pt x="3649659" y="2574161"/>
                </a:cubicBezTo>
                <a:lnTo>
                  <a:pt x="0" y="2574161"/>
                </a:lnTo>
                <a:lnTo>
                  <a:pt x="0" y="0"/>
                </a:lnTo>
                <a:close/>
              </a:path>
            </a:pathLst>
          </a:custGeom>
          <a:solidFill>
            <a:srgbClr val="2C3036">
              <a:alpha val="5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246511" y="3632035"/>
            <a:ext cx="35262" cy="2574161"/>
          </a:xfrm>
          <a:custGeom>
            <a:avLst/>
            <a:gdLst/>
            <a:ahLst/>
            <a:cxnLst/>
            <a:rect l="l" t="t" r="r" b="b"/>
            <a:pathLst>
              <a:path w="35262" h="2574161">
                <a:moveTo>
                  <a:pt x="0" y="0"/>
                </a:moveTo>
                <a:lnTo>
                  <a:pt x="35262" y="0"/>
                </a:lnTo>
                <a:lnTo>
                  <a:pt x="35262" y="2574161"/>
                </a:lnTo>
                <a:lnTo>
                  <a:pt x="0" y="2574161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8" name="Shape 46"/>
          <p:cNvSpPr/>
          <p:nvPr/>
        </p:nvSpPr>
        <p:spPr>
          <a:xfrm>
            <a:off x="4440454" y="3808347"/>
            <a:ext cx="423150" cy="423150"/>
          </a:xfrm>
          <a:custGeom>
            <a:avLst/>
            <a:gdLst/>
            <a:ahLst/>
            <a:cxnLst/>
            <a:rect l="l" t="t" r="r" b="b"/>
            <a:pathLst>
              <a:path w="423150" h="423150">
                <a:moveTo>
                  <a:pt x="70526" y="0"/>
                </a:moveTo>
                <a:lnTo>
                  <a:pt x="352623" y="0"/>
                </a:lnTo>
                <a:cubicBezTo>
                  <a:pt x="391548" y="0"/>
                  <a:pt x="423150" y="31602"/>
                  <a:pt x="423150" y="70526"/>
                </a:cubicBezTo>
                <a:lnTo>
                  <a:pt x="423150" y="352623"/>
                </a:lnTo>
                <a:cubicBezTo>
                  <a:pt x="423150" y="391574"/>
                  <a:pt x="391574" y="423150"/>
                  <a:pt x="352623" y="423150"/>
                </a:cubicBezTo>
                <a:lnTo>
                  <a:pt x="70526" y="423150"/>
                </a:lnTo>
                <a:cubicBezTo>
                  <a:pt x="31602" y="423150"/>
                  <a:pt x="0" y="391548"/>
                  <a:pt x="0" y="352623"/>
                </a:cubicBezTo>
                <a:lnTo>
                  <a:pt x="0" y="70526"/>
                </a:lnTo>
                <a:cubicBezTo>
                  <a:pt x="0" y="31602"/>
                  <a:pt x="31602" y="0"/>
                  <a:pt x="70526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563873" y="3931766"/>
            <a:ext cx="176312" cy="176312"/>
          </a:xfrm>
          <a:custGeom>
            <a:avLst/>
            <a:gdLst/>
            <a:ahLst/>
            <a:cxnLst/>
            <a:rect l="l" t="t" r="r" b="b"/>
            <a:pathLst>
              <a:path w="176312" h="176312">
                <a:moveTo>
                  <a:pt x="88156" y="0"/>
                </a:moveTo>
                <a:cubicBezTo>
                  <a:pt x="89740" y="0"/>
                  <a:pt x="91324" y="344"/>
                  <a:pt x="92771" y="999"/>
                </a:cubicBezTo>
                <a:lnTo>
                  <a:pt x="157648" y="28513"/>
                </a:lnTo>
                <a:cubicBezTo>
                  <a:pt x="165224" y="31716"/>
                  <a:pt x="170871" y="39188"/>
                  <a:pt x="170837" y="48210"/>
                </a:cubicBezTo>
                <a:cubicBezTo>
                  <a:pt x="170665" y="82371"/>
                  <a:pt x="156615" y="144872"/>
                  <a:pt x="97282" y="173282"/>
                </a:cubicBezTo>
                <a:cubicBezTo>
                  <a:pt x="91531" y="176037"/>
                  <a:pt x="84850" y="176037"/>
                  <a:pt x="79100" y="173282"/>
                </a:cubicBezTo>
                <a:cubicBezTo>
                  <a:pt x="19732" y="144872"/>
                  <a:pt x="5716" y="82371"/>
                  <a:pt x="5544" y="48210"/>
                </a:cubicBezTo>
                <a:cubicBezTo>
                  <a:pt x="5510" y="39188"/>
                  <a:pt x="11157" y="31716"/>
                  <a:pt x="18733" y="28513"/>
                </a:cubicBezTo>
                <a:lnTo>
                  <a:pt x="83576" y="999"/>
                </a:lnTo>
                <a:cubicBezTo>
                  <a:pt x="85023" y="344"/>
                  <a:pt x="86572" y="0"/>
                  <a:pt x="88156" y="0"/>
                </a:cubicBezTo>
                <a:close/>
                <a:moveTo>
                  <a:pt x="88156" y="23003"/>
                </a:moveTo>
                <a:lnTo>
                  <a:pt x="88156" y="153206"/>
                </a:lnTo>
                <a:cubicBezTo>
                  <a:pt x="135678" y="130203"/>
                  <a:pt x="148454" y="79237"/>
                  <a:pt x="148764" y="48727"/>
                </a:cubicBezTo>
                <a:lnTo>
                  <a:pt x="88156" y="23038"/>
                </a:lnTo>
                <a:lnTo>
                  <a:pt x="88156" y="23038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50" name="Text 48"/>
          <p:cNvSpPr/>
          <p:nvPr/>
        </p:nvSpPr>
        <p:spPr>
          <a:xfrm>
            <a:off x="4969392" y="3896503"/>
            <a:ext cx="1366421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MITRE Mapping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440454" y="4372547"/>
            <a:ext cx="3420460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Результат сопоставления capability с MITRE ATT&amp;CK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440454" y="4936746"/>
            <a:ext cx="3349935" cy="317362"/>
          </a:xfrm>
          <a:custGeom>
            <a:avLst/>
            <a:gdLst/>
            <a:ahLst/>
            <a:cxnLst/>
            <a:rect l="l" t="t" r="r" b="b"/>
            <a:pathLst>
              <a:path w="3349935" h="317362">
                <a:moveTo>
                  <a:pt x="35262" y="0"/>
                </a:moveTo>
                <a:lnTo>
                  <a:pt x="3314673" y="0"/>
                </a:lnTo>
                <a:cubicBezTo>
                  <a:pt x="3334148" y="0"/>
                  <a:pt x="3349935" y="15787"/>
                  <a:pt x="3349935" y="35262"/>
                </a:cubicBezTo>
                <a:lnTo>
                  <a:pt x="3349935" y="282100"/>
                </a:lnTo>
                <a:cubicBezTo>
                  <a:pt x="3349935" y="301575"/>
                  <a:pt x="3334148" y="317362"/>
                  <a:pt x="3314673" y="317362"/>
                </a:cubicBezTo>
                <a:lnTo>
                  <a:pt x="35262" y="317362"/>
                </a:lnTo>
                <a:cubicBezTo>
                  <a:pt x="15787" y="317362"/>
                  <a:pt x="0" y="301575"/>
                  <a:pt x="0" y="282100"/>
                </a:cubicBezTo>
                <a:lnTo>
                  <a:pt x="0" y="35262"/>
                </a:lnTo>
                <a:cubicBezTo>
                  <a:pt x="0" y="15800"/>
                  <a:pt x="15800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4546242" y="5007271"/>
            <a:ext cx="3200069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mapping_id, capability_id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440454" y="5324633"/>
            <a:ext cx="3349935" cy="317362"/>
          </a:xfrm>
          <a:custGeom>
            <a:avLst/>
            <a:gdLst/>
            <a:ahLst/>
            <a:cxnLst/>
            <a:rect l="l" t="t" r="r" b="b"/>
            <a:pathLst>
              <a:path w="3349935" h="317362">
                <a:moveTo>
                  <a:pt x="35262" y="0"/>
                </a:moveTo>
                <a:lnTo>
                  <a:pt x="3314673" y="0"/>
                </a:lnTo>
                <a:cubicBezTo>
                  <a:pt x="3334148" y="0"/>
                  <a:pt x="3349935" y="15787"/>
                  <a:pt x="3349935" y="35262"/>
                </a:cubicBezTo>
                <a:lnTo>
                  <a:pt x="3349935" y="282100"/>
                </a:lnTo>
                <a:cubicBezTo>
                  <a:pt x="3349935" y="301575"/>
                  <a:pt x="3334148" y="317362"/>
                  <a:pt x="3314673" y="317362"/>
                </a:cubicBezTo>
                <a:lnTo>
                  <a:pt x="35262" y="317362"/>
                </a:lnTo>
                <a:cubicBezTo>
                  <a:pt x="15787" y="317362"/>
                  <a:pt x="0" y="301575"/>
                  <a:pt x="0" y="282100"/>
                </a:cubicBezTo>
                <a:lnTo>
                  <a:pt x="0" y="35262"/>
                </a:lnTo>
                <a:cubicBezTo>
                  <a:pt x="0" y="15800"/>
                  <a:pt x="15800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4546242" y="5395158"/>
            <a:ext cx="3200069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tactic, technique, ttp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440454" y="5712521"/>
            <a:ext cx="3349935" cy="317362"/>
          </a:xfrm>
          <a:custGeom>
            <a:avLst/>
            <a:gdLst/>
            <a:ahLst/>
            <a:cxnLst/>
            <a:rect l="l" t="t" r="r" b="b"/>
            <a:pathLst>
              <a:path w="3349935" h="317362">
                <a:moveTo>
                  <a:pt x="35262" y="0"/>
                </a:moveTo>
                <a:lnTo>
                  <a:pt x="3314673" y="0"/>
                </a:lnTo>
                <a:cubicBezTo>
                  <a:pt x="3334148" y="0"/>
                  <a:pt x="3349935" y="15787"/>
                  <a:pt x="3349935" y="35262"/>
                </a:cubicBezTo>
                <a:lnTo>
                  <a:pt x="3349935" y="282100"/>
                </a:lnTo>
                <a:cubicBezTo>
                  <a:pt x="3349935" y="301575"/>
                  <a:pt x="3334148" y="317362"/>
                  <a:pt x="3314673" y="317362"/>
                </a:cubicBezTo>
                <a:lnTo>
                  <a:pt x="35262" y="317362"/>
                </a:lnTo>
                <a:cubicBezTo>
                  <a:pt x="15787" y="317362"/>
                  <a:pt x="0" y="301575"/>
                  <a:pt x="0" y="282100"/>
                </a:cubicBezTo>
                <a:lnTo>
                  <a:pt x="0" y="35262"/>
                </a:lnTo>
                <a:cubicBezTo>
                  <a:pt x="0" y="15800"/>
                  <a:pt x="15800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4546242" y="5783046"/>
            <a:ext cx="3200069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confidence, evidence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122766" y="3632035"/>
            <a:ext cx="3720191" cy="2574161"/>
          </a:xfrm>
          <a:custGeom>
            <a:avLst/>
            <a:gdLst/>
            <a:ahLst/>
            <a:cxnLst/>
            <a:rect l="l" t="t" r="r" b="b"/>
            <a:pathLst>
              <a:path w="3720191" h="2574161">
                <a:moveTo>
                  <a:pt x="0" y="0"/>
                </a:moveTo>
                <a:lnTo>
                  <a:pt x="3649659" y="0"/>
                </a:lnTo>
                <a:cubicBezTo>
                  <a:pt x="3688613" y="0"/>
                  <a:pt x="3720191" y="31578"/>
                  <a:pt x="3720191" y="70532"/>
                </a:cubicBezTo>
                <a:lnTo>
                  <a:pt x="3720191" y="2503629"/>
                </a:lnTo>
                <a:cubicBezTo>
                  <a:pt x="3720191" y="2542582"/>
                  <a:pt x="3688613" y="2574161"/>
                  <a:pt x="3649659" y="2574161"/>
                </a:cubicBezTo>
                <a:lnTo>
                  <a:pt x="0" y="2574161"/>
                </a:lnTo>
                <a:lnTo>
                  <a:pt x="0" y="0"/>
                </a:lnTo>
                <a:close/>
              </a:path>
            </a:pathLst>
          </a:custGeom>
          <a:solidFill>
            <a:srgbClr val="2C3036">
              <a:alpha val="50196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122766" y="3632035"/>
            <a:ext cx="35262" cy="2574161"/>
          </a:xfrm>
          <a:custGeom>
            <a:avLst/>
            <a:gdLst/>
            <a:ahLst/>
            <a:cxnLst/>
            <a:rect l="l" t="t" r="r" b="b"/>
            <a:pathLst>
              <a:path w="35262" h="2574161">
                <a:moveTo>
                  <a:pt x="0" y="0"/>
                </a:moveTo>
                <a:lnTo>
                  <a:pt x="35262" y="0"/>
                </a:lnTo>
                <a:lnTo>
                  <a:pt x="35262" y="2574161"/>
                </a:lnTo>
                <a:lnTo>
                  <a:pt x="0" y="2574161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60" name="Shape 58"/>
          <p:cNvSpPr/>
          <p:nvPr/>
        </p:nvSpPr>
        <p:spPr>
          <a:xfrm>
            <a:off x="8316709" y="3808347"/>
            <a:ext cx="423150" cy="423150"/>
          </a:xfrm>
          <a:custGeom>
            <a:avLst/>
            <a:gdLst/>
            <a:ahLst/>
            <a:cxnLst/>
            <a:rect l="l" t="t" r="r" b="b"/>
            <a:pathLst>
              <a:path w="423150" h="423150">
                <a:moveTo>
                  <a:pt x="70526" y="0"/>
                </a:moveTo>
                <a:lnTo>
                  <a:pt x="352623" y="0"/>
                </a:lnTo>
                <a:cubicBezTo>
                  <a:pt x="391548" y="0"/>
                  <a:pt x="423150" y="31602"/>
                  <a:pt x="423150" y="70526"/>
                </a:cubicBezTo>
                <a:lnTo>
                  <a:pt x="423150" y="352623"/>
                </a:lnTo>
                <a:cubicBezTo>
                  <a:pt x="423150" y="391574"/>
                  <a:pt x="391574" y="423150"/>
                  <a:pt x="352623" y="423150"/>
                </a:cubicBezTo>
                <a:lnTo>
                  <a:pt x="70526" y="423150"/>
                </a:lnTo>
                <a:cubicBezTo>
                  <a:pt x="31602" y="423150"/>
                  <a:pt x="0" y="391548"/>
                  <a:pt x="0" y="352623"/>
                </a:cubicBezTo>
                <a:lnTo>
                  <a:pt x="0" y="70526"/>
                </a:lnTo>
                <a:cubicBezTo>
                  <a:pt x="0" y="31602"/>
                  <a:pt x="31602" y="0"/>
                  <a:pt x="70526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29108" y="3931766"/>
            <a:ext cx="198351" cy="176312"/>
          </a:xfrm>
          <a:custGeom>
            <a:avLst/>
            <a:gdLst/>
            <a:ahLst/>
            <a:cxnLst/>
            <a:rect l="l" t="t" r="r" b="b"/>
            <a:pathLst>
              <a:path w="198351" h="176312">
                <a:moveTo>
                  <a:pt x="99176" y="22039"/>
                </a:moveTo>
                <a:cubicBezTo>
                  <a:pt x="135678" y="22039"/>
                  <a:pt x="165293" y="51654"/>
                  <a:pt x="165293" y="88156"/>
                </a:cubicBezTo>
                <a:cubicBezTo>
                  <a:pt x="165293" y="124658"/>
                  <a:pt x="135678" y="154273"/>
                  <a:pt x="99176" y="154273"/>
                </a:cubicBezTo>
                <a:cubicBezTo>
                  <a:pt x="76723" y="154273"/>
                  <a:pt x="56854" y="143082"/>
                  <a:pt x="44905" y="125932"/>
                </a:cubicBezTo>
                <a:cubicBezTo>
                  <a:pt x="41427" y="120939"/>
                  <a:pt x="34539" y="119734"/>
                  <a:pt x="29546" y="123212"/>
                </a:cubicBezTo>
                <a:cubicBezTo>
                  <a:pt x="24553" y="126690"/>
                  <a:pt x="23348" y="133577"/>
                  <a:pt x="26826" y="138570"/>
                </a:cubicBezTo>
                <a:cubicBezTo>
                  <a:pt x="42735" y="161367"/>
                  <a:pt x="69216" y="176312"/>
                  <a:pt x="99176" y="176312"/>
                </a:cubicBezTo>
                <a:cubicBezTo>
                  <a:pt x="147868" y="176312"/>
                  <a:pt x="187332" y="136849"/>
                  <a:pt x="187332" y="88156"/>
                </a:cubicBezTo>
                <a:cubicBezTo>
                  <a:pt x="187332" y="39464"/>
                  <a:pt x="147868" y="0"/>
                  <a:pt x="99176" y="0"/>
                </a:cubicBezTo>
                <a:cubicBezTo>
                  <a:pt x="69664" y="0"/>
                  <a:pt x="43562" y="14498"/>
                  <a:pt x="27549" y="36743"/>
                </a:cubicBezTo>
                <a:lnTo>
                  <a:pt x="27549" y="27549"/>
                </a:lnTo>
                <a:cubicBezTo>
                  <a:pt x="27549" y="21454"/>
                  <a:pt x="22624" y="16529"/>
                  <a:pt x="16529" y="16529"/>
                </a:cubicBezTo>
                <a:cubicBezTo>
                  <a:pt x="10434" y="16529"/>
                  <a:pt x="5510" y="21454"/>
                  <a:pt x="5510" y="27549"/>
                </a:cubicBezTo>
                <a:lnTo>
                  <a:pt x="5510" y="66117"/>
                </a:lnTo>
                <a:cubicBezTo>
                  <a:pt x="5510" y="72212"/>
                  <a:pt x="10434" y="77137"/>
                  <a:pt x="16529" y="77137"/>
                </a:cubicBezTo>
                <a:lnTo>
                  <a:pt x="25001" y="77137"/>
                </a:lnTo>
                <a:cubicBezTo>
                  <a:pt x="25173" y="77137"/>
                  <a:pt x="25345" y="77137"/>
                  <a:pt x="25517" y="77137"/>
                </a:cubicBezTo>
                <a:lnTo>
                  <a:pt x="55132" y="77137"/>
                </a:lnTo>
                <a:cubicBezTo>
                  <a:pt x="61227" y="77137"/>
                  <a:pt x="66152" y="72212"/>
                  <a:pt x="66152" y="66117"/>
                </a:cubicBezTo>
                <a:cubicBezTo>
                  <a:pt x="66152" y="60022"/>
                  <a:pt x="61227" y="55098"/>
                  <a:pt x="55132" y="55098"/>
                </a:cubicBezTo>
                <a:lnTo>
                  <a:pt x="41943" y="55098"/>
                </a:lnTo>
                <a:cubicBezTo>
                  <a:pt x="53341" y="35331"/>
                  <a:pt x="74726" y="22039"/>
                  <a:pt x="99176" y="22039"/>
                </a:cubicBezTo>
                <a:close/>
                <a:moveTo>
                  <a:pt x="107440" y="52343"/>
                </a:moveTo>
                <a:cubicBezTo>
                  <a:pt x="107440" y="47763"/>
                  <a:pt x="103756" y="44078"/>
                  <a:pt x="99176" y="44078"/>
                </a:cubicBezTo>
                <a:cubicBezTo>
                  <a:pt x="94596" y="44078"/>
                  <a:pt x="90911" y="47763"/>
                  <a:pt x="90911" y="52343"/>
                </a:cubicBezTo>
                <a:lnTo>
                  <a:pt x="90911" y="88156"/>
                </a:lnTo>
                <a:cubicBezTo>
                  <a:pt x="90911" y="90360"/>
                  <a:pt x="91772" y="92461"/>
                  <a:pt x="93322" y="94010"/>
                </a:cubicBezTo>
                <a:lnTo>
                  <a:pt x="118116" y="118804"/>
                </a:lnTo>
                <a:cubicBezTo>
                  <a:pt x="121352" y="122041"/>
                  <a:pt x="126587" y="122041"/>
                  <a:pt x="129789" y="118804"/>
                </a:cubicBezTo>
                <a:cubicBezTo>
                  <a:pt x="132992" y="115567"/>
                  <a:pt x="133026" y="110333"/>
                  <a:pt x="129789" y="107130"/>
                </a:cubicBezTo>
                <a:lnTo>
                  <a:pt x="107406" y="84747"/>
                </a:lnTo>
                <a:lnTo>
                  <a:pt x="107406" y="52343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62" name="Text 60"/>
          <p:cNvSpPr/>
          <p:nvPr/>
        </p:nvSpPr>
        <p:spPr>
          <a:xfrm>
            <a:off x="8845646" y="3896503"/>
            <a:ext cx="1516286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Classification Run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316709" y="4372547"/>
            <a:ext cx="3420460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Информация о запуске классификации для аудита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316709" y="4936746"/>
            <a:ext cx="3349935" cy="317362"/>
          </a:xfrm>
          <a:custGeom>
            <a:avLst/>
            <a:gdLst/>
            <a:ahLst/>
            <a:cxnLst/>
            <a:rect l="l" t="t" r="r" b="b"/>
            <a:pathLst>
              <a:path w="3349935" h="317362">
                <a:moveTo>
                  <a:pt x="35262" y="0"/>
                </a:moveTo>
                <a:lnTo>
                  <a:pt x="3314673" y="0"/>
                </a:lnTo>
                <a:cubicBezTo>
                  <a:pt x="3334148" y="0"/>
                  <a:pt x="3349935" y="15787"/>
                  <a:pt x="3349935" y="35262"/>
                </a:cubicBezTo>
                <a:lnTo>
                  <a:pt x="3349935" y="282100"/>
                </a:lnTo>
                <a:cubicBezTo>
                  <a:pt x="3349935" y="301575"/>
                  <a:pt x="3334148" y="317362"/>
                  <a:pt x="3314673" y="317362"/>
                </a:cubicBezTo>
                <a:lnTo>
                  <a:pt x="35262" y="317362"/>
                </a:lnTo>
                <a:cubicBezTo>
                  <a:pt x="15787" y="317362"/>
                  <a:pt x="0" y="301575"/>
                  <a:pt x="0" y="282100"/>
                </a:cubicBezTo>
                <a:lnTo>
                  <a:pt x="0" y="35262"/>
                </a:lnTo>
                <a:cubicBezTo>
                  <a:pt x="0" y="15800"/>
                  <a:pt x="15800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8422497" y="5007271"/>
            <a:ext cx="3200069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run_id, timestamp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316709" y="5324633"/>
            <a:ext cx="3349935" cy="317362"/>
          </a:xfrm>
          <a:custGeom>
            <a:avLst/>
            <a:gdLst/>
            <a:ahLst/>
            <a:cxnLst/>
            <a:rect l="l" t="t" r="r" b="b"/>
            <a:pathLst>
              <a:path w="3349935" h="317362">
                <a:moveTo>
                  <a:pt x="35262" y="0"/>
                </a:moveTo>
                <a:lnTo>
                  <a:pt x="3314673" y="0"/>
                </a:lnTo>
                <a:cubicBezTo>
                  <a:pt x="3334148" y="0"/>
                  <a:pt x="3349935" y="15787"/>
                  <a:pt x="3349935" y="35262"/>
                </a:cubicBezTo>
                <a:lnTo>
                  <a:pt x="3349935" y="282100"/>
                </a:lnTo>
                <a:cubicBezTo>
                  <a:pt x="3349935" y="301575"/>
                  <a:pt x="3334148" y="317362"/>
                  <a:pt x="3314673" y="317362"/>
                </a:cubicBezTo>
                <a:lnTo>
                  <a:pt x="35262" y="317362"/>
                </a:lnTo>
                <a:cubicBezTo>
                  <a:pt x="15787" y="317362"/>
                  <a:pt x="0" y="301575"/>
                  <a:pt x="0" y="282100"/>
                </a:cubicBezTo>
                <a:lnTo>
                  <a:pt x="0" y="35262"/>
                </a:lnTo>
                <a:cubicBezTo>
                  <a:pt x="0" y="15800"/>
                  <a:pt x="15800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8422497" y="5395158"/>
            <a:ext cx="3200069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rule_version, model_version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316709" y="5712521"/>
            <a:ext cx="3349935" cy="317362"/>
          </a:xfrm>
          <a:custGeom>
            <a:avLst/>
            <a:gdLst/>
            <a:ahLst/>
            <a:cxnLst/>
            <a:rect l="l" t="t" r="r" b="b"/>
            <a:pathLst>
              <a:path w="3349935" h="317362">
                <a:moveTo>
                  <a:pt x="35262" y="0"/>
                </a:moveTo>
                <a:lnTo>
                  <a:pt x="3314673" y="0"/>
                </a:lnTo>
                <a:cubicBezTo>
                  <a:pt x="3334148" y="0"/>
                  <a:pt x="3349935" y="15787"/>
                  <a:pt x="3349935" y="35262"/>
                </a:cubicBezTo>
                <a:lnTo>
                  <a:pt x="3349935" y="282100"/>
                </a:lnTo>
                <a:cubicBezTo>
                  <a:pt x="3349935" y="301575"/>
                  <a:pt x="3334148" y="317362"/>
                  <a:pt x="3314673" y="317362"/>
                </a:cubicBezTo>
                <a:lnTo>
                  <a:pt x="35262" y="317362"/>
                </a:lnTo>
                <a:cubicBezTo>
                  <a:pt x="15787" y="317362"/>
                  <a:pt x="0" y="301575"/>
                  <a:pt x="0" y="282100"/>
                </a:cubicBezTo>
                <a:lnTo>
                  <a:pt x="0" y="35262"/>
                </a:lnTo>
                <a:cubicBezTo>
                  <a:pt x="0" y="15800"/>
                  <a:pt x="15800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8422497" y="5783046"/>
            <a:ext cx="3200069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parameters, stats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357033" y="6351653"/>
            <a:ext cx="11477935" cy="502490"/>
          </a:xfrm>
          <a:custGeom>
            <a:avLst/>
            <a:gdLst/>
            <a:ahLst/>
            <a:cxnLst/>
            <a:rect l="l" t="t" r="r" b="b"/>
            <a:pathLst>
              <a:path w="11477935" h="502490">
                <a:moveTo>
                  <a:pt x="70525" y="0"/>
                </a:moveTo>
                <a:lnTo>
                  <a:pt x="11407410" y="0"/>
                </a:lnTo>
                <a:cubicBezTo>
                  <a:pt x="11446360" y="0"/>
                  <a:pt x="11477935" y="31575"/>
                  <a:pt x="11477935" y="70525"/>
                </a:cubicBezTo>
                <a:lnTo>
                  <a:pt x="11477935" y="431966"/>
                </a:lnTo>
                <a:cubicBezTo>
                  <a:pt x="11477935" y="470915"/>
                  <a:pt x="11446360" y="502490"/>
                  <a:pt x="11407410" y="502490"/>
                </a:cubicBezTo>
                <a:lnTo>
                  <a:pt x="70525" y="502490"/>
                </a:lnTo>
                <a:cubicBezTo>
                  <a:pt x="31575" y="502490"/>
                  <a:pt x="0" y="470915"/>
                  <a:pt x="0" y="431966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24529" y="6514742"/>
            <a:ext cx="176312" cy="176312"/>
          </a:xfrm>
          <a:custGeom>
            <a:avLst/>
            <a:gdLst/>
            <a:ahLst/>
            <a:cxnLst/>
            <a:rect l="l" t="t" r="r" b="b"/>
            <a:pathLst>
              <a:path w="176312" h="176312">
                <a:moveTo>
                  <a:pt x="88156" y="176312"/>
                </a:moveTo>
                <a:cubicBezTo>
                  <a:pt x="136811" y="176312"/>
                  <a:pt x="176312" y="136811"/>
                  <a:pt x="176312" y="88156"/>
                </a:cubicBezTo>
                <a:cubicBezTo>
                  <a:pt x="176312" y="39501"/>
                  <a:pt x="136811" y="0"/>
                  <a:pt x="88156" y="0"/>
                </a:cubicBezTo>
                <a:cubicBezTo>
                  <a:pt x="39501" y="0"/>
                  <a:pt x="0" y="39501"/>
                  <a:pt x="0" y="88156"/>
                </a:cubicBezTo>
                <a:cubicBezTo>
                  <a:pt x="0" y="136811"/>
                  <a:pt x="39501" y="176312"/>
                  <a:pt x="88156" y="176312"/>
                </a:cubicBezTo>
                <a:close/>
                <a:moveTo>
                  <a:pt x="77137" y="55098"/>
                </a:moveTo>
                <a:cubicBezTo>
                  <a:pt x="77137" y="49016"/>
                  <a:pt x="82074" y="44078"/>
                  <a:pt x="88156" y="44078"/>
                </a:cubicBezTo>
                <a:cubicBezTo>
                  <a:pt x="94238" y="44078"/>
                  <a:pt x="99176" y="49016"/>
                  <a:pt x="99176" y="55098"/>
                </a:cubicBezTo>
                <a:cubicBezTo>
                  <a:pt x="99176" y="61179"/>
                  <a:pt x="94238" y="66117"/>
                  <a:pt x="88156" y="66117"/>
                </a:cubicBezTo>
                <a:cubicBezTo>
                  <a:pt x="82074" y="66117"/>
                  <a:pt x="77137" y="61179"/>
                  <a:pt x="77137" y="55098"/>
                </a:cubicBezTo>
                <a:close/>
                <a:moveTo>
                  <a:pt x="74382" y="77137"/>
                </a:moveTo>
                <a:lnTo>
                  <a:pt x="90911" y="77137"/>
                </a:lnTo>
                <a:cubicBezTo>
                  <a:pt x="95491" y="77137"/>
                  <a:pt x="99176" y="80821"/>
                  <a:pt x="99176" y="85401"/>
                </a:cubicBezTo>
                <a:lnTo>
                  <a:pt x="99176" y="115705"/>
                </a:lnTo>
                <a:lnTo>
                  <a:pt x="101931" y="115705"/>
                </a:lnTo>
                <a:cubicBezTo>
                  <a:pt x="106511" y="115705"/>
                  <a:pt x="110195" y="119390"/>
                  <a:pt x="110195" y="123970"/>
                </a:cubicBezTo>
                <a:cubicBezTo>
                  <a:pt x="110195" y="128550"/>
                  <a:pt x="106511" y="132234"/>
                  <a:pt x="101931" y="132234"/>
                </a:cubicBezTo>
                <a:lnTo>
                  <a:pt x="74382" y="132234"/>
                </a:lnTo>
                <a:cubicBezTo>
                  <a:pt x="69802" y="132234"/>
                  <a:pt x="66117" y="128550"/>
                  <a:pt x="66117" y="123970"/>
                </a:cubicBezTo>
                <a:cubicBezTo>
                  <a:pt x="66117" y="119390"/>
                  <a:pt x="69802" y="115705"/>
                  <a:pt x="74382" y="115705"/>
                </a:cubicBezTo>
                <a:lnTo>
                  <a:pt x="82646" y="115705"/>
                </a:lnTo>
                <a:lnTo>
                  <a:pt x="82646" y="93666"/>
                </a:lnTo>
                <a:lnTo>
                  <a:pt x="74382" y="93666"/>
                </a:lnTo>
                <a:cubicBezTo>
                  <a:pt x="69802" y="93666"/>
                  <a:pt x="66117" y="89981"/>
                  <a:pt x="66117" y="85401"/>
                </a:cubicBezTo>
                <a:cubicBezTo>
                  <a:pt x="66117" y="80821"/>
                  <a:pt x="69802" y="77137"/>
                  <a:pt x="74382" y="77137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72" name="Text 70"/>
          <p:cNvSpPr/>
          <p:nvPr/>
        </p:nvSpPr>
        <p:spPr>
          <a:xfrm>
            <a:off x="863931" y="6497111"/>
            <a:ext cx="5650811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Модель задаёт структуру хранилища, формат ETL и формат будущего интерфейса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14350" y="514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419100"/>
            <a:ext cx="437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Программная архитектура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525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Многослойная архитектура с чётким разделением ответственности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414463"/>
            <a:ext cx="1800225" cy="1571625"/>
          </a:xfrm>
          <a:custGeom>
            <a:avLst/>
            <a:gdLst/>
            <a:ahLst/>
            <a:cxnLst/>
            <a:rect l="l" t="t" r="r" b="b"/>
            <a:pathLst>
              <a:path w="1800225" h="1571625">
                <a:moveTo>
                  <a:pt x="76192" y="0"/>
                </a:moveTo>
                <a:lnTo>
                  <a:pt x="1724033" y="0"/>
                </a:lnTo>
                <a:cubicBezTo>
                  <a:pt x="1766113" y="0"/>
                  <a:pt x="1800225" y="34112"/>
                  <a:pt x="1800225" y="76192"/>
                </a:cubicBezTo>
                <a:lnTo>
                  <a:pt x="1800225" y="1495433"/>
                </a:lnTo>
                <a:cubicBezTo>
                  <a:pt x="1800225" y="1537513"/>
                  <a:pt x="1766113" y="1571625"/>
                  <a:pt x="1724033" y="1571625"/>
                </a:cubicBezTo>
                <a:lnTo>
                  <a:pt x="76192" y="1571625"/>
                </a:lnTo>
                <a:cubicBezTo>
                  <a:pt x="34112" y="1571625"/>
                  <a:pt x="0" y="1537513"/>
                  <a:pt x="0" y="1495433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7275" y="1571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47465" y="1666875"/>
            <a:ext cx="276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4825" y="2143125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Sources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9587" y="2447925"/>
            <a:ext cx="1552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GitHub, RSS, Packet Storm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309813" y="1414463"/>
            <a:ext cx="1800225" cy="1571625"/>
          </a:xfrm>
          <a:custGeom>
            <a:avLst/>
            <a:gdLst/>
            <a:ahLst/>
            <a:cxnLst/>
            <a:rect l="l" t="t" r="r" b="b"/>
            <a:pathLst>
              <a:path w="1800225" h="1571625">
                <a:moveTo>
                  <a:pt x="76192" y="0"/>
                </a:moveTo>
                <a:lnTo>
                  <a:pt x="1724033" y="0"/>
                </a:lnTo>
                <a:cubicBezTo>
                  <a:pt x="1766113" y="0"/>
                  <a:pt x="1800225" y="34112"/>
                  <a:pt x="1800225" y="76192"/>
                </a:cubicBezTo>
                <a:lnTo>
                  <a:pt x="1800225" y="1495433"/>
                </a:lnTo>
                <a:cubicBezTo>
                  <a:pt x="1800225" y="1537513"/>
                  <a:pt x="1766113" y="1571625"/>
                  <a:pt x="1724033" y="1571625"/>
                </a:cubicBezTo>
                <a:lnTo>
                  <a:pt x="76192" y="1571625"/>
                </a:lnTo>
                <a:cubicBezTo>
                  <a:pt x="34112" y="1571625"/>
                  <a:pt x="0" y="1537513"/>
                  <a:pt x="0" y="1495433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81325" y="1571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055367" y="1666875"/>
            <a:ext cx="30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28875" y="2143125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33638" y="2447925"/>
            <a:ext cx="1552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Сбор, импорт, нормализация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33863" y="1414463"/>
            <a:ext cx="1800225" cy="1571625"/>
          </a:xfrm>
          <a:custGeom>
            <a:avLst/>
            <a:gdLst/>
            <a:ahLst/>
            <a:cxnLst/>
            <a:rect l="l" t="t" r="r" b="b"/>
            <a:pathLst>
              <a:path w="1800225" h="1571625">
                <a:moveTo>
                  <a:pt x="76192" y="0"/>
                </a:moveTo>
                <a:lnTo>
                  <a:pt x="1724033" y="0"/>
                </a:lnTo>
                <a:cubicBezTo>
                  <a:pt x="1766113" y="0"/>
                  <a:pt x="1800225" y="34112"/>
                  <a:pt x="1800225" y="76192"/>
                </a:cubicBezTo>
                <a:lnTo>
                  <a:pt x="1800225" y="1495433"/>
                </a:lnTo>
                <a:cubicBezTo>
                  <a:pt x="1800225" y="1537513"/>
                  <a:pt x="1766113" y="1571625"/>
                  <a:pt x="1724033" y="1571625"/>
                </a:cubicBezTo>
                <a:lnTo>
                  <a:pt x="76192" y="1571625"/>
                </a:lnTo>
                <a:cubicBezTo>
                  <a:pt x="34112" y="1571625"/>
                  <a:pt x="0" y="1537513"/>
                  <a:pt x="0" y="1495433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05375" y="1571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976961" y="1666875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52925" y="2143125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Analytical Core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57688" y="2447925"/>
            <a:ext cx="1552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Извлечение, классификация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57913" y="1414463"/>
            <a:ext cx="1800225" cy="1571625"/>
          </a:xfrm>
          <a:custGeom>
            <a:avLst/>
            <a:gdLst/>
            <a:ahLst/>
            <a:cxnLst/>
            <a:rect l="l" t="t" r="r" b="b"/>
            <a:pathLst>
              <a:path w="1800225" h="1571625">
                <a:moveTo>
                  <a:pt x="76192" y="0"/>
                </a:moveTo>
                <a:lnTo>
                  <a:pt x="1724033" y="0"/>
                </a:lnTo>
                <a:cubicBezTo>
                  <a:pt x="1766113" y="0"/>
                  <a:pt x="1800225" y="34112"/>
                  <a:pt x="1800225" y="76192"/>
                </a:cubicBezTo>
                <a:lnTo>
                  <a:pt x="1800225" y="1495433"/>
                </a:lnTo>
                <a:cubicBezTo>
                  <a:pt x="1800225" y="1537513"/>
                  <a:pt x="1766113" y="1571625"/>
                  <a:pt x="1724033" y="1571625"/>
                </a:cubicBezTo>
                <a:lnTo>
                  <a:pt x="76192" y="1571625"/>
                </a:lnTo>
                <a:cubicBezTo>
                  <a:pt x="34112" y="1571625"/>
                  <a:pt x="0" y="1537513"/>
                  <a:pt x="0" y="1495433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29425" y="1571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901235" y="1666875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76975" y="2143125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Storage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81738" y="2447925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DuckDB, Arrow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081962" y="1414463"/>
            <a:ext cx="1800225" cy="1571625"/>
          </a:xfrm>
          <a:custGeom>
            <a:avLst/>
            <a:gdLst/>
            <a:ahLst/>
            <a:cxnLst/>
            <a:rect l="l" t="t" r="r" b="b"/>
            <a:pathLst>
              <a:path w="1800225" h="1571625">
                <a:moveTo>
                  <a:pt x="76192" y="0"/>
                </a:moveTo>
                <a:lnTo>
                  <a:pt x="1724033" y="0"/>
                </a:lnTo>
                <a:cubicBezTo>
                  <a:pt x="1766113" y="0"/>
                  <a:pt x="1800225" y="34112"/>
                  <a:pt x="1800225" y="76192"/>
                </a:cubicBezTo>
                <a:lnTo>
                  <a:pt x="1800225" y="1495433"/>
                </a:lnTo>
                <a:cubicBezTo>
                  <a:pt x="1800225" y="1537513"/>
                  <a:pt x="1766113" y="1571625"/>
                  <a:pt x="1724033" y="1571625"/>
                </a:cubicBezTo>
                <a:lnTo>
                  <a:pt x="76192" y="1571625"/>
                </a:lnTo>
                <a:cubicBezTo>
                  <a:pt x="34112" y="1571625"/>
                  <a:pt x="0" y="1537513"/>
                  <a:pt x="0" y="1495433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53475" y="1571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824243" y="1666875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01025" y="2143125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Service Layer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05788" y="2447925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Shiny, MCP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006013" y="1414463"/>
            <a:ext cx="1800225" cy="1571625"/>
          </a:xfrm>
          <a:custGeom>
            <a:avLst/>
            <a:gdLst/>
            <a:ahLst/>
            <a:cxnLst/>
            <a:rect l="l" t="t" r="r" b="b"/>
            <a:pathLst>
              <a:path w="1800225" h="1571625">
                <a:moveTo>
                  <a:pt x="76192" y="0"/>
                </a:moveTo>
                <a:lnTo>
                  <a:pt x="1724033" y="0"/>
                </a:lnTo>
                <a:cubicBezTo>
                  <a:pt x="1766113" y="0"/>
                  <a:pt x="1800225" y="34112"/>
                  <a:pt x="1800225" y="76192"/>
                </a:cubicBezTo>
                <a:lnTo>
                  <a:pt x="1800225" y="1495433"/>
                </a:lnTo>
                <a:cubicBezTo>
                  <a:pt x="1800225" y="1537513"/>
                  <a:pt x="1766113" y="1571625"/>
                  <a:pt x="1724033" y="1571625"/>
                </a:cubicBezTo>
                <a:lnTo>
                  <a:pt x="76192" y="1571625"/>
                </a:lnTo>
                <a:cubicBezTo>
                  <a:pt x="34112" y="1571625"/>
                  <a:pt x="0" y="1537513"/>
                  <a:pt x="0" y="1495433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677525" y="1571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0747846" y="1666875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125075" y="2143125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129838" y="2447925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Docker, compose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5763" y="3148013"/>
            <a:ext cx="11420475" cy="2619375"/>
          </a:xfrm>
          <a:custGeom>
            <a:avLst/>
            <a:gdLst/>
            <a:ahLst/>
            <a:cxnLst/>
            <a:rect l="l" t="t" r="r" b="b"/>
            <a:pathLst>
              <a:path w="11420475" h="2619375">
                <a:moveTo>
                  <a:pt x="76198" y="0"/>
                </a:moveTo>
                <a:lnTo>
                  <a:pt x="11344277" y="0"/>
                </a:lnTo>
                <a:cubicBezTo>
                  <a:pt x="11386360" y="0"/>
                  <a:pt x="11420475" y="34115"/>
                  <a:pt x="11420475" y="76198"/>
                </a:cubicBezTo>
                <a:lnTo>
                  <a:pt x="11420475" y="2543177"/>
                </a:lnTo>
                <a:cubicBezTo>
                  <a:pt x="11420475" y="2585260"/>
                  <a:pt x="11386360" y="2619375"/>
                  <a:pt x="11344277" y="2619375"/>
                </a:cubicBezTo>
                <a:lnTo>
                  <a:pt x="76198" y="2619375"/>
                </a:lnTo>
                <a:cubicBezTo>
                  <a:pt x="34115" y="2619375"/>
                  <a:pt x="0" y="2585260"/>
                  <a:pt x="0" y="25431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5361" y="37909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123727" y="402907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9" name="Text 37"/>
          <p:cNvSpPr/>
          <p:nvPr/>
        </p:nvSpPr>
        <p:spPr>
          <a:xfrm>
            <a:off x="819671" y="4667250"/>
            <a:ext cx="85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Источники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данных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940347" y="434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1" name="Shape 39"/>
          <p:cNvSpPr/>
          <p:nvPr/>
        </p:nvSpPr>
        <p:spPr>
          <a:xfrm>
            <a:off x="2481932" y="39052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2722438" y="41433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08886" y="5302"/>
                </a:moveTo>
                <a:cubicBezTo>
                  <a:pt x="110561" y="-2958"/>
                  <a:pt x="117872" y="-8930"/>
                  <a:pt x="126355" y="-8930"/>
                </a:cubicBezTo>
                <a:lnTo>
                  <a:pt x="159730" y="-8930"/>
                </a:lnTo>
                <a:cubicBezTo>
                  <a:pt x="168213" y="-8930"/>
                  <a:pt x="175524" y="-2958"/>
                  <a:pt x="177198" y="5302"/>
                </a:cubicBezTo>
                <a:lnTo>
                  <a:pt x="185291" y="44369"/>
                </a:lnTo>
                <a:cubicBezTo>
                  <a:pt x="193160" y="47718"/>
                  <a:pt x="200527" y="52015"/>
                  <a:pt x="207225" y="57094"/>
                </a:cubicBezTo>
                <a:lnTo>
                  <a:pt x="245064" y="44537"/>
                </a:lnTo>
                <a:cubicBezTo>
                  <a:pt x="253101" y="41858"/>
                  <a:pt x="261919" y="45207"/>
                  <a:pt x="266160" y="52574"/>
                </a:cubicBezTo>
                <a:lnTo>
                  <a:pt x="282848" y="81483"/>
                </a:lnTo>
                <a:cubicBezTo>
                  <a:pt x="287089" y="88850"/>
                  <a:pt x="285583" y="98115"/>
                  <a:pt x="279220" y="103752"/>
                </a:cubicBezTo>
                <a:lnTo>
                  <a:pt x="249473" y="130206"/>
                </a:lnTo>
                <a:cubicBezTo>
                  <a:pt x="249975" y="134336"/>
                  <a:pt x="250199" y="138578"/>
                  <a:pt x="250199" y="142875"/>
                </a:cubicBezTo>
                <a:cubicBezTo>
                  <a:pt x="250199" y="147172"/>
                  <a:pt x="249920" y="151414"/>
                  <a:pt x="249473" y="155544"/>
                </a:cubicBezTo>
                <a:lnTo>
                  <a:pt x="279276" y="182054"/>
                </a:lnTo>
                <a:cubicBezTo>
                  <a:pt x="285638" y="187691"/>
                  <a:pt x="287089" y="197011"/>
                  <a:pt x="282904" y="204322"/>
                </a:cubicBezTo>
                <a:lnTo>
                  <a:pt x="266216" y="233232"/>
                </a:lnTo>
                <a:cubicBezTo>
                  <a:pt x="261975" y="240543"/>
                  <a:pt x="253157" y="243948"/>
                  <a:pt x="245120" y="241269"/>
                </a:cubicBezTo>
                <a:lnTo>
                  <a:pt x="207280" y="228712"/>
                </a:lnTo>
                <a:cubicBezTo>
                  <a:pt x="200527" y="233790"/>
                  <a:pt x="193160" y="238032"/>
                  <a:pt x="185347" y="241436"/>
                </a:cubicBezTo>
                <a:lnTo>
                  <a:pt x="177310" y="280448"/>
                </a:lnTo>
                <a:cubicBezTo>
                  <a:pt x="175580" y="288764"/>
                  <a:pt x="168269" y="294680"/>
                  <a:pt x="159841" y="294680"/>
                </a:cubicBezTo>
                <a:lnTo>
                  <a:pt x="126467" y="294680"/>
                </a:lnTo>
                <a:cubicBezTo>
                  <a:pt x="117983" y="294680"/>
                  <a:pt x="110672" y="288708"/>
                  <a:pt x="108998" y="280448"/>
                </a:cubicBezTo>
                <a:lnTo>
                  <a:pt x="100961" y="241436"/>
                </a:lnTo>
                <a:cubicBezTo>
                  <a:pt x="93092" y="238088"/>
                  <a:pt x="85781" y="233790"/>
                  <a:pt x="79028" y="228712"/>
                </a:cubicBezTo>
                <a:lnTo>
                  <a:pt x="41021" y="241269"/>
                </a:lnTo>
                <a:cubicBezTo>
                  <a:pt x="32984" y="243948"/>
                  <a:pt x="24166" y="240599"/>
                  <a:pt x="19924" y="233232"/>
                </a:cubicBezTo>
                <a:lnTo>
                  <a:pt x="3237" y="204322"/>
                </a:lnTo>
                <a:cubicBezTo>
                  <a:pt x="-1005" y="196955"/>
                  <a:pt x="502" y="187691"/>
                  <a:pt x="6865" y="182054"/>
                </a:cubicBezTo>
                <a:lnTo>
                  <a:pt x="36668" y="155544"/>
                </a:lnTo>
                <a:cubicBezTo>
                  <a:pt x="36165" y="151414"/>
                  <a:pt x="35942" y="147172"/>
                  <a:pt x="35942" y="142875"/>
                </a:cubicBezTo>
                <a:cubicBezTo>
                  <a:pt x="35942" y="138578"/>
                  <a:pt x="36221" y="134336"/>
                  <a:pt x="36668" y="130206"/>
                </a:cubicBezTo>
                <a:lnTo>
                  <a:pt x="6865" y="103696"/>
                </a:lnTo>
                <a:cubicBezTo>
                  <a:pt x="502" y="98059"/>
                  <a:pt x="-949" y="88739"/>
                  <a:pt x="3237" y="81428"/>
                </a:cubicBezTo>
                <a:lnTo>
                  <a:pt x="19924" y="52518"/>
                </a:lnTo>
                <a:cubicBezTo>
                  <a:pt x="24166" y="45151"/>
                  <a:pt x="32984" y="41802"/>
                  <a:pt x="41021" y="44481"/>
                </a:cubicBezTo>
                <a:lnTo>
                  <a:pt x="78860" y="57038"/>
                </a:lnTo>
                <a:cubicBezTo>
                  <a:pt x="85613" y="51960"/>
                  <a:pt x="92980" y="47718"/>
                  <a:pt x="100794" y="44314"/>
                </a:cubicBezTo>
                <a:lnTo>
                  <a:pt x="108886" y="5302"/>
                </a:lnTo>
                <a:close/>
                <a:moveTo>
                  <a:pt x="143042" y="187523"/>
                </a:moveTo>
                <a:cubicBezTo>
                  <a:pt x="158994" y="187464"/>
                  <a:pt x="173702" y="178898"/>
                  <a:pt x="181625" y="165054"/>
                </a:cubicBezTo>
                <a:cubicBezTo>
                  <a:pt x="189549" y="151210"/>
                  <a:pt x="189485" y="134190"/>
                  <a:pt x="181458" y="120406"/>
                </a:cubicBezTo>
                <a:cubicBezTo>
                  <a:pt x="173430" y="106621"/>
                  <a:pt x="158659" y="98167"/>
                  <a:pt x="142708" y="98227"/>
                </a:cubicBezTo>
                <a:cubicBezTo>
                  <a:pt x="126756" y="98286"/>
                  <a:pt x="112048" y="106852"/>
                  <a:pt x="104125" y="120696"/>
                </a:cubicBezTo>
                <a:cubicBezTo>
                  <a:pt x="96201" y="134540"/>
                  <a:pt x="96265" y="151560"/>
                  <a:pt x="104292" y="165344"/>
                </a:cubicBezTo>
                <a:cubicBezTo>
                  <a:pt x="112320" y="179129"/>
                  <a:pt x="127091" y="187583"/>
                  <a:pt x="143042" y="187523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3" name="Text 41"/>
          <p:cNvSpPr/>
          <p:nvPr/>
        </p:nvSpPr>
        <p:spPr>
          <a:xfrm>
            <a:off x="2483644" y="478155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ETL-сбор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556918" y="434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5" name="Shape 43"/>
          <p:cNvSpPr/>
          <p:nvPr/>
        </p:nvSpPr>
        <p:spPr>
          <a:xfrm>
            <a:off x="4098429" y="37909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338935" y="40290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7859" y="35719"/>
                </a:moveTo>
                <a:cubicBezTo>
                  <a:pt x="10660" y="35719"/>
                  <a:pt x="4130" y="40072"/>
                  <a:pt x="1339" y="46769"/>
                </a:cubicBezTo>
                <a:cubicBezTo>
                  <a:pt x="-1451" y="53467"/>
                  <a:pt x="112" y="61113"/>
                  <a:pt x="5246" y="66191"/>
                </a:cubicBezTo>
                <a:lnTo>
                  <a:pt x="107156" y="168157"/>
                </a:lnTo>
                <a:lnTo>
                  <a:pt x="107156" y="232172"/>
                </a:lnTo>
                <a:cubicBezTo>
                  <a:pt x="107156" y="236916"/>
                  <a:pt x="109054" y="241436"/>
                  <a:pt x="112402" y="244785"/>
                </a:cubicBezTo>
                <a:lnTo>
                  <a:pt x="148121" y="280504"/>
                </a:lnTo>
                <a:cubicBezTo>
                  <a:pt x="153256" y="285638"/>
                  <a:pt x="160902" y="287145"/>
                  <a:pt x="167599" y="284355"/>
                </a:cubicBezTo>
                <a:cubicBezTo>
                  <a:pt x="174296" y="281564"/>
                  <a:pt x="178594" y="275090"/>
                  <a:pt x="178594" y="267891"/>
                </a:cubicBezTo>
                <a:lnTo>
                  <a:pt x="178594" y="168157"/>
                </a:lnTo>
                <a:lnTo>
                  <a:pt x="280504" y="66247"/>
                </a:lnTo>
                <a:cubicBezTo>
                  <a:pt x="285638" y="61113"/>
                  <a:pt x="287145" y="53467"/>
                  <a:pt x="284355" y="46769"/>
                </a:cubicBezTo>
                <a:cubicBezTo>
                  <a:pt x="281564" y="40072"/>
                  <a:pt x="275090" y="35719"/>
                  <a:pt x="267891" y="35719"/>
                </a:cubicBezTo>
                <a:lnTo>
                  <a:pt x="17859" y="35719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7" name="Text 45"/>
          <p:cNvSpPr/>
          <p:nvPr/>
        </p:nvSpPr>
        <p:spPr>
          <a:xfrm>
            <a:off x="3919091" y="4667250"/>
            <a:ext cx="1123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Очистка и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нормализация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173414" y="434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9" name="Shape 47"/>
          <p:cNvSpPr/>
          <p:nvPr/>
        </p:nvSpPr>
        <p:spPr>
          <a:xfrm>
            <a:off x="5715000" y="39052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73366" y="414337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145163"/>
                </a:lnTo>
                <a:cubicBezTo>
                  <a:pt x="10102" y="138075"/>
                  <a:pt x="22436" y="133945"/>
                  <a:pt x="35719" y="133945"/>
                </a:cubicBezTo>
                <a:lnTo>
                  <a:pt x="214313" y="133945"/>
                </a:lnTo>
                <a:cubicBezTo>
                  <a:pt x="227595" y="133945"/>
                  <a:pt x="239930" y="138075"/>
                  <a:pt x="250031" y="145163"/>
                </a:cubicBezTo>
                <a:lnTo>
                  <a:pt x="250031" y="53578"/>
                </a:lnTo>
                <a:cubicBezTo>
                  <a:pt x="250031" y="33877"/>
                  <a:pt x="234014" y="17859"/>
                  <a:pt x="214313" y="17859"/>
                </a:cubicBezTo>
                <a:lnTo>
                  <a:pt x="35719" y="17859"/>
                </a:lnTo>
                <a:close/>
                <a:moveTo>
                  <a:pt x="250031" y="196453"/>
                </a:moveTo>
                <a:cubicBezTo>
                  <a:pt x="250031" y="176752"/>
                  <a:pt x="234014" y="160734"/>
                  <a:pt x="214313" y="160734"/>
                </a:cubicBezTo>
                <a:lnTo>
                  <a:pt x="35719" y="160734"/>
                </a:lnTo>
                <a:cubicBezTo>
                  <a:pt x="16018" y="160734"/>
                  <a:pt x="0" y="176752"/>
                  <a:pt x="0" y="196453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196453"/>
                </a:lnTo>
                <a:close/>
                <a:moveTo>
                  <a:pt x="125016" y="214313"/>
                </a:moveTo>
                <a:cubicBezTo>
                  <a:pt x="125016" y="204456"/>
                  <a:pt x="133018" y="196453"/>
                  <a:pt x="142875" y="196453"/>
                </a:cubicBezTo>
                <a:cubicBezTo>
                  <a:pt x="152732" y="196453"/>
                  <a:pt x="160734" y="204456"/>
                  <a:pt x="160734" y="214313"/>
                </a:cubicBezTo>
                <a:cubicBezTo>
                  <a:pt x="160734" y="224169"/>
                  <a:pt x="152732" y="232172"/>
                  <a:pt x="142875" y="232172"/>
                </a:cubicBezTo>
                <a:cubicBezTo>
                  <a:pt x="133018" y="232172"/>
                  <a:pt x="125016" y="224169"/>
                  <a:pt x="125016" y="214313"/>
                </a:cubicBezTo>
                <a:close/>
                <a:moveTo>
                  <a:pt x="196453" y="196453"/>
                </a:moveTo>
                <a:cubicBezTo>
                  <a:pt x="206310" y="196453"/>
                  <a:pt x="214313" y="204456"/>
                  <a:pt x="214313" y="214313"/>
                </a:cubicBezTo>
                <a:cubicBezTo>
                  <a:pt x="214313" y="224169"/>
                  <a:pt x="206310" y="232172"/>
                  <a:pt x="196453" y="232172"/>
                </a:cubicBezTo>
                <a:cubicBezTo>
                  <a:pt x="186596" y="232172"/>
                  <a:pt x="178594" y="224169"/>
                  <a:pt x="178594" y="214313"/>
                </a:cubicBezTo>
                <a:cubicBezTo>
                  <a:pt x="178594" y="204456"/>
                  <a:pt x="186596" y="196453"/>
                  <a:pt x="196453" y="196453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51" name="Text 49"/>
          <p:cNvSpPr/>
          <p:nvPr/>
        </p:nvSpPr>
        <p:spPr>
          <a:xfrm>
            <a:off x="5639098" y="478155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Хранилище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789986" y="434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53" name="Shape 51"/>
          <p:cNvSpPr/>
          <p:nvPr/>
        </p:nvSpPr>
        <p:spPr>
          <a:xfrm>
            <a:off x="7331497" y="37909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572003" y="40290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55" name="Text 53"/>
          <p:cNvSpPr/>
          <p:nvPr/>
        </p:nvSpPr>
        <p:spPr>
          <a:xfrm>
            <a:off x="7148289" y="4667250"/>
            <a:ext cx="1123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Извлечение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возможностей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406482" y="434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57" name="Shape 55"/>
          <p:cNvSpPr/>
          <p:nvPr/>
        </p:nvSpPr>
        <p:spPr>
          <a:xfrm>
            <a:off x="8948068" y="37909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170715" y="402907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23912" y="21822"/>
                </a:moveTo>
                <a:lnTo>
                  <a:pt x="306623" y="105705"/>
                </a:lnTo>
                <a:cubicBezTo>
                  <a:pt x="322083" y="121388"/>
                  <a:pt x="322083" y="146503"/>
                  <a:pt x="306623" y="162185"/>
                </a:cubicBezTo>
                <a:lnTo>
                  <a:pt x="219335" y="250534"/>
                </a:lnTo>
                <a:cubicBezTo>
                  <a:pt x="214145" y="255780"/>
                  <a:pt x="205662" y="255836"/>
                  <a:pt x="200416" y="250645"/>
                </a:cubicBezTo>
                <a:cubicBezTo>
                  <a:pt x="195169" y="245455"/>
                  <a:pt x="195114" y="236972"/>
                  <a:pt x="200304" y="231725"/>
                </a:cubicBezTo>
                <a:lnTo>
                  <a:pt x="287592" y="143321"/>
                </a:lnTo>
                <a:cubicBezTo>
                  <a:pt x="292726" y="138131"/>
                  <a:pt x="292726" y="129704"/>
                  <a:pt x="287592" y="124513"/>
                </a:cubicBezTo>
                <a:lnTo>
                  <a:pt x="204825" y="40686"/>
                </a:lnTo>
                <a:cubicBezTo>
                  <a:pt x="199634" y="35440"/>
                  <a:pt x="199690" y="26956"/>
                  <a:pt x="204936" y="21766"/>
                </a:cubicBezTo>
                <a:cubicBezTo>
                  <a:pt x="210183" y="16576"/>
                  <a:pt x="218666" y="16632"/>
                  <a:pt x="223856" y="21878"/>
                </a:cubicBezTo>
                <a:close/>
                <a:moveTo>
                  <a:pt x="17915" y="128085"/>
                </a:moveTo>
                <a:lnTo>
                  <a:pt x="17915" y="53578"/>
                </a:lnTo>
                <a:cubicBezTo>
                  <a:pt x="17915" y="33877"/>
                  <a:pt x="33933" y="17859"/>
                  <a:pt x="53634" y="17859"/>
                </a:cubicBezTo>
                <a:lnTo>
                  <a:pt x="128141" y="17859"/>
                </a:lnTo>
                <a:cubicBezTo>
                  <a:pt x="137629" y="17859"/>
                  <a:pt x="146726" y="21599"/>
                  <a:pt x="153423" y="28296"/>
                </a:cubicBezTo>
                <a:lnTo>
                  <a:pt x="233790" y="108663"/>
                </a:lnTo>
                <a:cubicBezTo>
                  <a:pt x="247743" y="122616"/>
                  <a:pt x="247743" y="145219"/>
                  <a:pt x="233790" y="159172"/>
                </a:cubicBezTo>
                <a:lnTo>
                  <a:pt x="159283" y="233679"/>
                </a:lnTo>
                <a:cubicBezTo>
                  <a:pt x="145331" y="247631"/>
                  <a:pt x="122727" y="247631"/>
                  <a:pt x="108775" y="233679"/>
                </a:cubicBezTo>
                <a:lnTo>
                  <a:pt x="28408" y="153312"/>
                </a:lnTo>
                <a:cubicBezTo>
                  <a:pt x="21710" y="146614"/>
                  <a:pt x="17971" y="137517"/>
                  <a:pt x="17971" y="128029"/>
                </a:cubicBezTo>
                <a:close/>
                <a:moveTo>
                  <a:pt x="98282" y="80367"/>
                </a:moveTo>
                <a:cubicBezTo>
                  <a:pt x="98282" y="70510"/>
                  <a:pt x="90280" y="62508"/>
                  <a:pt x="80423" y="62508"/>
                </a:cubicBezTo>
                <a:cubicBezTo>
                  <a:pt x="70566" y="62508"/>
                  <a:pt x="62564" y="70510"/>
                  <a:pt x="62564" y="80367"/>
                </a:cubicBezTo>
                <a:cubicBezTo>
                  <a:pt x="62564" y="90224"/>
                  <a:pt x="70566" y="98227"/>
                  <a:pt x="80423" y="98227"/>
                </a:cubicBezTo>
                <a:cubicBezTo>
                  <a:pt x="90280" y="98227"/>
                  <a:pt x="98282" y="90224"/>
                  <a:pt x="98282" y="80367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59" name="Text 57"/>
          <p:cNvSpPr/>
          <p:nvPr/>
        </p:nvSpPr>
        <p:spPr>
          <a:xfrm>
            <a:off x="8735392" y="4667250"/>
            <a:ext cx="1190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MITRE-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классификация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0023053" y="434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61" name="Shape 59"/>
          <p:cNvSpPr/>
          <p:nvPr/>
        </p:nvSpPr>
        <p:spPr>
          <a:xfrm>
            <a:off x="10564564" y="37909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805071" y="40290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196453"/>
                </a:lnTo>
                <a:cubicBezTo>
                  <a:pt x="0" y="216154"/>
                  <a:pt x="16018" y="232172"/>
                  <a:pt x="35719" y="232172"/>
                </a:cubicBezTo>
                <a:lnTo>
                  <a:pt x="116086" y="232172"/>
                </a:lnTo>
                <a:lnTo>
                  <a:pt x="107156" y="258961"/>
                </a:lnTo>
                <a:lnTo>
                  <a:pt x="66973" y="258961"/>
                </a:lnTo>
                <a:cubicBezTo>
                  <a:pt x="59550" y="258961"/>
                  <a:pt x="53578" y="264933"/>
                  <a:pt x="53578" y="272355"/>
                </a:cubicBezTo>
                <a:cubicBezTo>
                  <a:pt x="53578" y="279778"/>
                  <a:pt x="59550" y="285750"/>
                  <a:pt x="66973" y="285750"/>
                </a:cubicBezTo>
                <a:lnTo>
                  <a:pt x="218777" y="285750"/>
                </a:lnTo>
                <a:cubicBezTo>
                  <a:pt x="226200" y="285750"/>
                  <a:pt x="232172" y="279778"/>
                  <a:pt x="232172" y="272355"/>
                </a:cubicBezTo>
                <a:cubicBezTo>
                  <a:pt x="232172" y="264933"/>
                  <a:pt x="226200" y="258961"/>
                  <a:pt x="218777" y="258961"/>
                </a:cubicBezTo>
                <a:lnTo>
                  <a:pt x="178594" y="258961"/>
                </a:lnTo>
                <a:lnTo>
                  <a:pt x="169664" y="232172"/>
                </a:lnTo>
                <a:lnTo>
                  <a:pt x="250031" y="232172"/>
                </a:lnTo>
                <a:cubicBezTo>
                  <a:pt x="269732" y="232172"/>
                  <a:pt x="285750" y="216154"/>
                  <a:pt x="285750" y="196453"/>
                </a:cubicBezTo>
                <a:lnTo>
                  <a:pt x="285750" y="53578"/>
                </a:lnTo>
                <a:cubicBezTo>
                  <a:pt x="285750" y="33877"/>
                  <a:pt x="269732" y="17859"/>
                  <a:pt x="250031" y="17859"/>
                </a:cubicBezTo>
                <a:lnTo>
                  <a:pt x="35719" y="17859"/>
                </a:lnTo>
                <a:close/>
                <a:moveTo>
                  <a:pt x="53578" y="53578"/>
                </a:moveTo>
                <a:lnTo>
                  <a:pt x="232172" y="53578"/>
                </a:lnTo>
                <a:cubicBezTo>
                  <a:pt x="242050" y="53578"/>
                  <a:pt x="250031" y="61559"/>
                  <a:pt x="250031" y="71438"/>
                </a:cubicBezTo>
                <a:lnTo>
                  <a:pt x="250031" y="160734"/>
                </a:lnTo>
                <a:cubicBezTo>
                  <a:pt x="250031" y="170613"/>
                  <a:pt x="242050" y="178594"/>
                  <a:pt x="232172" y="178594"/>
                </a:cubicBezTo>
                <a:lnTo>
                  <a:pt x="53578" y="178594"/>
                </a:lnTo>
                <a:cubicBezTo>
                  <a:pt x="43700" y="178594"/>
                  <a:pt x="35719" y="170613"/>
                  <a:pt x="35719" y="160734"/>
                </a:cubicBezTo>
                <a:lnTo>
                  <a:pt x="35719" y="71438"/>
                </a:lnTo>
                <a:cubicBezTo>
                  <a:pt x="35719" y="61559"/>
                  <a:pt x="43700" y="53578"/>
                  <a:pt x="53578" y="53578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63" name="Text 61"/>
          <p:cNvSpPr/>
          <p:nvPr/>
        </p:nvSpPr>
        <p:spPr>
          <a:xfrm>
            <a:off x="10400333" y="4667250"/>
            <a:ext cx="1085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Визуализация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 MCP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85763" y="5929313"/>
            <a:ext cx="5629275" cy="542925"/>
          </a:xfrm>
          <a:custGeom>
            <a:avLst/>
            <a:gdLst/>
            <a:ahLst/>
            <a:cxnLst/>
            <a:rect l="l" t="t" r="r" b="b"/>
            <a:pathLst>
              <a:path w="5629275" h="542925">
                <a:moveTo>
                  <a:pt x="76200" y="0"/>
                </a:moveTo>
                <a:lnTo>
                  <a:pt x="5553075" y="0"/>
                </a:lnTo>
                <a:cubicBezTo>
                  <a:pt x="5595159" y="0"/>
                  <a:pt x="5629275" y="34116"/>
                  <a:pt x="5629275" y="76200"/>
                </a:cubicBezTo>
                <a:lnTo>
                  <a:pt x="5629275" y="466725"/>
                </a:lnTo>
                <a:cubicBezTo>
                  <a:pt x="5629275" y="508809"/>
                  <a:pt x="5595159" y="542925"/>
                  <a:pt x="5553075" y="542925"/>
                </a:cubicBezTo>
                <a:lnTo>
                  <a:pt x="76200" y="542925"/>
                </a:lnTo>
                <a:cubicBezTo>
                  <a:pt x="34116" y="542925"/>
                  <a:pt x="0" y="508809"/>
                  <a:pt x="0" y="4667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66738" y="61055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66" name="Text 64"/>
          <p:cNvSpPr/>
          <p:nvPr/>
        </p:nvSpPr>
        <p:spPr>
          <a:xfrm>
            <a:off x="895350" y="6086475"/>
            <a:ext cx="481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Разделение обработки данных и пользовательского интерфейса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176963" y="5929313"/>
            <a:ext cx="5629275" cy="542925"/>
          </a:xfrm>
          <a:custGeom>
            <a:avLst/>
            <a:gdLst/>
            <a:ahLst/>
            <a:cxnLst/>
            <a:rect l="l" t="t" r="r" b="b"/>
            <a:pathLst>
              <a:path w="5629275" h="542925">
                <a:moveTo>
                  <a:pt x="76200" y="0"/>
                </a:moveTo>
                <a:lnTo>
                  <a:pt x="5553075" y="0"/>
                </a:lnTo>
                <a:cubicBezTo>
                  <a:pt x="5595159" y="0"/>
                  <a:pt x="5629275" y="34116"/>
                  <a:pt x="5629275" y="76200"/>
                </a:cubicBezTo>
                <a:lnTo>
                  <a:pt x="5629275" y="466725"/>
                </a:lnTo>
                <a:cubicBezTo>
                  <a:pt x="5629275" y="508809"/>
                  <a:pt x="5595159" y="542925"/>
                  <a:pt x="5553075" y="542925"/>
                </a:cubicBezTo>
                <a:lnTo>
                  <a:pt x="76200" y="542925"/>
                </a:lnTo>
                <a:cubicBezTo>
                  <a:pt x="34116" y="542925"/>
                  <a:pt x="0" y="508809"/>
                  <a:pt x="0" y="4667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357938" y="61055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69" name="Text 67"/>
          <p:cNvSpPr/>
          <p:nvPr/>
        </p:nvSpPr>
        <p:spPr>
          <a:xfrm>
            <a:off x="6686550" y="6086475"/>
            <a:ext cx="452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Независимая доработка модулей без поломки всего проекта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2444" y="5143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9275" y="14548"/>
                </a:moveTo>
                <a:lnTo>
                  <a:pt x="204415" y="70470"/>
                </a:lnTo>
                <a:cubicBezTo>
                  <a:pt x="214722" y="80925"/>
                  <a:pt x="214722" y="97668"/>
                  <a:pt x="204415" y="108124"/>
                </a:cubicBezTo>
                <a:lnTo>
                  <a:pt x="146224" y="167022"/>
                </a:lnTo>
                <a:cubicBezTo>
                  <a:pt x="142763" y="170520"/>
                  <a:pt x="137108" y="170557"/>
                  <a:pt x="133610" y="167097"/>
                </a:cubicBezTo>
                <a:cubicBezTo>
                  <a:pt x="130113" y="163637"/>
                  <a:pt x="130076" y="157981"/>
                  <a:pt x="133536" y="154484"/>
                </a:cubicBezTo>
                <a:lnTo>
                  <a:pt x="191728" y="95548"/>
                </a:lnTo>
                <a:cubicBezTo>
                  <a:pt x="195151" y="92087"/>
                  <a:pt x="195151" y="86469"/>
                  <a:pt x="191728" y="83009"/>
                </a:cubicBezTo>
                <a:lnTo>
                  <a:pt x="136550" y="27124"/>
                </a:lnTo>
                <a:cubicBezTo>
                  <a:pt x="133090" y="23626"/>
                  <a:pt x="133127" y="17971"/>
                  <a:pt x="136624" y="14511"/>
                </a:cubicBezTo>
                <a:cubicBezTo>
                  <a:pt x="140122" y="11050"/>
                  <a:pt x="145777" y="11088"/>
                  <a:pt x="149237" y="14585"/>
                </a:cubicBezTo>
                <a:close/>
                <a:moveTo>
                  <a:pt x="11943" y="85390"/>
                </a:moveTo>
                <a:lnTo>
                  <a:pt x="11943" y="35719"/>
                </a:lnTo>
                <a:cubicBezTo>
                  <a:pt x="11943" y="22585"/>
                  <a:pt x="22622" y="11906"/>
                  <a:pt x="35756" y="11906"/>
                </a:cubicBezTo>
                <a:lnTo>
                  <a:pt x="85427" y="11906"/>
                </a:lnTo>
                <a:cubicBezTo>
                  <a:pt x="91753" y="11906"/>
                  <a:pt x="97817" y="14399"/>
                  <a:pt x="102282" y="18864"/>
                </a:cubicBezTo>
                <a:lnTo>
                  <a:pt x="155860" y="72442"/>
                </a:lnTo>
                <a:cubicBezTo>
                  <a:pt x="165162" y="81744"/>
                  <a:pt x="165162" y="96813"/>
                  <a:pt x="155860" y="106114"/>
                </a:cubicBezTo>
                <a:lnTo>
                  <a:pt x="106189" y="155786"/>
                </a:lnTo>
                <a:cubicBezTo>
                  <a:pt x="96887" y="165088"/>
                  <a:pt x="81818" y="165088"/>
                  <a:pt x="72517" y="155786"/>
                </a:cubicBezTo>
                <a:lnTo>
                  <a:pt x="18938" y="102208"/>
                </a:lnTo>
                <a:cubicBezTo>
                  <a:pt x="14474" y="97743"/>
                  <a:pt x="11981" y="91678"/>
                  <a:pt x="11981" y="85353"/>
                </a:cubicBezTo>
                <a:close/>
                <a:moveTo>
                  <a:pt x="65522" y="53578"/>
                </a:moveTo>
                <a:cubicBezTo>
                  <a:pt x="65522" y="47007"/>
                  <a:pt x="60187" y="41672"/>
                  <a:pt x="53615" y="41672"/>
                </a:cubicBezTo>
                <a:cubicBezTo>
                  <a:pt x="47044" y="41672"/>
                  <a:pt x="41709" y="47007"/>
                  <a:pt x="41709" y="53578"/>
                </a:cubicBezTo>
                <a:cubicBezTo>
                  <a:pt x="41709" y="60149"/>
                  <a:pt x="47044" y="65484"/>
                  <a:pt x="53615" y="65484"/>
                </a:cubicBezTo>
                <a:cubicBezTo>
                  <a:pt x="60187" y="65484"/>
                  <a:pt x="65522" y="60149"/>
                  <a:pt x="65522" y="53578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419100"/>
            <a:ext cx="377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Логика классификации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525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Гибридная схема с тремя уровнями контроля качества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414463"/>
            <a:ext cx="3695700" cy="3981450"/>
          </a:xfrm>
          <a:custGeom>
            <a:avLst/>
            <a:gdLst/>
            <a:ahLst/>
            <a:cxnLst/>
            <a:rect l="l" t="t" r="r" b="b"/>
            <a:pathLst>
              <a:path w="3695700" h="3981450">
                <a:moveTo>
                  <a:pt x="76205" y="0"/>
                </a:moveTo>
                <a:lnTo>
                  <a:pt x="3619495" y="0"/>
                </a:lnTo>
                <a:cubicBezTo>
                  <a:pt x="3661582" y="0"/>
                  <a:pt x="3695700" y="34118"/>
                  <a:pt x="3695700" y="76205"/>
                </a:cubicBezTo>
                <a:lnTo>
                  <a:pt x="3695700" y="3905245"/>
                </a:lnTo>
                <a:cubicBezTo>
                  <a:pt x="3695700" y="3947332"/>
                  <a:pt x="3661582" y="3981450"/>
                  <a:pt x="3619495" y="3981450"/>
                </a:cubicBezTo>
                <a:lnTo>
                  <a:pt x="76205" y="3981450"/>
                </a:lnTo>
                <a:cubicBezTo>
                  <a:pt x="34118" y="3981450"/>
                  <a:pt x="0" y="3947332"/>
                  <a:pt x="0" y="390524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025" y="1609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12440" y="1704975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2525" y="1704975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Rule-based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1025" y="2219325"/>
            <a:ext cx="338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Генерация кандидатов на сопоставление с MITRE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1025" y="2828925"/>
            <a:ext cx="3305175" cy="876300"/>
          </a:xfrm>
          <a:custGeom>
            <a:avLst/>
            <a:gdLst/>
            <a:ahLst/>
            <a:cxnLst/>
            <a:rect l="l" t="t" r="r" b="b"/>
            <a:pathLst>
              <a:path w="3305175" h="876300">
                <a:moveTo>
                  <a:pt x="76203" y="0"/>
                </a:moveTo>
                <a:lnTo>
                  <a:pt x="3228972" y="0"/>
                </a:lnTo>
                <a:cubicBezTo>
                  <a:pt x="3271058" y="0"/>
                  <a:pt x="3305175" y="34117"/>
                  <a:pt x="3305175" y="76203"/>
                </a:cubicBezTo>
                <a:lnTo>
                  <a:pt x="3305175" y="800097"/>
                </a:lnTo>
                <a:cubicBezTo>
                  <a:pt x="3305175" y="842183"/>
                  <a:pt x="3271058" y="876300"/>
                  <a:pt x="32289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23900" y="29622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14300" y="152400"/>
                </a:moveTo>
                <a:lnTo>
                  <a:pt x="28575" y="152400"/>
                </a:lnTo>
                <a:cubicBezTo>
                  <a:pt x="12799" y="152400"/>
                  <a:pt x="0" y="139601"/>
                  <a:pt x="0" y="123825"/>
                </a:cubicBezTo>
                <a:lnTo>
                  <a:pt x="0" y="28575"/>
                </a:lnTo>
                <a:cubicBezTo>
                  <a:pt x="0" y="12799"/>
                  <a:pt x="12799" y="0"/>
                  <a:pt x="28575" y="0"/>
                </a:cubicBezTo>
                <a:lnTo>
                  <a:pt x="119062" y="0"/>
                </a:lnTo>
                <a:cubicBezTo>
                  <a:pt x="126950" y="0"/>
                  <a:pt x="133350" y="6400"/>
                  <a:pt x="133350" y="14288"/>
                </a:cubicBezTo>
                <a:lnTo>
                  <a:pt x="133350" y="100013"/>
                </a:lnTo>
                <a:cubicBezTo>
                  <a:pt x="133350" y="106234"/>
                  <a:pt x="129361" y="111532"/>
                  <a:pt x="123825" y="113496"/>
                </a:cubicBezTo>
                <a:lnTo>
                  <a:pt x="123825" y="133350"/>
                </a:lnTo>
                <a:cubicBezTo>
                  <a:pt x="129094" y="133350"/>
                  <a:pt x="133350" y="137606"/>
                  <a:pt x="133350" y="142875"/>
                </a:cubicBezTo>
                <a:cubicBezTo>
                  <a:pt x="133350" y="148144"/>
                  <a:pt x="129094" y="152400"/>
                  <a:pt x="123825" y="152400"/>
                </a:cubicBezTo>
                <a:lnTo>
                  <a:pt x="114300" y="152400"/>
                </a:lnTo>
                <a:close/>
                <a:moveTo>
                  <a:pt x="28575" y="114300"/>
                </a:moveTo>
                <a:cubicBezTo>
                  <a:pt x="23306" y="114300"/>
                  <a:pt x="19050" y="118556"/>
                  <a:pt x="19050" y="123825"/>
                </a:cubicBezTo>
                <a:cubicBezTo>
                  <a:pt x="19050" y="129094"/>
                  <a:pt x="23306" y="133350"/>
                  <a:pt x="28575" y="133350"/>
                </a:cubicBezTo>
                <a:lnTo>
                  <a:pt x="104775" y="133350"/>
                </a:lnTo>
                <a:lnTo>
                  <a:pt x="104775" y="114300"/>
                </a:lnTo>
                <a:lnTo>
                  <a:pt x="28575" y="114300"/>
                </a:lnTo>
                <a:close/>
                <a:moveTo>
                  <a:pt x="38100" y="45244"/>
                </a:moveTo>
                <a:cubicBezTo>
                  <a:pt x="38100" y="49203"/>
                  <a:pt x="41285" y="52388"/>
                  <a:pt x="45244" y="52388"/>
                </a:cubicBezTo>
                <a:lnTo>
                  <a:pt x="97631" y="52388"/>
                </a:lnTo>
                <a:cubicBezTo>
                  <a:pt x="101590" y="52388"/>
                  <a:pt x="104775" y="49203"/>
                  <a:pt x="104775" y="45244"/>
                </a:cubicBezTo>
                <a:cubicBezTo>
                  <a:pt x="104775" y="41285"/>
                  <a:pt x="101590" y="38100"/>
                  <a:pt x="97631" y="38100"/>
                </a:cubicBezTo>
                <a:lnTo>
                  <a:pt x="45244" y="38100"/>
                </a:lnTo>
                <a:cubicBezTo>
                  <a:pt x="41285" y="38100"/>
                  <a:pt x="38100" y="41285"/>
                  <a:pt x="38100" y="45244"/>
                </a:cubicBezTo>
                <a:close/>
                <a:moveTo>
                  <a:pt x="45244" y="66675"/>
                </a:moveTo>
                <a:cubicBezTo>
                  <a:pt x="41285" y="66675"/>
                  <a:pt x="38100" y="69860"/>
                  <a:pt x="38100" y="73819"/>
                </a:cubicBezTo>
                <a:cubicBezTo>
                  <a:pt x="38100" y="77778"/>
                  <a:pt x="41285" y="80962"/>
                  <a:pt x="45244" y="80962"/>
                </a:cubicBezTo>
                <a:lnTo>
                  <a:pt x="97631" y="80962"/>
                </a:lnTo>
                <a:cubicBezTo>
                  <a:pt x="101590" y="80962"/>
                  <a:pt x="104775" y="77778"/>
                  <a:pt x="104775" y="73819"/>
                </a:cubicBezTo>
                <a:cubicBezTo>
                  <a:pt x="104775" y="69860"/>
                  <a:pt x="101590" y="66675"/>
                  <a:pt x="97631" y="66675"/>
                </a:cubicBezTo>
                <a:lnTo>
                  <a:pt x="45244" y="66675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3" name="Text 11"/>
          <p:cNvSpPr/>
          <p:nvPr/>
        </p:nvSpPr>
        <p:spPr>
          <a:xfrm>
            <a:off x="962025" y="2943225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Словари терминов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5325" y="3209925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scanning, enumeration, brute force, exploitation, privilege escalation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1025" y="3819525"/>
            <a:ext cx="3305175" cy="876300"/>
          </a:xfrm>
          <a:custGeom>
            <a:avLst/>
            <a:gdLst/>
            <a:ahLst/>
            <a:cxnLst/>
            <a:rect l="l" t="t" r="r" b="b"/>
            <a:pathLst>
              <a:path w="3305175" h="876300">
                <a:moveTo>
                  <a:pt x="76203" y="0"/>
                </a:moveTo>
                <a:lnTo>
                  <a:pt x="3228972" y="0"/>
                </a:lnTo>
                <a:cubicBezTo>
                  <a:pt x="3271058" y="0"/>
                  <a:pt x="3305175" y="34117"/>
                  <a:pt x="3305175" y="76203"/>
                </a:cubicBezTo>
                <a:lnTo>
                  <a:pt x="3305175" y="800097"/>
                </a:lnTo>
                <a:cubicBezTo>
                  <a:pt x="3305175" y="842183"/>
                  <a:pt x="3271058" y="876300"/>
                  <a:pt x="32289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04850" y="39528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7" name="Text 15"/>
          <p:cNvSpPr/>
          <p:nvPr/>
        </p:nvSpPr>
        <p:spPr>
          <a:xfrm>
            <a:off x="962025" y="3933825"/>
            <a:ext cx="136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Паттерны и правила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5325" y="4200525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Регулярные выражения для извлечения capability-фраз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1025" y="4852988"/>
            <a:ext cx="3305175" cy="9525"/>
          </a:xfrm>
          <a:custGeom>
            <a:avLst/>
            <a:gdLst/>
            <a:ahLst/>
            <a:cxnLst/>
            <a:rect l="l" t="t" r="r" b="b"/>
            <a:pathLst>
              <a:path w="3305175" h="9525">
                <a:moveTo>
                  <a:pt x="0" y="0"/>
                </a:moveTo>
                <a:lnTo>
                  <a:pt x="3305175" y="0"/>
                </a:lnTo>
                <a:lnTo>
                  <a:pt x="33051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81025" y="5010150"/>
            <a:ext cx="3371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Быстро и предсказуемо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46513" y="1414463"/>
            <a:ext cx="3695700" cy="3981450"/>
          </a:xfrm>
          <a:custGeom>
            <a:avLst/>
            <a:gdLst/>
            <a:ahLst/>
            <a:cxnLst/>
            <a:rect l="l" t="t" r="r" b="b"/>
            <a:pathLst>
              <a:path w="3695700" h="3981450">
                <a:moveTo>
                  <a:pt x="76205" y="0"/>
                </a:moveTo>
                <a:lnTo>
                  <a:pt x="3619495" y="0"/>
                </a:lnTo>
                <a:cubicBezTo>
                  <a:pt x="3661582" y="0"/>
                  <a:pt x="3695700" y="34118"/>
                  <a:pt x="3695700" y="76205"/>
                </a:cubicBezTo>
                <a:lnTo>
                  <a:pt x="3695700" y="3905245"/>
                </a:lnTo>
                <a:cubicBezTo>
                  <a:pt x="3695700" y="3947332"/>
                  <a:pt x="3661582" y="3981450"/>
                  <a:pt x="3619495" y="3981450"/>
                </a:cubicBezTo>
                <a:lnTo>
                  <a:pt x="76205" y="3981450"/>
                </a:lnTo>
                <a:cubicBezTo>
                  <a:pt x="34118" y="3981450"/>
                  <a:pt x="0" y="3947332"/>
                  <a:pt x="0" y="390524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41775" y="1609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557117" y="170497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13275" y="1704975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LLM-assisted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41775" y="2219325"/>
            <a:ext cx="338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Языковая модель как помощник, не источник истины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41775" y="2828925"/>
            <a:ext cx="3305175" cy="876300"/>
          </a:xfrm>
          <a:custGeom>
            <a:avLst/>
            <a:gdLst/>
            <a:ahLst/>
            <a:cxnLst/>
            <a:rect l="l" t="t" r="r" b="b"/>
            <a:pathLst>
              <a:path w="3305175" h="876300">
                <a:moveTo>
                  <a:pt x="76203" y="0"/>
                </a:moveTo>
                <a:lnTo>
                  <a:pt x="3228972" y="0"/>
                </a:lnTo>
                <a:cubicBezTo>
                  <a:pt x="3271058" y="0"/>
                  <a:pt x="3305175" y="34117"/>
                  <a:pt x="3305175" y="76203"/>
                </a:cubicBezTo>
                <a:lnTo>
                  <a:pt x="3305175" y="800097"/>
                </a:lnTo>
                <a:cubicBezTo>
                  <a:pt x="3305175" y="842183"/>
                  <a:pt x="3271058" y="876300"/>
                  <a:pt x="32289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556075" y="296227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8" name="Text 26"/>
          <p:cNvSpPr/>
          <p:nvPr/>
        </p:nvSpPr>
        <p:spPr>
          <a:xfrm>
            <a:off x="4822775" y="2943225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Извлечение capability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56075" y="3209925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Анализ README и документации для выделения возможностей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41775" y="3819525"/>
            <a:ext cx="3305175" cy="685800"/>
          </a:xfrm>
          <a:custGeom>
            <a:avLst/>
            <a:gdLst/>
            <a:ahLst/>
            <a:cxnLst/>
            <a:rect l="l" t="t" r="r" b="b"/>
            <a:pathLst>
              <a:path w="3305175" h="685800">
                <a:moveTo>
                  <a:pt x="76199" y="0"/>
                </a:moveTo>
                <a:lnTo>
                  <a:pt x="3228976" y="0"/>
                </a:lnTo>
                <a:cubicBezTo>
                  <a:pt x="3271059" y="0"/>
                  <a:pt x="3305175" y="34116"/>
                  <a:pt x="3305175" y="76199"/>
                </a:cubicBezTo>
                <a:lnTo>
                  <a:pt x="3305175" y="609601"/>
                </a:lnTo>
                <a:cubicBezTo>
                  <a:pt x="3305175" y="651684"/>
                  <a:pt x="3271059" y="685800"/>
                  <a:pt x="32289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594175" y="39528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2" name="Text 30"/>
          <p:cNvSpPr/>
          <p:nvPr/>
        </p:nvSpPr>
        <p:spPr>
          <a:xfrm>
            <a:off x="4822775" y="3933825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Предложение техник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56075" y="4200525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Вероятные MITRE-техники на основе контекста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41775" y="4852988"/>
            <a:ext cx="3305175" cy="9525"/>
          </a:xfrm>
          <a:custGeom>
            <a:avLst/>
            <a:gdLst/>
            <a:ahLst/>
            <a:cxnLst/>
            <a:rect l="l" t="t" r="r" b="b"/>
            <a:pathLst>
              <a:path w="3305175" h="9525">
                <a:moveTo>
                  <a:pt x="0" y="0"/>
                </a:moveTo>
                <a:lnTo>
                  <a:pt x="3305175" y="0"/>
                </a:lnTo>
                <a:lnTo>
                  <a:pt x="33051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441775" y="5010150"/>
            <a:ext cx="3371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Гибко и контекстуально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07338" y="1414463"/>
            <a:ext cx="3695700" cy="3981450"/>
          </a:xfrm>
          <a:custGeom>
            <a:avLst/>
            <a:gdLst/>
            <a:ahLst/>
            <a:cxnLst/>
            <a:rect l="l" t="t" r="r" b="b"/>
            <a:pathLst>
              <a:path w="3695700" h="3981450">
                <a:moveTo>
                  <a:pt x="76205" y="0"/>
                </a:moveTo>
                <a:lnTo>
                  <a:pt x="3619495" y="0"/>
                </a:lnTo>
                <a:cubicBezTo>
                  <a:pt x="3661582" y="0"/>
                  <a:pt x="3695700" y="34118"/>
                  <a:pt x="3695700" y="76205"/>
                </a:cubicBezTo>
                <a:lnTo>
                  <a:pt x="3695700" y="3905245"/>
                </a:lnTo>
                <a:cubicBezTo>
                  <a:pt x="3695700" y="3947332"/>
                  <a:pt x="3661582" y="3981450"/>
                  <a:pt x="3619495" y="3981450"/>
                </a:cubicBezTo>
                <a:lnTo>
                  <a:pt x="76205" y="3981450"/>
                </a:lnTo>
                <a:cubicBezTo>
                  <a:pt x="34118" y="3981450"/>
                  <a:pt x="0" y="3947332"/>
                  <a:pt x="0" y="390524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02600" y="1609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415412" y="170497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874100" y="1704975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Human-in-the-loop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02600" y="2219325"/>
            <a:ext cx="338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Контроль качества остаётся за разработчиком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02600" y="2828925"/>
            <a:ext cx="3305175" cy="876300"/>
          </a:xfrm>
          <a:custGeom>
            <a:avLst/>
            <a:gdLst/>
            <a:ahLst/>
            <a:cxnLst/>
            <a:rect l="l" t="t" r="r" b="b"/>
            <a:pathLst>
              <a:path w="3305175" h="876300">
                <a:moveTo>
                  <a:pt x="76203" y="0"/>
                </a:moveTo>
                <a:lnTo>
                  <a:pt x="3228972" y="0"/>
                </a:lnTo>
                <a:cubicBezTo>
                  <a:pt x="3271058" y="0"/>
                  <a:pt x="3305175" y="34117"/>
                  <a:pt x="3305175" y="76203"/>
                </a:cubicBezTo>
                <a:lnTo>
                  <a:pt x="3305175" y="800097"/>
                </a:lnTo>
                <a:cubicBezTo>
                  <a:pt x="3305175" y="842183"/>
                  <a:pt x="3271058" y="876300"/>
                  <a:pt x="32289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416900" y="296227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40481" y="38100"/>
                </a:moveTo>
                <a:cubicBezTo>
                  <a:pt x="40481" y="18386"/>
                  <a:pt x="56486" y="2381"/>
                  <a:pt x="76200" y="2381"/>
                </a:cubicBezTo>
                <a:cubicBezTo>
                  <a:pt x="95914" y="2381"/>
                  <a:pt x="111919" y="18386"/>
                  <a:pt x="111919" y="38100"/>
                </a:cubicBezTo>
                <a:cubicBezTo>
                  <a:pt x="111919" y="57814"/>
                  <a:pt x="95914" y="73819"/>
                  <a:pt x="76200" y="73819"/>
                </a:cubicBezTo>
                <a:cubicBezTo>
                  <a:pt x="56486" y="73819"/>
                  <a:pt x="40481" y="57814"/>
                  <a:pt x="40481" y="38100"/>
                </a:cubicBezTo>
                <a:close/>
                <a:moveTo>
                  <a:pt x="14288" y="143560"/>
                </a:moveTo>
                <a:cubicBezTo>
                  <a:pt x="14288" y="114240"/>
                  <a:pt x="38040" y="90488"/>
                  <a:pt x="67360" y="90488"/>
                </a:cubicBezTo>
                <a:lnTo>
                  <a:pt x="85040" y="90488"/>
                </a:lnTo>
                <a:cubicBezTo>
                  <a:pt x="114360" y="90488"/>
                  <a:pt x="138113" y="114240"/>
                  <a:pt x="138113" y="143560"/>
                </a:cubicBezTo>
                <a:cubicBezTo>
                  <a:pt x="138113" y="148441"/>
                  <a:pt x="134154" y="152400"/>
                  <a:pt x="129272" y="152400"/>
                </a:cubicBezTo>
                <a:lnTo>
                  <a:pt x="23128" y="152400"/>
                </a:lnTo>
                <a:cubicBezTo>
                  <a:pt x="18246" y="152400"/>
                  <a:pt x="14288" y="148441"/>
                  <a:pt x="14288" y="143560"/>
                </a:cubicBezTo>
                <a:close/>
                <a:moveTo>
                  <a:pt x="182285" y="39499"/>
                </a:moveTo>
                <a:lnTo>
                  <a:pt x="158472" y="77599"/>
                </a:lnTo>
                <a:cubicBezTo>
                  <a:pt x="157222" y="79593"/>
                  <a:pt x="155079" y="80843"/>
                  <a:pt x="152727" y="80962"/>
                </a:cubicBezTo>
                <a:cubicBezTo>
                  <a:pt x="150376" y="81082"/>
                  <a:pt x="148114" y="80010"/>
                  <a:pt x="146715" y="78105"/>
                </a:cubicBezTo>
                <a:lnTo>
                  <a:pt x="132427" y="59055"/>
                </a:lnTo>
                <a:cubicBezTo>
                  <a:pt x="130046" y="55900"/>
                  <a:pt x="130701" y="51435"/>
                  <a:pt x="133856" y="49054"/>
                </a:cubicBezTo>
                <a:cubicBezTo>
                  <a:pt x="137011" y="46673"/>
                  <a:pt x="141476" y="47327"/>
                  <a:pt x="143857" y="50483"/>
                </a:cubicBezTo>
                <a:lnTo>
                  <a:pt x="151894" y="61198"/>
                </a:lnTo>
                <a:lnTo>
                  <a:pt x="170170" y="31939"/>
                </a:lnTo>
                <a:cubicBezTo>
                  <a:pt x="172254" y="28605"/>
                  <a:pt x="176659" y="27563"/>
                  <a:pt x="180023" y="29676"/>
                </a:cubicBezTo>
                <a:cubicBezTo>
                  <a:pt x="183386" y="31790"/>
                  <a:pt x="184398" y="36165"/>
                  <a:pt x="182285" y="39529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3" name="Text 41"/>
          <p:cNvSpPr/>
          <p:nvPr/>
        </p:nvSpPr>
        <p:spPr>
          <a:xfrm>
            <a:off x="8683600" y="2943225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Валидация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16900" y="3209925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Ручная проверка спорных и низко-confidence меток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02600" y="3819525"/>
            <a:ext cx="3305175" cy="685800"/>
          </a:xfrm>
          <a:custGeom>
            <a:avLst/>
            <a:gdLst/>
            <a:ahLst/>
            <a:cxnLst/>
            <a:rect l="l" t="t" r="r" b="b"/>
            <a:pathLst>
              <a:path w="3305175" h="685800">
                <a:moveTo>
                  <a:pt x="76199" y="0"/>
                </a:moveTo>
                <a:lnTo>
                  <a:pt x="3228976" y="0"/>
                </a:lnTo>
                <a:cubicBezTo>
                  <a:pt x="3271059" y="0"/>
                  <a:pt x="3305175" y="34116"/>
                  <a:pt x="3305175" y="76199"/>
                </a:cubicBezTo>
                <a:lnTo>
                  <a:pt x="3305175" y="609601"/>
                </a:lnTo>
                <a:cubicBezTo>
                  <a:pt x="3305175" y="651684"/>
                  <a:pt x="3271059" y="685800"/>
                  <a:pt x="32289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416900" y="395287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7" name="Text 45"/>
          <p:cNvSpPr/>
          <p:nvPr/>
        </p:nvSpPr>
        <p:spPr>
          <a:xfrm>
            <a:off x="8683600" y="3933825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Корректировка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416900" y="4200525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Уточнение правил на основе ошибок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302600" y="4852988"/>
            <a:ext cx="3305175" cy="9525"/>
          </a:xfrm>
          <a:custGeom>
            <a:avLst/>
            <a:gdLst/>
            <a:ahLst/>
            <a:cxnLst/>
            <a:rect l="l" t="t" r="r" b="b"/>
            <a:pathLst>
              <a:path w="3305175" h="9525">
                <a:moveTo>
                  <a:pt x="0" y="0"/>
                </a:moveTo>
                <a:lnTo>
                  <a:pt x="3305175" y="0"/>
                </a:lnTo>
                <a:lnTo>
                  <a:pt x="33051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8302600" y="5010150"/>
            <a:ext cx="3371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Объяснимо и контролируемо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85763" y="5557838"/>
            <a:ext cx="11420475" cy="1019175"/>
          </a:xfrm>
          <a:custGeom>
            <a:avLst/>
            <a:gdLst/>
            <a:ahLst/>
            <a:cxnLst/>
            <a:rect l="l" t="t" r="r" b="b"/>
            <a:pathLst>
              <a:path w="11420475" h="1019175">
                <a:moveTo>
                  <a:pt x="76204" y="0"/>
                </a:moveTo>
                <a:lnTo>
                  <a:pt x="11344271" y="0"/>
                </a:lnTo>
                <a:cubicBezTo>
                  <a:pt x="11386357" y="0"/>
                  <a:pt x="11420475" y="34118"/>
                  <a:pt x="11420475" y="76204"/>
                </a:cubicBezTo>
                <a:lnTo>
                  <a:pt x="11420475" y="942971"/>
                </a:lnTo>
                <a:cubicBezTo>
                  <a:pt x="11420475" y="985057"/>
                  <a:pt x="11386357" y="1019175"/>
                  <a:pt x="11344271" y="1019175"/>
                </a:cubicBezTo>
                <a:lnTo>
                  <a:pt x="76204" y="1019175"/>
                </a:lnTo>
                <a:cubicBezTo>
                  <a:pt x="34118" y="1019175"/>
                  <a:pt x="0" y="985057"/>
                  <a:pt x="0" y="9429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43784" y="57531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53" name="Text 51"/>
          <p:cNvSpPr/>
          <p:nvPr/>
        </p:nvSpPr>
        <p:spPr>
          <a:xfrm>
            <a:off x="3702621" y="6115050"/>
            <a:ext cx="561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Tactic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451747" y="5915025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072435" y="575310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60734" y="-8930"/>
                </a:moveTo>
                <a:cubicBezTo>
                  <a:pt x="170613" y="-8930"/>
                  <a:pt x="178594" y="-949"/>
                  <a:pt x="178594" y="8930"/>
                </a:cubicBezTo>
                <a:lnTo>
                  <a:pt x="178594" y="19143"/>
                </a:lnTo>
                <a:cubicBezTo>
                  <a:pt x="233344" y="26956"/>
                  <a:pt x="276653" y="70265"/>
                  <a:pt x="284466" y="125016"/>
                </a:cubicBezTo>
                <a:lnTo>
                  <a:pt x="294680" y="125016"/>
                </a:lnTo>
                <a:cubicBezTo>
                  <a:pt x="304558" y="125016"/>
                  <a:pt x="312539" y="132997"/>
                  <a:pt x="312539" y="142875"/>
                </a:cubicBezTo>
                <a:cubicBezTo>
                  <a:pt x="312539" y="152753"/>
                  <a:pt x="304558" y="160734"/>
                  <a:pt x="294680" y="160734"/>
                </a:cubicBezTo>
                <a:lnTo>
                  <a:pt x="284466" y="160734"/>
                </a:lnTo>
                <a:cubicBezTo>
                  <a:pt x="276653" y="215485"/>
                  <a:pt x="233344" y="258794"/>
                  <a:pt x="178594" y="266607"/>
                </a:cubicBezTo>
                <a:lnTo>
                  <a:pt x="178594" y="276820"/>
                </a:lnTo>
                <a:cubicBezTo>
                  <a:pt x="178594" y="286699"/>
                  <a:pt x="170613" y="294680"/>
                  <a:pt x="160734" y="294680"/>
                </a:cubicBezTo>
                <a:cubicBezTo>
                  <a:pt x="150856" y="294680"/>
                  <a:pt x="142875" y="286699"/>
                  <a:pt x="142875" y="276820"/>
                </a:cubicBezTo>
                <a:lnTo>
                  <a:pt x="142875" y="266607"/>
                </a:lnTo>
                <a:cubicBezTo>
                  <a:pt x="88125" y="258794"/>
                  <a:pt x="44816" y="215485"/>
                  <a:pt x="37002" y="160734"/>
                </a:cubicBezTo>
                <a:lnTo>
                  <a:pt x="26789" y="160734"/>
                </a:lnTo>
                <a:cubicBezTo>
                  <a:pt x="16911" y="160734"/>
                  <a:pt x="8930" y="152753"/>
                  <a:pt x="8930" y="142875"/>
                </a:cubicBezTo>
                <a:cubicBezTo>
                  <a:pt x="8930" y="132997"/>
                  <a:pt x="16911" y="125016"/>
                  <a:pt x="26789" y="125016"/>
                </a:cubicBezTo>
                <a:lnTo>
                  <a:pt x="37002" y="125016"/>
                </a:lnTo>
                <a:cubicBezTo>
                  <a:pt x="44816" y="70265"/>
                  <a:pt x="88125" y="26956"/>
                  <a:pt x="142875" y="19143"/>
                </a:cubicBezTo>
                <a:lnTo>
                  <a:pt x="142875" y="8930"/>
                </a:lnTo>
                <a:cubicBezTo>
                  <a:pt x="142875" y="-949"/>
                  <a:pt x="150856" y="-8930"/>
                  <a:pt x="160734" y="-8930"/>
                </a:cubicBezTo>
                <a:close/>
                <a:moveTo>
                  <a:pt x="73223" y="160734"/>
                </a:moveTo>
                <a:cubicBezTo>
                  <a:pt x="80311" y="195728"/>
                  <a:pt x="107882" y="223298"/>
                  <a:pt x="142875" y="230386"/>
                </a:cubicBezTo>
                <a:lnTo>
                  <a:pt x="142875" y="223242"/>
                </a:lnTo>
                <a:cubicBezTo>
                  <a:pt x="142875" y="213364"/>
                  <a:pt x="150856" y="205383"/>
                  <a:pt x="160734" y="205383"/>
                </a:cubicBezTo>
                <a:cubicBezTo>
                  <a:pt x="170613" y="205383"/>
                  <a:pt x="178594" y="213364"/>
                  <a:pt x="178594" y="223242"/>
                </a:cubicBezTo>
                <a:lnTo>
                  <a:pt x="178594" y="230386"/>
                </a:lnTo>
                <a:cubicBezTo>
                  <a:pt x="213587" y="223298"/>
                  <a:pt x="241157" y="195728"/>
                  <a:pt x="248245" y="160734"/>
                </a:cubicBezTo>
                <a:lnTo>
                  <a:pt x="241102" y="160734"/>
                </a:lnTo>
                <a:cubicBezTo>
                  <a:pt x="231223" y="160734"/>
                  <a:pt x="223242" y="152753"/>
                  <a:pt x="223242" y="142875"/>
                </a:cubicBezTo>
                <a:cubicBezTo>
                  <a:pt x="223242" y="132997"/>
                  <a:pt x="231223" y="125016"/>
                  <a:pt x="241102" y="125016"/>
                </a:cubicBezTo>
                <a:lnTo>
                  <a:pt x="248245" y="125016"/>
                </a:lnTo>
                <a:cubicBezTo>
                  <a:pt x="241157" y="90022"/>
                  <a:pt x="213587" y="62452"/>
                  <a:pt x="178594" y="55364"/>
                </a:cubicBezTo>
                <a:lnTo>
                  <a:pt x="178594" y="62508"/>
                </a:lnTo>
                <a:cubicBezTo>
                  <a:pt x="178594" y="72386"/>
                  <a:pt x="170613" y="80367"/>
                  <a:pt x="160734" y="80367"/>
                </a:cubicBezTo>
                <a:cubicBezTo>
                  <a:pt x="150856" y="80367"/>
                  <a:pt x="142875" y="72386"/>
                  <a:pt x="142875" y="62508"/>
                </a:cubicBezTo>
                <a:lnTo>
                  <a:pt x="142875" y="55364"/>
                </a:lnTo>
                <a:cubicBezTo>
                  <a:pt x="107882" y="62452"/>
                  <a:pt x="80311" y="90022"/>
                  <a:pt x="73223" y="125016"/>
                </a:cubicBezTo>
                <a:lnTo>
                  <a:pt x="80367" y="125016"/>
                </a:lnTo>
                <a:cubicBezTo>
                  <a:pt x="90246" y="125016"/>
                  <a:pt x="98227" y="132997"/>
                  <a:pt x="98227" y="142875"/>
                </a:cubicBezTo>
                <a:cubicBezTo>
                  <a:pt x="98227" y="152753"/>
                  <a:pt x="90246" y="160734"/>
                  <a:pt x="80367" y="160734"/>
                </a:cubicBezTo>
                <a:lnTo>
                  <a:pt x="73223" y="160734"/>
                </a:lnTo>
                <a:close/>
                <a:moveTo>
                  <a:pt x="160734" y="116086"/>
                </a:moveTo>
                <a:cubicBezTo>
                  <a:pt x="175520" y="116086"/>
                  <a:pt x="187523" y="128090"/>
                  <a:pt x="187523" y="142875"/>
                </a:cubicBezTo>
                <a:cubicBezTo>
                  <a:pt x="187523" y="157660"/>
                  <a:pt x="175520" y="169664"/>
                  <a:pt x="160734" y="169664"/>
                </a:cubicBezTo>
                <a:cubicBezTo>
                  <a:pt x="145949" y="169664"/>
                  <a:pt x="133945" y="157660"/>
                  <a:pt x="133945" y="142875"/>
                </a:cubicBezTo>
                <a:cubicBezTo>
                  <a:pt x="133945" y="128090"/>
                  <a:pt x="145949" y="116086"/>
                  <a:pt x="160734" y="116086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56" name="Text 54"/>
          <p:cNvSpPr/>
          <p:nvPr/>
        </p:nvSpPr>
        <p:spPr>
          <a:xfrm>
            <a:off x="4775150" y="611505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Technique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872163" y="5915025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566074" y="575310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07156" y="71438"/>
                </a:moveTo>
                <a:cubicBezTo>
                  <a:pt x="107156" y="41867"/>
                  <a:pt x="83149" y="17859"/>
                  <a:pt x="53578" y="17859"/>
                </a:cubicBezTo>
                <a:cubicBezTo>
                  <a:pt x="24008" y="17859"/>
                  <a:pt x="0" y="41867"/>
                  <a:pt x="0" y="71438"/>
                </a:cubicBezTo>
                <a:cubicBezTo>
                  <a:pt x="0" y="101008"/>
                  <a:pt x="24008" y="125016"/>
                  <a:pt x="53578" y="125016"/>
                </a:cubicBezTo>
                <a:cubicBezTo>
                  <a:pt x="83149" y="125016"/>
                  <a:pt x="107156" y="101008"/>
                  <a:pt x="107156" y="71438"/>
                </a:cubicBezTo>
                <a:close/>
                <a:moveTo>
                  <a:pt x="250031" y="214313"/>
                </a:moveTo>
                <a:cubicBezTo>
                  <a:pt x="250031" y="184742"/>
                  <a:pt x="226024" y="160734"/>
                  <a:pt x="196453" y="160734"/>
                </a:cubicBezTo>
                <a:cubicBezTo>
                  <a:pt x="166883" y="160734"/>
                  <a:pt x="142875" y="184742"/>
                  <a:pt x="142875" y="214313"/>
                </a:cubicBezTo>
                <a:cubicBezTo>
                  <a:pt x="142875" y="243883"/>
                  <a:pt x="166883" y="267891"/>
                  <a:pt x="196453" y="267891"/>
                </a:cubicBezTo>
                <a:cubicBezTo>
                  <a:pt x="226024" y="267891"/>
                  <a:pt x="250031" y="243883"/>
                  <a:pt x="250031" y="214313"/>
                </a:cubicBezTo>
                <a:close/>
                <a:moveTo>
                  <a:pt x="244785" y="48332"/>
                </a:moveTo>
                <a:cubicBezTo>
                  <a:pt x="251761" y="41356"/>
                  <a:pt x="251761" y="30026"/>
                  <a:pt x="244785" y="23050"/>
                </a:cubicBezTo>
                <a:cubicBezTo>
                  <a:pt x="237809" y="16073"/>
                  <a:pt x="226479" y="16073"/>
                  <a:pt x="219503" y="23050"/>
                </a:cubicBezTo>
                <a:lnTo>
                  <a:pt x="5190" y="237362"/>
                </a:lnTo>
                <a:cubicBezTo>
                  <a:pt x="-1786" y="244339"/>
                  <a:pt x="-1786" y="255668"/>
                  <a:pt x="5190" y="262644"/>
                </a:cubicBezTo>
                <a:cubicBezTo>
                  <a:pt x="12167" y="269621"/>
                  <a:pt x="23496" y="269621"/>
                  <a:pt x="30473" y="262644"/>
                </a:cubicBezTo>
                <a:lnTo>
                  <a:pt x="244785" y="48332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59" name="Text 57"/>
          <p:cNvSpPr/>
          <p:nvPr/>
        </p:nvSpPr>
        <p:spPr>
          <a:xfrm>
            <a:off x="6195566" y="6115050"/>
            <a:ext cx="99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Confidence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367662" y="5915025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985447" y="575310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0" y="35719"/>
                </a:moveTo>
                <a:cubicBezTo>
                  <a:pt x="0" y="16018"/>
                  <a:pt x="16018" y="0"/>
                  <a:pt x="35719" y="0"/>
                </a:cubicBezTo>
                <a:lnTo>
                  <a:pt x="119156" y="0"/>
                </a:lnTo>
                <a:cubicBezTo>
                  <a:pt x="128643" y="0"/>
                  <a:pt x="137740" y="3739"/>
                  <a:pt x="144438" y="10437"/>
                </a:cubicBezTo>
                <a:lnTo>
                  <a:pt x="203876" y="69931"/>
                </a:lnTo>
                <a:cubicBezTo>
                  <a:pt x="210573" y="76628"/>
                  <a:pt x="214313" y="85725"/>
                  <a:pt x="214313" y="95213"/>
                </a:cubicBezTo>
                <a:lnTo>
                  <a:pt x="214313" y="250031"/>
                </a:lnTo>
                <a:cubicBezTo>
                  <a:pt x="214313" y="269732"/>
                  <a:pt x="198295" y="285750"/>
                  <a:pt x="178594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35719"/>
                </a:lnTo>
                <a:close/>
                <a:moveTo>
                  <a:pt x="116086" y="32649"/>
                </a:moveTo>
                <a:lnTo>
                  <a:pt x="116086" y="84832"/>
                </a:lnTo>
                <a:cubicBezTo>
                  <a:pt x="116086" y="92255"/>
                  <a:pt x="122058" y="98227"/>
                  <a:pt x="129480" y="98227"/>
                </a:cubicBezTo>
                <a:lnTo>
                  <a:pt x="181663" y="98227"/>
                </a:lnTo>
                <a:lnTo>
                  <a:pt x="116086" y="32649"/>
                </a:lnTo>
                <a:close/>
                <a:moveTo>
                  <a:pt x="66973" y="142875"/>
                </a:moveTo>
                <a:cubicBezTo>
                  <a:pt x="59550" y="142875"/>
                  <a:pt x="53578" y="148847"/>
                  <a:pt x="53578" y="156270"/>
                </a:cubicBezTo>
                <a:cubicBezTo>
                  <a:pt x="53578" y="163692"/>
                  <a:pt x="59550" y="169664"/>
                  <a:pt x="66973" y="169664"/>
                </a:cubicBezTo>
                <a:lnTo>
                  <a:pt x="147340" y="169664"/>
                </a:lnTo>
                <a:cubicBezTo>
                  <a:pt x="154763" y="169664"/>
                  <a:pt x="160734" y="163692"/>
                  <a:pt x="160734" y="156270"/>
                </a:cubicBezTo>
                <a:cubicBezTo>
                  <a:pt x="160734" y="148847"/>
                  <a:pt x="154763" y="142875"/>
                  <a:pt x="147340" y="142875"/>
                </a:cubicBezTo>
                <a:lnTo>
                  <a:pt x="66973" y="142875"/>
                </a:lnTo>
                <a:close/>
                <a:moveTo>
                  <a:pt x="66973" y="196453"/>
                </a:moveTo>
                <a:cubicBezTo>
                  <a:pt x="59550" y="196453"/>
                  <a:pt x="53578" y="202425"/>
                  <a:pt x="53578" y="209848"/>
                </a:cubicBezTo>
                <a:cubicBezTo>
                  <a:pt x="53578" y="217270"/>
                  <a:pt x="59550" y="223242"/>
                  <a:pt x="66973" y="223242"/>
                </a:cubicBezTo>
                <a:lnTo>
                  <a:pt x="147340" y="223242"/>
                </a:lnTo>
                <a:cubicBezTo>
                  <a:pt x="154763" y="223242"/>
                  <a:pt x="160734" y="217270"/>
                  <a:pt x="160734" y="209848"/>
                </a:cubicBezTo>
                <a:cubicBezTo>
                  <a:pt x="160734" y="202425"/>
                  <a:pt x="154763" y="196453"/>
                  <a:pt x="147340" y="196453"/>
                </a:cubicBezTo>
                <a:lnTo>
                  <a:pt x="66973" y="196453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62" name="Text 60"/>
          <p:cNvSpPr/>
          <p:nvPr/>
        </p:nvSpPr>
        <p:spPr>
          <a:xfrm>
            <a:off x="7691065" y="6115050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Evidence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14350" y="514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419100"/>
            <a:ext cx="4171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Технологии и реализация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525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Стек технологий и структура R-пакета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414463"/>
            <a:ext cx="5610225" cy="2676525"/>
          </a:xfrm>
          <a:custGeom>
            <a:avLst/>
            <a:gdLst/>
            <a:ahLst/>
            <a:cxnLst/>
            <a:rect l="l" t="t" r="r" b="b"/>
            <a:pathLst>
              <a:path w="5610225" h="2676525">
                <a:moveTo>
                  <a:pt x="76201" y="0"/>
                </a:moveTo>
                <a:lnTo>
                  <a:pt x="5534024" y="0"/>
                </a:lnTo>
                <a:cubicBezTo>
                  <a:pt x="5576109" y="0"/>
                  <a:pt x="5610225" y="34116"/>
                  <a:pt x="5610225" y="76201"/>
                </a:cubicBezTo>
                <a:lnTo>
                  <a:pt x="5610225" y="2600324"/>
                </a:lnTo>
                <a:cubicBezTo>
                  <a:pt x="5610225" y="2642409"/>
                  <a:pt x="5576109" y="2676525"/>
                  <a:pt x="5534024" y="2676525"/>
                </a:cubicBezTo>
                <a:lnTo>
                  <a:pt x="76201" y="2676525"/>
                </a:lnTo>
                <a:cubicBezTo>
                  <a:pt x="34116" y="2676525"/>
                  <a:pt x="0" y="2642409"/>
                  <a:pt x="0" y="26003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025" y="16097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9138" y="17621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58291" y="101173"/>
                </a:moveTo>
                <a:cubicBezTo>
                  <a:pt x="258291" y="53176"/>
                  <a:pt x="200204" y="14288"/>
                  <a:pt x="128588" y="14288"/>
                </a:cubicBezTo>
                <a:cubicBezTo>
                  <a:pt x="56971" y="14288"/>
                  <a:pt x="-1116" y="53176"/>
                  <a:pt x="-1116" y="101173"/>
                </a:cubicBezTo>
                <a:cubicBezTo>
                  <a:pt x="-1116" y="143947"/>
                  <a:pt x="45006" y="179487"/>
                  <a:pt x="105772" y="186675"/>
                </a:cubicBezTo>
                <a:lnTo>
                  <a:pt x="105772" y="214313"/>
                </a:lnTo>
                <a:lnTo>
                  <a:pt x="150019" y="214313"/>
                </a:lnTo>
                <a:lnTo>
                  <a:pt x="150019" y="186854"/>
                </a:lnTo>
                <a:cubicBezTo>
                  <a:pt x="160868" y="185648"/>
                  <a:pt x="171271" y="183550"/>
                  <a:pt x="181005" y="180648"/>
                </a:cubicBezTo>
                <a:lnTo>
                  <a:pt x="198909" y="214313"/>
                </a:lnTo>
                <a:lnTo>
                  <a:pt x="248915" y="214313"/>
                </a:lnTo>
                <a:lnTo>
                  <a:pt x="218822" y="163547"/>
                </a:lnTo>
                <a:cubicBezTo>
                  <a:pt x="243155" y="147742"/>
                  <a:pt x="258291" y="125641"/>
                  <a:pt x="258291" y="101173"/>
                </a:cubicBezTo>
                <a:close/>
                <a:moveTo>
                  <a:pt x="49872" y="107647"/>
                </a:moveTo>
                <a:cubicBezTo>
                  <a:pt x="49872" y="74831"/>
                  <a:pt x="94030" y="48265"/>
                  <a:pt x="148456" y="48265"/>
                </a:cubicBezTo>
                <a:cubicBezTo>
                  <a:pt x="202883" y="48265"/>
                  <a:pt x="243066" y="66437"/>
                  <a:pt x="243066" y="107647"/>
                </a:cubicBezTo>
                <a:cubicBezTo>
                  <a:pt x="243066" y="130016"/>
                  <a:pt x="231234" y="145599"/>
                  <a:pt x="211678" y="155153"/>
                </a:cubicBezTo>
                <a:cubicBezTo>
                  <a:pt x="210607" y="154439"/>
                  <a:pt x="209580" y="153859"/>
                  <a:pt x="208821" y="153501"/>
                </a:cubicBezTo>
                <a:cubicBezTo>
                  <a:pt x="204267" y="151180"/>
                  <a:pt x="196408" y="148813"/>
                  <a:pt x="196408" y="148813"/>
                </a:cubicBezTo>
                <a:cubicBezTo>
                  <a:pt x="196408" y="148813"/>
                  <a:pt x="235074" y="145956"/>
                  <a:pt x="235074" y="107424"/>
                </a:cubicBezTo>
                <a:cubicBezTo>
                  <a:pt x="235074" y="68893"/>
                  <a:pt x="194623" y="68178"/>
                  <a:pt x="194623" y="68178"/>
                </a:cubicBezTo>
                <a:lnTo>
                  <a:pt x="105772" y="68178"/>
                </a:lnTo>
                <a:lnTo>
                  <a:pt x="105772" y="161181"/>
                </a:lnTo>
                <a:cubicBezTo>
                  <a:pt x="72688" y="151581"/>
                  <a:pt x="49872" y="131222"/>
                  <a:pt x="49872" y="107647"/>
                </a:cubicBezTo>
                <a:close/>
                <a:moveTo>
                  <a:pt x="150376" y="124748"/>
                </a:moveTo>
                <a:lnTo>
                  <a:pt x="150376" y="99923"/>
                </a:lnTo>
                <a:cubicBezTo>
                  <a:pt x="176183" y="99923"/>
                  <a:pt x="189577" y="96887"/>
                  <a:pt x="189577" y="112112"/>
                </a:cubicBezTo>
                <a:cubicBezTo>
                  <a:pt x="189577" y="128409"/>
                  <a:pt x="172522" y="124748"/>
                  <a:pt x="150376" y="124748"/>
                </a:cubicBezTo>
                <a:close/>
                <a:moveTo>
                  <a:pt x="149974" y="157118"/>
                </a:moveTo>
                <a:lnTo>
                  <a:pt x="161851" y="157118"/>
                </a:lnTo>
                <a:cubicBezTo>
                  <a:pt x="166673" y="157118"/>
                  <a:pt x="170289" y="162342"/>
                  <a:pt x="172566" y="165690"/>
                </a:cubicBezTo>
                <a:cubicBezTo>
                  <a:pt x="165378" y="166539"/>
                  <a:pt x="157832" y="166941"/>
                  <a:pt x="149974" y="166985"/>
                </a:cubicBezTo>
                <a:lnTo>
                  <a:pt x="149974" y="157118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9" name="Text 7"/>
          <p:cNvSpPr/>
          <p:nvPr/>
        </p:nvSpPr>
        <p:spPr>
          <a:xfrm>
            <a:off x="1266825" y="1647825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 Package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66825" y="1914525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Ядро проекта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1025" y="2295525"/>
            <a:ext cx="5219700" cy="342900"/>
          </a:xfrm>
          <a:custGeom>
            <a:avLst/>
            <a:gdLst/>
            <a:ahLst/>
            <a:cxnLst/>
            <a:rect l="l" t="t" r="r" b="b"/>
            <a:pathLst>
              <a:path w="5219700" h="342900">
                <a:moveTo>
                  <a:pt x="38100" y="0"/>
                </a:moveTo>
                <a:lnTo>
                  <a:pt x="5181600" y="0"/>
                </a:lnTo>
                <a:cubicBezTo>
                  <a:pt x="5202642" y="0"/>
                  <a:pt x="5219700" y="17058"/>
                  <a:pt x="5219700" y="38100"/>
                </a:cubicBezTo>
                <a:lnTo>
                  <a:pt x="5219700" y="304800"/>
                </a:lnTo>
                <a:cubicBezTo>
                  <a:pt x="5219700" y="325842"/>
                  <a:pt x="5202642" y="342900"/>
                  <a:pt x="51816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95325" y="2371725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data-raw/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72496" y="2390775"/>
            <a:ext cx="771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Сбор данных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1025" y="2714625"/>
            <a:ext cx="5219700" cy="342900"/>
          </a:xfrm>
          <a:custGeom>
            <a:avLst/>
            <a:gdLst/>
            <a:ahLst/>
            <a:cxnLst/>
            <a:rect l="l" t="t" r="r" b="b"/>
            <a:pathLst>
              <a:path w="5219700" h="342900">
                <a:moveTo>
                  <a:pt x="38100" y="0"/>
                </a:moveTo>
                <a:lnTo>
                  <a:pt x="5181600" y="0"/>
                </a:lnTo>
                <a:cubicBezTo>
                  <a:pt x="5202642" y="0"/>
                  <a:pt x="5219700" y="17058"/>
                  <a:pt x="5219700" y="38100"/>
                </a:cubicBezTo>
                <a:lnTo>
                  <a:pt x="5219700" y="304800"/>
                </a:lnTo>
                <a:cubicBezTo>
                  <a:pt x="5219700" y="325842"/>
                  <a:pt x="5202642" y="342900"/>
                  <a:pt x="51816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95325" y="2790825"/>
            <a:ext cx="200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R/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70300" y="2809875"/>
            <a:ext cx="1676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Функции ETL, классификации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1025" y="3133725"/>
            <a:ext cx="5219700" cy="342900"/>
          </a:xfrm>
          <a:custGeom>
            <a:avLst/>
            <a:gdLst/>
            <a:ahLst/>
            <a:cxnLst/>
            <a:rect l="l" t="t" r="r" b="b"/>
            <a:pathLst>
              <a:path w="5219700" h="342900">
                <a:moveTo>
                  <a:pt x="38100" y="0"/>
                </a:moveTo>
                <a:lnTo>
                  <a:pt x="5181600" y="0"/>
                </a:lnTo>
                <a:cubicBezTo>
                  <a:pt x="5202642" y="0"/>
                  <a:pt x="5219700" y="17058"/>
                  <a:pt x="5219700" y="38100"/>
                </a:cubicBezTo>
                <a:lnTo>
                  <a:pt x="5219700" y="304800"/>
                </a:lnTo>
                <a:cubicBezTo>
                  <a:pt x="5219700" y="325842"/>
                  <a:pt x="5202642" y="342900"/>
                  <a:pt x="51816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95325" y="3209925"/>
            <a:ext cx="390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data/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44789" y="3228975"/>
            <a:ext cx="1000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Примеры данных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1025" y="3552825"/>
            <a:ext cx="5219700" cy="342900"/>
          </a:xfrm>
          <a:custGeom>
            <a:avLst/>
            <a:gdLst/>
            <a:ahLst/>
            <a:cxnLst/>
            <a:rect l="l" t="t" r="r" b="b"/>
            <a:pathLst>
              <a:path w="5219700" h="342900">
                <a:moveTo>
                  <a:pt x="38100" y="0"/>
                </a:moveTo>
                <a:lnTo>
                  <a:pt x="5181600" y="0"/>
                </a:lnTo>
                <a:cubicBezTo>
                  <a:pt x="5202642" y="0"/>
                  <a:pt x="5219700" y="17058"/>
                  <a:pt x="5219700" y="38100"/>
                </a:cubicBezTo>
                <a:lnTo>
                  <a:pt x="5219700" y="304800"/>
                </a:lnTo>
                <a:cubicBezTo>
                  <a:pt x="5219700" y="325842"/>
                  <a:pt x="5202642" y="342900"/>
                  <a:pt x="51816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95325" y="3629025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vignettes/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90864" y="3648075"/>
            <a:ext cx="1457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Сценарии использования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5763" y="4252913"/>
            <a:ext cx="5610225" cy="1304925"/>
          </a:xfrm>
          <a:custGeom>
            <a:avLst/>
            <a:gdLst/>
            <a:ahLst/>
            <a:cxnLst/>
            <a:rect l="l" t="t" r="r" b="b"/>
            <a:pathLst>
              <a:path w="5610225" h="1304925">
                <a:moveTo>
                  <a:pt x="76195" y="0"/>
                </a:moveTo>
                <a:lnTo>
                  <a:pt x="5534030" y="0"/>
                </a:lnTo>
                <a:cubicBezTo>
                  <a:pt x="5576083" y="0"/>
                  <a:pt x="5610225" y="34142"/>
                  <a:pt x="5610225" y="76195"/>
                </a:cubicBezTo>
                <a:lnTo>
                  <a:pt x="5610225" y="1228730"/>
                </a:lnTo>
                <a:cubicBezTo>
                  <a:pt x="5610225" y="1270783"/>
                  <a:pt x="5576083" y="1304925"/>
                  <a:pt x="5534030" y="1304925"/>
                </a:cubicBezTo>
                <a:lnTo>
                  <a:pt x="76195" y="1304925"/>
                </a:lnTo>
                <a:cubicBezTo>
                  <a:pt x="34142" y="1304925"/>
                  <a:pt x="0" y="1270783"/>
                  <a:pt x="0" y="122873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1025" y="44481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33425" y="46005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6" name="Text 24"/>
          <p:cNvSpPr/>
          <p:nvPr/>
        </p:nvSpPr>
        <p:spPr>
          <a:xfrm>
            <a:off x="1266825" y="4486275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Shiny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66825" y="4752975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Веб-интерфейс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81025" y="5133975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Использует функции из пакета, отдельное приложение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6013" y="1414463"/>
            <a:ext cx="5610225" cy="1781175"/>
          </a:xfrm>
          <a:custGeom>
            <a:avLst/>
            <a:gdLst/>
            <a:ahLst/>
            <a:cxnLst/>
            <a:rect l="l" t="t" r="r" b="b"/>
            <a:pathLst>
              <a:path w="5610225" h="1781175">
                <a:moveTo>
                  <a:pt x="76199" y="0"/>
                </a:moveTo>
                <a:lnTo>
                  <a:pt x="5534026" y="0"/>
                </a:lnTo>
                <a:cubicBezTo>
                  <a:pt x="5576110" y="0"/>
                  <a:pt x="5610225" y="34115"/>
                  <a:pt x="5610225" y="76199"/>
                </a:cubicBezTo>
                <a:lnTo>
                  <a:pt x="5610225" y="1704976"/>
                </a:lnTo>
                <a:cubicBezTo>
                  <a:pt x="5610225" y="1747060"/>
                  <a:pt x="5576110" y="1781175"/>
                  <a:pt x="5534026" y="1781175"/>
                </a:cubicBezTo>
                <a:lnTo>
                  <a:pt x="76199" y="1781175"/>
                </a:lnTo>
                <a:cubicBezTo>
                  <a:pt x="34115" y="1781175"/>
                  <a:pt x="0" y="1747060"/>
                  <a:pt x="0" y="170497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91275" y="16097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57963" y="17621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16131"/>
                </a:lnTo>
                <a:cubicBezTo>
                  <a:pt x="8081" y="110460"/>
                  <a:pt x="17949" y="107156"/>
                  <a:pt x="28575" y="107156"/>
                </a:cubicBezTo>
                <a:lnTo>
                  <a:pt x="171450" y="107156"/>
                </a:lnTo>
                <a:cubicBezTo>
                  <a:pt x="182076" y="107156"/>
                  <a:pt x="191944" y="110460"/>
                  <a:pt x="200025" y="116131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200025" y="157163"/>
                </a:move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lose/>
                <a:moveTo>
                  <a:pt x="100013" y="171450"/>
                </a:moveTo>
                <a:cubicBezTo>
                  <a:pt x="100013" y="163565"/>
                  <a:pt x="106415" y="157163"/>
                  <a:pt x="114300" y="157163"/>
                </a:cubicBezTo>
                <a:cubicBezTo>
                  <a:pt x="122185" y="157163"/>
                  <a:pt x="128588" y="163565"/>
                  <a:pt x="128588" y="171450"/>
                </a:cubicBezTo>
                <a:cubicBezTo>
                  <a:pt x="128588" y="179335"/>
                  <a:pt x="122185" y="185738"/>
                  <a:pt x="114300" y="185738"/>
                </a:cubicBezTo>
                <a:cubicBezTo>
                  <a:pt x="106415" y="185738"/>
                  <a:pt x="100013" y="179335"/>
                  <a:pt x="100013" y="171450"/>
                </a:cubicBezTo>
                <a:close/>
                <a:moveTo>
                  <a:pt x="157163" y="157163"/>
                </a:moveTo>
                <a:cubicBezTo>
                  <a:pt x="165048" y="157163"/>
                  <a:pt x="171450" y="163565"/>
                  <a:pt x="171450" y="171450"/>
                </a:cubicBezTo>
                <a:cubicBezTo>
                  <a:pt x="171450" y="179335"/>
                  <a:pt x="165048" y="185738"/>
                  <a:pt x="157163" y="185738"/>
                </a:cubicBezTo>
                <a:cubicBezTo>
                  <a:pt x="149277" y="185738"/>
                  <a:pt x="142875" y="179335"/>
                  <a:pt x="142875" y="171450"/>
                </a:cubicBezTo>
                <a:cubicBezTo>
                  <a:pt x="142875" y="163565"/>
                  <a:pt x="149277" y="157163"/>
                  <a:pt x="157163" y="157163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2" name="Text 30"/>
          <p:cNvSpPr/>
          <p:nvPr/>
        </p:nvSpPr>
        <p:spPr>
          <a:xfrm>
            <a:off x="7077075" y="1647825"/>
            <a:ext cx="2133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Хранение и обработка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77075" y="1914525"/>
            <a:ext cx="2105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Современные средства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91275" y="2295525"/>
            <a:ext cx="1666875" cy="704850"/>
          </a:xfrm>
          <a:custGeom>
            <a:avLst/>
            <a:gdLst/>
            <a:ahLst/>
            <a:cxnLst/>
            <a:rect l="l" t="t" r="r" b="b"/>
            <a:pathLst>
              <a:path w="1666875" h="704850">
                <a:moveTo>
                  <a:pt x="38097" y="0"/>
                </a:moveTo>
                <a:lnTo>
                  <a:pt x="1628778" y="0"/>
                </a:lnTo>
                <a:cubicBezTo>
                  <a:pt x="1649804" y="0"/>
                  <a:pt x="1666875" y="17071"/>
                  <a:pt x="1666875" y="38097"/>
                </a:cubicBezTo>
                <a:lnTo>
                  <a:pt x="1666875" y="666753"/>
                </a:lnTo>
                <a:cubicBezTo>
                  <a:pt x="1666875" y="687793"/>
                  <a:pt x="1649818" y="704850"/>
                  <a:pt x="1628778" y="704850"/>
                </a:cubicBezTo>
                <a:lnTo>
                  <a:pt x="38097" y="704850"/>
                </a:lnTo>
                <a:cubicBezTo>
                  <a:pt x="17071" y="704850"/>
                  <a:pt x="0" y="687779"/>
                  <a:pt x="0" y="666753"/>
                </a:cubicBezTo>
                <a:lnTo>
                  <a:pt x="0" y="38097"/>
                </a:lnTo>
                <a:cubicBezTo>
                  <a:pt x="0" y="17071"/>
                  <a:pt x="17071" y="0"/>
                  <a:pt x="380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139732" y="242411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6" name="Text 34"/>
          <p:cNvSpPr/>
          <p:nvPr/>
        </p:nvSpPr>
        <p:spPr>
          <a:xfrm>
            <a:off x="6472238" y="2690813"/>
            <a:ext cx="150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DuckDB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69250" y="2295525"/>
            <a:ext cx="1666875" cy="704850"/>
          </a:xfrm>
          <a:custGeom>
            <a:avLst/>
            <a:gdLst/>
            <a:ahLst/>
            <a:cxnLst/>
            <a:rect l="l" t="t" r="r" b="b"/>
            <a:pathLst>
              <a:path w="1666875" h="704850">
                <a:moveTo>
                  <a:pt x="38097" y="0"/>
                </a:moveTo>
                <a:lnTo>
                  <a:pt x="1628778" y="0"/>
                </a:lnTo>
                <a:cubicBezTo>
                  <a:pt x="1649804" y="0"/>
                  <a:pt x="1666875" y="17071"/>
                  <a:pt x="1666875" y="38097"/>
                </a:cubicBezTo>
                <a:lnTo>
                  <a:pt x="1666875" y="666753"/>
                </a:lnTo>
                <a:cubicBezTo>
                  <a:pt x="1666875" y="687793"/>
                  <a:pt x="1649818" y="704850"/>
                  <a:pt x="1628778" y="704850"/>
                </a:cubicBezTo>
                <a:lnTo>
                  <a:pt x="38097" y="704850"/>
                </a:lnTo>
                <a:cubicBezTo>
                  <a:pt x="17071" y="704850"/>
                  <a:pt x="0" y="687779"/>
                  <a:pt x="0" y="666753"/>
                </a:cubicBezTo>
                <a:lnTo>
                  <a:pt x="0" y="38097"/>
                </a:lnTo>
                <a:cubicBezTo>
                  <a:pt x="0" y="17071"/>
                  <a:pt x="17071" y="0"/>
                  <a:pt x="380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905801" y="24241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69" y="0"/>
                </a:moveTo>
                <a:cubicBezTo>
                  <a:pt x="146224" y="0"/>
                  <a:pt x="160846" y="6065"/>
                  <a:pt x="171599" y="16818"/>
                </a:cubicBezTo>
                <a:lnTo>
                  <a:pt x="173645" y="18864"/>
                </a:lnTo>
                <a:cubicBezTo>
                  <a:pt x="184435" y="29654"/>
                  <a:pt x="190500" y="44276"/>
                  <a:pt x="190500" y="59494"/>
                </a:cubicBezTo>
                <a:cubicBezTo>
                  <a:pt x="190500" y="68461"/>
                  <a:pt x="188379" y="77205"/>
                  <a:pt x="184472" y="85092"/>
                </a:cubicBezTo>
                <a:cubicBezTo>
                  <a:pt x="183766" y="86469"/>
                  <a:pt x="182500" y="87511"/>
                  <a:pt x="181012" y="87957"/>
                </a:cubicBezTo>
                <a:lnTo>
                  <a:pt x="139340" y="100459"/>
                </a:lnTo>
                <a:cubicBezTo>
                  <a:pt x="137889" y="100905"/>
                  <a:pt x="136922" y="102208"/>
                  <a:pt x="136922" y="103733"/>
                </a:cubicBezTo>
                <a:cubicBezTo>
                  <a:pt x="136922" y="105631"/>
                  <a:pt x="138447" y="107156"/>
                  <a:pt x="140345" y="107156"/>
                </a:cubicBezTo>
                <a:lnTo>
                  <a:pt x="152326" y="107156"/>
                </a:lnTo>
                <a:cubicBezTo>
                  <a:pt x="157646" y="107156"/>
                  <a:pt x="160288" y="113556"/>
                  <a:pt x="156530" y="117314"/>
                </a:cubicBezTo>
                <a:lnTo>
                  <a:pt x="148196" y="125648"/>
                </a:lnTo>
                <a:cubicBezTo>
                  <a:pt x="147489" y="126355"/>
                  <a:pt x="146633" y="126839"/>
                  <a:pt x="145703" y="127136"/>
                </a:cubicBezTo>
                <a:lnTo>
                  <a:pt x="115565" y="136178"/>
                </a:lnTo>
                <a:cubicBezTo>
                  <a:pt x="114114" y="136624"/>
                  <a:pt x="113147" y="137926"/>
                  <a:pt x="113147" y="139452"/>
                </a:cubicBezTo>
                <a:cubicBezTo>
                  <a:pt x="113147" y="141350"/>
                  <a:pt x="114672" y="142875"/>
                  <a:pt x="116570" y="142875"/>
                </a:cubicBezTo>
                <a:cubicBezTo>
                  <a:pt x="121481" y="142875"/>
                  <a:pt x="123602" y="148717"/>
                  <a:pt x="119472" y="151395"/>
                </a:cubicBezTo>
                <a:cubicBezTo>
                  <a:pt x="104180" y="161292"/>
                  <a:pt x="86246" y="166688"/>
                  <a:pt x="67754" y="166688"/>
                </a:cubicBezTo>
                <a:lnTo>
                  <a:pt x="35756" y="166688"/>
                </a:lnTo>
                <a:lnTo>
                  <a:pt x="17897" y="184547"/>
                </a:lnTo>
                <a:cubicBezTo>
                  <a:pt x="14622" y="187821"/>
                  <a:pt x="9265" y="187821"/>
                  <a:pt x="5990" y="184547"/>
                </a:cubicBezTo>
                <a:cubicBezTo>
                  <a:pt x="2716" y="181273"/>
                  <a:pt x="2716" y="175915"/>
                  <a:pt x="5990" y="172641"/>
                </a:cubicBezTo>
                <a:lnTo>
                  <a:pt x="95250" y="83344"/>
                </a:lnTo>
                <a:cubicBezTo>
                  <a:pt x="98524" y="80070"/>
                  <a:pt x="98524" y="74712"/>
                  <a:pt x="95250" y="71438"/>
                </a:cubicBezTo>
                <a:cubicBezTo>
                  <a:pt x="91976" y="68163"/>
                  <a:pt x="86618" y="68163"/>
                  <a:pt x="83344" y="71438"/>
                </a:cubicBezTo>
                <a:lnTo>
                  <a:pt x="29580" y="125202"/>
                </a:lnTo>
                <a:cubicBezTo>
                  <a:pt x="27459" y="127322"/>
                  <a:pt x="23812" y="125834"/>
                  <a:pt x="23812" y="122820"/>
                </a:cubicBezTo>
                <a:cubicBezTo>
                  <a:pt x="23812" y="97557"/>
                  <a:pt x="33858" y="73335"/>
                  <a:pt x="51718" y="55476"/>
                </a:cubicBezTo>
                <a:lnTo>
                  <a:pt x="90339" y="16818"/>
                </a:lnTo>
                <a:cubicBezTo>
                  <a:pt x="101092" y="6065"/>
                  <a:pt x="115714" y="0"/>
                  <a:pt x="130969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9" name="Text 37"/>
          <p:cNvSpPr/>
          <p:nvPr/>
        </p:nvSpPr>
        <p:spPr>
          <a:xfrm>
            <a:off x="8250213" y="2690813"/>
            <a:ext cx="150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Arrow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947225" y="2295525"/>
            <a:ext cx="1666875" cy="704850"/>
          </a:xfrm>
          <a:custGeom>
            <a:avLst/>
            <a:gdLst/>
            <a:ahLst/>
            <a:cxnLst/>
            <a:rect l="l" t="t" r="r" b="b"/>
            <a:pathLst>
              <a:path w="1666875" h="704850">
                <a:moveTo>
                  <a:pt x="38097" y="0"/>
                </a:moveTo>
                <a:lnTo>
                  <a:pt x="1628778" y="0"/>
                </a:lnTo>
                <a:cubicBezTo>
                  <a:pt x="1649804" y="0"/>
                  <a:pt x="1666875" y="17071"/>
                  <a:pt x="1666875" y="38097"/>
                </a:cubicBezTo>
                <a:lnTo>
                  <a:pt x="1666875" y="666753"/>
                </a:lnTo>
                <a:cubicBezTo>
                  <a:pt x="1666875" y="687793"/>
                  <a:pt x="1649818" y="704850"/>
                  <a:pt x="1628778" y="704850"/>
                </a:cubicBezTo>
                <a:lnTo>
                  <a:pt x="38097" y="704850"/>
                </a:lnTo>
                <a:cubicBezTo>
                  <a:pt x="17071" y="704850"/>
                  <a:pt x="0" y="687779"/>
                  <a:pt x="0" y="666753"/>
                </a:cubicBezTo>
                <a:lnTo>
                  <a:pt x="0" y="38097"/>
                </a:lnTo>
                <a:cubicBezTo>
                  <a:pt x="0" y="17071"/>
                  <a:pt x="17071" y="0"/>
                  <a:pt x="380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671944" y="242411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2" name="Text 40"/>
          <p:cNvSpPr/>
          <p:nvPr/>
        </p:nvSpPr>
        <p:spPr>
          <a:xfrm>
            <a:off x="10028188" y="2690813"/>
            <a:ext cx="150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tidyverse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96013" y="3352800"/>
            <a:ext cx="5610225" cy="1533525"/>
          </a:xfrm>
          <a:custGeom>
            <a:avLst/>
            <a:gdLst/>
            <a:ahLst/>
            <a:cxnLst/>
            <a:rect l="l" t="t" r="r" b="b"/>
            <a:pathLst>
              <a:path w="5610225" h="1533525">
                <a:moveTo>
                  <a:pt x="76201" y="0"/>
                </a:moveTo>
                <a:lnTo>
                  <a:pt x="5534024" y="0"/>
                </a:lnTo>
                <a:cubicBezTo>
                  <a:pt x="5576081" y="0"/>
                  <a:pt x="5610225" y="34144"/>
                  <a:pt x="5610225" y="76201"/>
                </a:cubicBezTo>
                <a:lnTo>
                  <a:pt x="5610225" y="1457324"/>
                </a:lnTo>
                <a:cubicBezTo>
                  <a:pt x="5610225" y="1499381"/>
                  <a:pt x="5576081" y="1533525"/>
                  <a:pt x="5534024" y="1533525"/>
                </a:cubicBezTo>
                <a:lnTo>
                  <a:pt x="76201" y="1533525"/>
                </a:lnTo>
                <a:cubicBezTo>
                  <a:pt x="34144" y="1533525"/>
                  <a:pt x="0" y="1499381"/>
                  <a:pt x="0" y="1457324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91275" y="354806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515100" y="3700463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6225" y="105504"/>
                </a:moveTo>
                <a:lnTo>
                  <a:pt x="126712" y="105504"/>
                </a:lnTo>
                <a:lnTo>
                  <a:pt x="126712" y="78983"/>
                </a:lnTo>
                <a:lnTo>
                  <a:pt x="156225" y="78983"/>
                </a:lnTo>
                <a:lnTo>
                  <a:pt x="156225" y="105504"/>
                </a:lnTo>
                <a:close/>
                <a:moveTo>
                  <a:pt x="156225" y="14288"/>
                </a:moveTo>
                <a:lnTo>
                  <a:pt x="126712" y="14288"/>
                </a:lnTo>
                <a:lnTo>
                  <a:pt x="126712" y="41389"/>
                </a:lnTo>
                <a:lnTo>
                  <a:pt x="156225" y="41389"/>
                </a:lnTo>
                <a:lnTo>
                  <a:pt x="156225" y="14288"/>
                </a:lnTo>
                <a:close/>
                <a:moveTo>
                  <a:pt x="191140" y="78938"/>
                </a:moveTo>
                <a:lnTo>
                  <a:pt x="161627" y="78938"/>
                </a:lnTo>
                <a:lnTo>
                  <a:pt x="161627" y="105460"/>
                </a:lnTo>
                <a:lnTo>
                  <a:pt x="191140" y="105460"/>
                </a:lnTo>
                <a:lnTo>
                  <a:pt x="191140" y="78938"/>
                </a:lnTo>
                <a:close/>
                <a:moveTo>
                  <a:pt x="121354" y="46747"/>
                </a:moveTo>
                <a:lnTo>
                  <a:pt x="91842" y="46747"/>
                </a:lnTo>
                <a:lnTo>
                  <a:pt x="91842" y="73581"/>
                </a:lnTo>
                <a:lnTo>
                  <a:pt x="121354" y="73581"/>
                </a:lnTo>
                <a:lnTo>
                  <a:pt x="121354" y="46747"/>
                </a:lnTo>
                <a:close/>
                <a:moveTo>
                  <a:pt x="156225" y="46747"/>
                </a:moveTo>
                <a:lnTo>
                  <a:pt x="126712" y="46747"/>
                </a:lnTo>
                <a:lnTo>
                  <a:pt x="126712" y="73581"/>
                </a:lnTo>
                <a:lnTo>
                  <a:pt x="156225" y="73581"/>
                </a:lnTo>
                <a:lnTo>
                  <a:pt x="156225" y="46747"/>
                </a:lnTo>
                <a:close/>
                <a:moveTo>
                  <a:pt x="279812" y="91395"/>
                </a:moveTo>
                <a:cubicBezTo>
                  <a:pt x="273382" y="87064"/>
                  <a:pt x="258559" y="85502"/>
                  <a:pt x="247174" y="87645"/>
                </a:cubicBezTo>
                <a:cubicBezTo>
                  <a:pt x="245700" y="76929"/>
                  <a:pt x="239717" y="67598"/>
                  <a:pt x="228823" y="59204"/>
                </a:cubicBezTo>
                <a:lnTo>
                  <a:pt x="222572" y="55052"/>
                </a:lnTo>
                <a:lnTo>
                  <a:pt x="218420" y="61302"/>
                </a:lnTo>
                <a:cubicBezTo>
                  <a:pt x="210205" y="73715"/>
                  <a:pt x="207972" y="94164"/>
                  <a:pt x="216768" y="107647"/>
                </a:cubicBezTo>
                <a:cubicBezTo>
                  <a:pt x="212884" y="109746"/>
                  <a:pt x="205249" y="112603"/>
                  <a:pt x="195158" y="112425"/>
                </a:cubicBezTo>
                <a:lnTo>
                  <a:pt x="1072" y="112425"/>
                </a:lnTo>
                <a:cubicBezTo>
                  <a:pt x="-2813" y="135106"/>
                  <a:pt x="3661" y="164574"/>
                  <a:pt x="20717" y="184800"/>
                </a:cubicBezTo>
                <a:cubicBezTo>
                  <a:pt x="37281" y="204401"/>
                  <a:pt x="62106" y="214357"/>
                  <a:pt x="94565" y="214357"/>
                </a:cubicBezTo>
                <a:cubicBezTo>
                  <a:pt x="164842" y="214357"/>
                  <a:pt x="216857" y="181987"/>
                  <a:pt x="241191" y="123185"/>
                </a:cubicBezTo>
                <a:cubicBezTo>
                  <a:pt x="250746" y="123364"/>
                  <a:pt x="271373" y="123230"/>
                  <a:pt x="281955" y="103004"/>
                </a:cubicBezTo>
                <a:cubicBezTo>
                  <a:pt x="282625" y="101888"/>
                  <a:pt x="284902" y="97110"/>
                  <a:pt x="285750" y="95369"/>
                </a:cubicBezTo>
                <a:lnTo>
                  <a:pt x="279812" y="91395"/>
                </a:lnTo>
                <a:close/>
                <a:moveTo>
                  <a:pt x="51614" y="78938"/>
                </a:moveTo>
                <a:lnTo>
                  <a:pt x="22146" y="78938"/>
                </a:lnTo>
                <a:lnTo>
                  <a:pt x="22146" y="105460"/>
                </a:lnTo>
                <a:lnTo>
                  <a:pt x="51658" y="105460"/>
                </a:lnTo>
                <a:lnTo>
                  <a:pt x="51658" y="78938"/>
                </a:lnTo>
                <a:lnTo>
                  <a:pt x="51614" y="78938"/>
                </a:lnTo>
                <a:close/>
                <a:moveTo>
                  <a:pt x="86484" y="78938"/>
                </a:moveTo>
                <a:lnTo>
                  <a:pt x="56971" y="78938"/>
                </a:lnTo>
                <a:lnTo>
                  <a:pt x="56971" y="105460"/>
                </a:lnTo>
                <a:lnTo>
                  <a:pt x="86484" y="105460"/>
                </a:lnTo>
                <a:lnTo>
                  <a:pt x="86484" y="78938"/>
                </a:lnTo>
                <a:close/>
                <a:moveTo>
                  <a:pt x="121354" y="78938"/>
                </a:moveTo>
                <a:lnTo>
                  <a:pt x="91842" y="78938"/>
                </a:lnTo>
                <a:lnTo>
                  <a:pt x="91842" y="105460"/>
                </a:lnTo>
                <a:lnTo>
                  <a:pt x="121354" y="105460"/>
                </a:lnTo>
                <a:lnTo>
                  <a:pt x="121354" y="78938"/>
                </a:lnTo>
                <a:close/>
                <a:moveTo>
                  <a:pt x="86484" y="46747"/>
                </a:moveTo>
                <a:lnTo>
                  <a:pt x="56971" y="46747"/>
                </a:lnTo>
                <a:lnTo>
                  <a:pt x="56971" y="73581"/>
                </a:lnTo>
                <a:lnTo>
                  <a:pt x="86484" y="73581"/>
                </a:lnTo>
                <a:lnTo>
                  <a:pt x="86484" y="46747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6" name="Text 44"/>
          <p:cNvSpPr/>
          <p:nvPr/>
        </p:nvSpPr>
        <p:spPr>
          <a:xfrm>
            <a:off x="7077075" y="3586163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077075" y="3852863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Развертывание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18659" y="426243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9" name="Text 47"/>
          <p:cNvSpPr/>
          <p:nvPr/>
        </p:nvSpPr>
        <p:spPr>
          <a:xfrm>
            <a:off x="6672263" y="4233863"/>
            <a:ext cx="2105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Dockerfile для контейнеризации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18659" y="452913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51" name="Text 49"/>
          <p:cNvSpPr/>
          <p:nvPr/>
        </p:nvSpPr>
        <p:spPr>
          <a:xfrm>
            <a:off x="6672263" y="4500563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docker-compose.yml для оркестрации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96013" y="5048250"/>
            <a:ext cx="5610225" cy="1304925"/>
          </a:xfrm>
          <a:custGeom>
            <a:avLst/>
            <a:gdLst/>
            <a:ahLst/>
            <a:cxnLst/>
            <a:rect l="l" t="t" r="r" b="b"/>
            <a:pathLst>
              <a:path w="5610225" h="1304925">
                <a:moveTo>
                  <a:pt x="76195" y="0"/>
                </a:moveTo>
                <a:lnTo>
                  <a:pt x="5534030" y="0"/>
                </a:lnTo>
                <a:cubicBezTo>
                  <a:pt x="5576083" y="0"/>
                  <a:pt x="5610225" y="34142"/>
                  <a:pt x="5610225" y="76195"/>
                </a:cubicBezTo>
                <a:lnTo>
                  <a:pt x="5610225" y="1228730"/>
                </a:lnTo>
                <a:cubicBezTo>
                  <a:pt x="5610225" y="1270783"/>
                  <a:pt x="5576083" y="1304925"/>
                  <a:pt x="5534030" y="1304925"/>
                </a:cubicBezTo>
                <a:lnTo>
                  <a:pt x="76195" y="1304925"/>
                </a:lnTo>
                <a:cubicBezTo>
                  <a:pt x="34142" y="1304925"/>
                  <a:pt x="0" y="1270783"/>
                  <a:pt x="0" y="122873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91275" y="524351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515100" y="5395913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55" name="Text 53"/>
          <p:cNvSpPr/>
          <p:nvPr/>
        </p:nvSpPr>
        <p:spPr>
          <a:xfrm>
            <a:off x="7077075" y="5281613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077075" y="5548313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AI-интеграция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91275" y="5929313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Программный доступ AI-агентов к базе знаний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0538" y="5143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50602" y="47625"/>
                </a:moveTo>
                <a:cubicBezTo>
                  <a:pt x="50602" y="22983"/>
                  <a:pt x="70608" y="2977"/>
                  <a:pt x="95250" y="2977"/>
                </a:cubicBezTo>
                <a:cubicBezTo>
                  <a:pt x="119892" y="2977"/>
                  <a:pt x="139898" y="22983"/>
                  <a:pt x="139898" y="47625"/>
                </a:cubicBezTo>
                <a:cubicBezTo>
                  <a:pt x="139898" y="72267"/>
                  <a:pt x="119892" y="92273"/>
                  <a:pt x="95250" y="92273"/>
                </a:cubicBezTo>
                <a:cubicBezTo>
                  <a:pt x="70608" y="92273"/>
                  <a:pt x="50602" y="72267"/>
                  <a:pt x="50602" y="47625"/>
                </a:cubicBezTo>
                <a:close/>
                <a:moveTo>
                  <a:pt x="17859" y="179450"/>
                </a:moveTo>
                <a:cubicBezTo>
                  <a:pt x="17859" y="142801"/>
                  <a:pt x="47551" y="113109"/>
                  <a:pt x="84200" y="113109"/>
                </a:cubicBezTo>
                <a:lnTo>
                  <a:pt x="106300" y="113109"/>
                </a:lnTo>
                <a:cubicBezTo>
                  <a:pt x="142949" y="113109"/>
                  <a:pt x="172641" y="142801"/>
                  <a:pt x="172641" y="179450"/>
                </a:cubicBezTo>
                <a:cubicBezTo>
                  <a:pt x="172641" y="185551"/>
                  <a:pt x="167692" y="190500"/>
                  <a:pt x="161590" y="190500"/>
                </a:cubicBezTo>
                <a:lnTo>
                  <a:pt x="28910" y="190500"/>
                </a:lnTo>
                <a:cubicBezTo>
                  <a:pt x="22808" y="190500"/>
                  <a:pt x="17859" y="185551"/>
                  <a:pt x="17859" y="179450"/>
                </a:cubicBezTo>
                <a:close/>
                <a:moveTo>
                  <a:pt x="227856" y="49374"/>
                </a:moveTo>
                <a:lnTo>
                  <a:pt x="198090" y="96999"/>
                </a:lnTo>
                <a:cubicBezTo>
                  <a:pt x="196528" y="99492"/>
                  <a:pt x="193849" y="101054"/>
                  <a:pt x="190909" y="101203"/>
                </a:cubicBezTo>
                <a:cubicBezTo>
                  <a:pt x="187970" y="101352"/>
                  <a:pt x="185142" y="100013"/>
                  <a:pt x="183393" y="97631"/>
                </a:cubicBezTo>
                <a:lnTo>
                  <a:pt x="165534" y="73819"/>
                </a:lnTo>
                <a:cubicBezTo>
                  <a:pt x="162558" y="69875"/>
                  <a:pt x="163376" y="64294"/>
                  <a:pt x="167320" y="61317"/>
                </a:cubicBezTo>
                <a:cubicBezTo>
                  <a:pt x="171264" y="58341"/>
                  <a:pt x="176845" y="59159"/>
                  <a:pt x="179822" y="63103"/>
                </a:cubicBezTo>
                <a:lnTo>
                  <a:pt x="189867" y="76498"/>
                </a:lnTo>
                <a:lnTo>
                  <a:pt x="212713" y="39923"/>
                </a:lnTo>
                <a:cubicBezTo>
                  <a:pt x="215317" y="35756"/>
                  <a:pt x="220824" y="34454"/>
                  <a:pt x="225028" y="37095"/>
                </a:cubicBezTo>
                <a:cubicBezTo>
                  <a:pt x="229233" y="39737"/>
                  <a:pt x="230498" y="45207"/>
                  <a:pt x="227856" y="49411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419100"/>
            <a:ext cx="6657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Ожидаемый пользовательский результат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525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Осмысленный аналитический интерфейс, а не просто таблица репозиториев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414463"/>
            <a:ext cx="3695700" cy="2066925"/>
          </a:xfrm>
          <a:custGeom>
            <a:avLst/>
            <a:gdLst/>
            <a:ahLst/>
            <a:cxnLst/>
            <a:rect l="l" t="t" r="r" b="b"/>
            <a:pathLst>
              <a:path w="3695700" h="2066925">
                <a:moveTo>
                  <a:pt x="76208" y="0"/>
                </a:moveTo>
                <a:lnTo>
                  <a:pt x="3619492" y="0"/>
                </a:lnTo>
                <a:cubicBezTo>
                  <a:pt x="3661581" y="0"/>
                  <a:pt x="3695700" y="34119"/>
                  <a:pt x="3695700" y="76208"/>
                </a:cubicBezTo>
                <a:lnTo>
                  <a:pt x="3695700" y="1990717"/>
                </a:lnTo>
                <a:cubicBezTo>
                  <a:pt x="3695700" y="2032806"/>
                  <a:pt x="3661581" y="2066925"/>
                  <a:pt x="3619492" y="2066925"/>
                </a:cubicBezTo>
                <a:lnTo>
                  <a:pt x="76208" y="2066925"/>
                </a:lnTo>
                <a:cubicBezTo>
                  <a:pt x="34119" y="2066925"/>
                  <a:pt x="0" y="2032806"/>
                  <a:pt x="0" y="1990717"/>
                </a:cubicBezTo>
                <a:lnTo>
                  <a:pt x="0" y="76208"/>
                </a:lnTo>
                <a:cubicBezTo>
                  <a:pt x="0" y="34147"/>
                  <a:pt x="34147" y="0"/>
                  <a:pt x="76208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025" y="1609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4375" y="17430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83" y="17859"/>
                </a:moveTo>
                <a:cubicBezTo>
                  <a:pt x="9934" y="17859"/>
                  <a:pt x="5953" y="21841"/>
                  <a:pt x="5953" y="26789"/>
                </a:cubicBezTo>
                <a:lnTo>
                  <a:pt x="5953" y="44648"/>
                </a:lnTo>
                <a:cubicBezTo>
                  <a:pt x="5953" y="49597"/>
                  <a:pt x="9934" y="53578"/>
                  <a:pt x="14883" y="53578"/>
                </a:cubicBezTo>
                <a:lnTo>
                  <a:pt x="32742" y="53578"/>
                </a:lnTo>
                <a:cubicBezTo>
                  <a:pt x="37691" y="53578"/>
                  <a:pt x="41672" y="49597"/>
                  <a:pt x="41672" y="44648"/>
                </a:cubicBezTo>
                <a:lnTo>
                  <a:pt x="41672" y="26789"/>
                </a:lnTo>
                <a:cubicBezTo>
                  <a:pt x="41672" y="21841"/>
                  <a:pt x="37691" y="17859"/>
                  <a:pt x="32742" y="17859"/>
                </a:cubicBezTo>
                <a:lnTo>
                  <a:pt x="14883" y="17859"/>
                </a:lnTo>
                <a:close/>
                <a:moveTo>
                  <a:pt x="71438" y="23812"/>
                </a:moveTo>
                <a:cubicBezTo>
                  <a:pt x="64852" y="23812"/>
                  <a:pt x="59531" y="29133"/>
                  <a:pt x="59531" y="35719"/>
                </a:cubicBezTo>
                <a:cubicBezTo>
                  <a:pt x="59531" y="42304"/>
                  <a:pt x="64852" y="47625"/>
                  <a:pt x="71438" y="47625"/>
                </a:cubicBezTo>
                <a:lnTo>
                  <a:pt x="178594" y="47625"/>
                </a:lnTo>
                <a:cubicBezTo>
                  <a:pt x="185179" y="47625"/>
                  <a:pt x="190500" y="42304"/>
                  <a:pt x="190500" y="35719"/>
                </a:cubicBezTo>
                <a:cubicBezTo>
                  <a:pt x="190500" y="29133"/>
                  <a:pt x="185179" y="23812"/>
                  <a:pt x="178594" y="23812"/>
                </a:cubicBezTo>
                <a:lnTo>
                  <a:pt x="71438" y="23812"/>
                </a:lnTo>
                <a:close/>
                <a:moveTo>
                  <a:pt x="71438" y="83344"/>
                </a:moveTo>
                <a:cubicBezTo>
                  <a:pt x="64852" y="83344"/>
                  <a:pt x="59531" y="88664"/>
                  <a:pt x="59531" y="95250"/>
                </a:cubicBezTo>
                <a:cubicBezTo>
                  <a:pt x="59531" y="101836"/>
                  <a:pt x="64852" y="107156"/>
                  <a:pt x="71438" y="107156"/>
                </a:cubicBez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71438" y="83344"/>
                </a:lnTo>
                <a:close/>
                <a:moveTo>
                  <a:pt x="71438" y="142875"/>
                </a:moveTo>
                <a:cubicBezTo>
                  <a:pt x="64852" y="142875"/>
                  <a:pt x="59531" y="148196"/>
                  <a:pt x="59531" y="154781"/>
                </a:cubicBezTo>
                <a:cubicBezTo>
                  <a:pt x="59531" y="161367"/>
                  <a:pt x="64852" y="166688"/>
                  <a:pt x="71438" y="166688"/>
                </a:cubicBez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ubicBezTo>
                  <a:pt x="190500" y="148196"/>
                  <a:pt x="185179" y="142875"/>
                  <a:pt x="178594" y="142875"/>
                </a:cubicBezTo>
                <a:lnTo>
                  <a:pt x="71438" y="142875"/>
                </a:lnTo>
                <a:close/>
                <a:moveTo>
                  <a:pt x="5953" y="86320"/>
                </a:moveTo>
                <a:lnTo>
                  <a:pt x="5953" y="104180"/>
                </a:lnTo>
                <a:cubicBezTo>
                  <a:pt x="5953" y="109128"/>
                  <a:pt x="9934" y="113109"/>
                  <a:pt x="14883" y="113109"/>
                </a:cubicBezTo>
                <a:lnTo>
                  <a:pt x="32742" y="113109"/>
                </a:lnTo>
                <a:cubicBezTo>
                  <a:pt x="37691" y="113109"/>
                  <a:pt x="41672" y="109128"/>
                  <a:pt x="41672" y="104180"/>
                </a:cubicBezTo>
                <a:lnTo>
                  <a:pt x="41672" y="86320"/>
                </a:lnTo>
                <a:cubicBezTo>
                  <a:pt x="41672" y="81372"/>
                  <a:pt x="37691" y="77391"/>
                  <a:pt x="32742" y="77391"/>
                </a:cubicBezTo>
                <a:lnTo>
                  <a:pt x="14883" y="77391"/>
                </a:lnTo>
                <a:cubicBezTo>
                  <a:pt x="9934" y="77391"/>
                  <a:pt x="5953" y="81372"/>
                  <a:pt x="5953" y="86320"/>
                </a:cubicBezTo>
                <a:close/>
                <a:moveTo>
                  <a:pt x="14883" y="136922"/>
                </a:moveTo>
                <a:cubicBezTo>
                  <a:pt x="9934" y="136922"/>
                  <a:pt x="5953" y="140903"/>
                  <a:pt x="5953" y="145852"/>
                </a:cubicBezTo>
                <a:lnTo>
                  <a:pt x="5953" y="163711"/>
                </a:lnTo>
                <a:cubicBezTo>
                  <a:pt x="5953" y="168659"/>
                  <a:pt x="9934" y="172641"/>
                  <a:pt x="14883" y="172641"/>
                </a:cubicBezTo>
                <a:lnTo>
                  <a:pt x="32742" y="172641"/>
                </a:lnTo>
                <a:cubicBezTo>
                  <a:pt x="37691" y="172641"/>
                  <a:pt x="41672" y="168659"/>
                  <a:pt x="41672" y="163711"/>
                </a:cubicBezTo>
                <a:lnTo>
                  <a:pt x="41672" y="145852"/>
                </a:lnTo>
                <a:cubicBezTo>
                  <a:pt x="41672" y="140903"/>
                  <a:pt x="37691" y="136922"/>
                  <a:pt x="32742" y="136922"/>
                </a:cubicBezTo>
                <a:lnTo>
                  <a:pt x="14883" y="136922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9" name="Text 7"/>
          <p:cNvSpPr/>
          <p:nvPr/>
        </p:nvSpPr>
        <p:spPr>
          <a:xfrm>
            <a:off x="1152525" y="1704975"/>
            <a:ext cx="192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Каталог инструментов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1025" y="2219325"/>
            <a:ext cx="338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Полный список с фильтрацией по источнику, тактике, технике, времени и тегам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0075" y="28575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16669"/>
                </a:moveTo>
                <a:cubicBezTo>
                  <a:pt x="4975" y="16669"/>
                  <a:pt x="1927" y="18700"/>
                  <a:pt x="625" y="21826"/>
                </a:cubicBezTo>
                <a:cubicBezTo>
                  <a:pt x="-677" y="24951"/>
                  <a:pt x="52" y="28519"/>
                  <a:pt x="2448" y="30889"/>
                </a:cubicBezTo>
                <a:lnTo>
                  <a:pt x="50006" y="78473"/>
                </a:lnTo>
                <a:lnTo>
                  <a:pt x="50006" y="108347"/>
                </a:lnTo>
                <a:cubicBezTo>
                  <a:pt x="50006" y="110561"/>
                  <a:pt x="50892" y="112670"/>
                  <a:pt x="52454" y="114233"/>
                </a:cubicBezTo>
                <a:lnTo>
                  <a:pt x="69123" y="130902"/>
                </a:lnTo>
                <a:cubicBezTo>
                  <a:pt x="71519" y="133298"/>
                  <a:pt x="75088" y="134001"/>
                  <a:pt x="78213" y="132699"/>
                </a:cubicBezTo>
                <a:cubicBezTo>
                  <a:pt x="81338" y="131397"/>
                  <a:pt x="83344" y="128375"/>
                  <a:pt x="83344" y="125016"/>
                </a:cubicBezTo>
                <a:lnTo>
                  <a:pt x="83344" y="78473"/>
                </a:lnTo>
                <a:lnTo>
                  <a:pt x="130902" y="30915"/>
                </a:lnTo>
                <a:cubicBezTo>
                  <a:pt x="133298" y="28519"/>
                  <a:pt x="134001" y="24951"/>
                  <a:pt x="132699" y="21826"/>
                </a:cubicBezTo>
                <a:cubicBezTo>
                  <a:pt x="131397" y="18700"/>
                  <a:pt x="128375" y="16669"/>
                  <a:pt x="125016" y="16669"/>
                </a:cubicBezTo>
                <a:lnTo>
                  <a:pt x="8334" y="16669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2" name="Text 10"/>
          <p:cNvSpPr/>
          <p:nvPr/>
        </p:nvSpPr>
        <p:spPr>
          <a:xfrm>
            <a:off x="823913" y="2828925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Множественные фильтры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6744" y="312420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625" y="53184"/>
                </a:moveTo>
                <a:cubicBezTo>
                  <a:pt x="1927" y="56309"/>
                  <a:pt x="4949" y="58341"/>
                  <a:pt x="8334" y="58341"/>
                </a:cubicBezTo>
                <a:lnTo>
                  <a:pt x="91678" y="58341"/>
                </a:lnTo>
                <a:cubicBezTo>
                  <a:pt x="95038" y="58341"/>
                  <a:pt x="98085" y="56309"/>
                  <a:pt x="99387" y="53184"/>
                </a:cubicBezTo>
                <a:cubicBezTo>
                  <a:pt x="100690" y="50058"/>
                  <a:pt x="99960" y="46490"/>
                  <a:pt x="97590" y="44094"/>
                </a:cubicBezTo>
                <a:lnTo>
                  <a:pt x="55918" y="2422"/>
                </a:lnTo>
                <a:cubicBezTo>
                  <a:pt x="52663" y="-833"/>
                  <a:pt x="47376" y="-833"/>
                  <a:pt x="44120" y="2422"/>
                </a:cubicBezTo>
                <a:lnTo>
                  <a:pt x="2448" y="44094"/>
                </a:lnTo>
                <a:cubicBezTo>
                  <a:pt x="52" y="46490"/>
                  <a:pt x="-651" y="50058"/>
                  <a:pt x="651" y="53184"/>
                </a:cubicBezTo>
                <a:close/>
                <a:moveTo>
                  <a:pt x="625" y="80140"/>
                </a:moveTo>
                <a:cubicBezTo>
                  <a:pt x="-677" y="83266"/>
                  <a:pt x="52" y="86834"/>
                  <a:pt x="2422" y="89230"/>
                </a:cubicBezTo>
                <a:lnTo>
                  <a:pt x="44094" y="130902"/>
                </a:lnTo>
                <a:cubicBezTo>
                  <a:pt x="47350" y="134157"/>
                  <a:pt x="52637" y="134157"/>
                  <a:pt x="55892" y="130902"/>
                </a:cubicBezTo>
                <a:lnTo>
                  <a:pt x="97564" y="89230"/>
                </a:lnTo>
                <a:cubicBezTo>
                  <a:pt x="99960" y="86834"/>
                  <a:pt x="100664" y="83266"/>
                  <a:pt x="99361" y="80140"/>
                </a:cubicBezTo>
                <a:cubicBezTo>
                  <a:pt x="98059" y="77015"/>
                  <a:pt x="95038" y="75009"/>
                  <a:pt x="91678" y="75009"/>
                </a:cubicBezTo>
                <a:lnTo>
                  <a:pt x="8334" y="75009"/>
                </a:lnTo>
                <a:cubicBezTo>
                  <a:pt x="4975" y="75009"/>
                  <a:pt x="1927" y="77041"/>
                  <a:pt x="625" y="80166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4" name="Text 12"/>
          <p:cNvSpPr/>
          <p:nvPr/>
        </p:nvSpPr>
        <p:spPr>
          <a:xfrm>
            <a:off x="823913" y="3095625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Сортировка и поиск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46513" y="1414463"/>
            <a:ext cx="3695700" cy="2066925"/>
          </a:xfrm>
          <a:custGeom>
            <a:avLst/>
            <a:gdLst/>
            <a:ahLst/>
            <a:cxnLst/>
            <a:rect l="l" t="t" r="r" b="b"/>
            <a:pathLst>
              <a:path w="3695700" h="2066925">
                <a:moveTo>
                  <a:pt x="76208" y="0"/>
                </a:moveTo>
                <a:lnTo>
                  <a:pt x="3619492" y="0"/>
                </a:lnTo>
                <a:cubicBezTo>
                  <a:pt x="3661581" y="0"/>
                  <a:pt x="3695700" y="34119"/>
                  <a:pt x="3695700" y="76208"/>
                </a:cubicBezTo>
                <a:lnTo>
                  <a:pt x="3695700" y="1990717"/>
                </a:lnTo>
                <a:cubicBezTo>
                  <a:pt x="3695700" y="2032806"/>
                  <a:pt x="3661581" y="2066925"/>
                  <a:pt x="3619492" y="2066925"/>
                </a:cubicBezTo>
                <a:lnTo>
                  <a:pt x="76208" y="2066925"/>
                </a:lnTo>
                <a:cubicBezTo>
                  <a:pt x="34119" y="2066925"/>
                  <a:pt x="0" y="2032806"/>
                  <a:pt x="0" y="1990717"/>
                </a:cubicBezTo>
                <a:lnTo>
                  <a:pt x="0" y="76208"/>
                </a:lnTo>
                <a:cubicBezTo>
                  <a:pt x="0" y="34147"/>
                  <a:pt x="34147" y="0"/>
                  <a:pt x="76208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41775" y="1609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63219" y="17430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35719"/>
                </a:moveTo>
                <a:cubicBezTo>
                  <a:pt x="0" y="22585"/>
                  <a:pt x="10678" y="11906"/>
                  <a:pt x="23812" y="11906"/>
                </a:cubicBezTo>
                <a:lnTo>
                  <a:pt x="190500" y="11906"/>
                </a:lnTo>
                <a:cubicBezTo>
                  <a:pt x="203634" y="11906"/>
                  <a:pt x="214313" y="22585"/>
                  <a:pt x="214313" y="35719"/>
                </a:cubicBezTo>
                <a:lnTo>
                  <a:pt x="0" y="35719"/>
                </a:lnTo>
                <a:close/>
                <a:moveTo>
                  <a:pt x="0" y="53578"/>
                </a:moveTo>
                <a:lnTo>
                  <a:pt x="214313" y="53578"/>
                </a:lnTo>
                <a:lnTo>
                  <a:pt x="214313" y="154781"/>
                </a:lnTo>
                <a:cubicBezTo>
                  <a:pt x="214313" y="167915"/>
                  <a:pt x="203634" y="178594"/>
                  <a:pt x="190500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53578"/>
                </a:lnTo>
                <a:close/>
                <a:moveTo>
                  <a:pt x="92013" y="154781"/>
                </a:moveTo>
                <a:cubicBezTo>
                  <a:pt x="99529" y="154781"/>
                  <a:pt x="105147" y="147563"/>
                  <a:pt x="100347" y="141759"/>
                </a:cubicBezTo>
                <a:cubicBezTo>
                  <a:pt x="94878" y="135173"/>
                  <a:pt x="86618" y="130969"/>
                  <a:pt x="77391" y="130969"/>
                </a:cubicBezTo>
                <a:lnTo>
                  <a:pt x="53578" y="130969"/>
                </a:lnTo>
                <a:cubicBezTo>
                  <a:pt x="44351" y="130969"/>
                  <a:pt x="36091" y="135173"/>
                  <a:pt x="30621" y="141759"/>
                </a:cubicBezTo>
                <a:cubicBezTo>
                  <a:pt x="25822" y="147563"/>
                  <a:pt x="31440" y="154781"/>
                  <a:pt x="38956" y="154781"/>
                </a:cubicBezTo>
                <a:lnTo>
                  <a:pt x="91976" y="154781"/>
                </a:lnTo>
                <a:close/>
                <a:moveTo>
                  <a:pt x="65484" y="116086"/>
                </a:moveTo>
                <a:cubicBezTo>
                  <a:pt x="76984" y="116086"/>
                  <a:pt x="86320" y="106750"/>
                  <a:pt x="86320" y="95250"/>
                </a:cubicBezTo>
                <a:cubicBezTo>
                  <a:pt x="86320" y="83750"/>
                  <a:pt x="76984" y="74414"/>
                  <a:pt x="65484" y="74414"/>
                </a:cubicBezTo>
                <a:cubicBezTo>
                  <a:pt x="53985" y="74414"/>
                  <a:pt x="44648" y="83750"/>
                  <a:pt x="44648" y="95250"/>
                </a:cubicBezTo>
                <a:cubicBezTo>
                  <a:pt x="44648" y="106750"/>
                  <a:pt x="53985" y="116086"/>
                  <a:pt x="65484" y="116086"/>
                </a:cubicBezTo>
                <a:close/>
                <a:moveTo>
                  <a:pt x="133945" y="77391"/>
                </a:moveTo>
                <a:cubicBezTo>
                  <a:pt x="128997" y="77391"/>
                  <a:pt x="125016" y="81372"/>
                  <a:pt x="125016" y="86320"/>
                </a:cubicBezTo>
                <a:cubicBezTo>
                  <a:pt x="125016" y="91269"/>
                  <a:pt x="128997" y="95250"/>
                  <a:pt x="133945" y="95250"/>
                </a:cubicBezTo>
                <a:lnTo>
                  <a:pt x="175617" y="95250"/>
                </a:lnTo>
                <a:cubicBezTo>
                  <a:pt x="180566" y="95250"/>
                  <a:pt x="184547" y="91269"/>
                  <a:pt x="184547" y="86320"/>
                </a:cubicBezTo>
                <a:cubicBezTo>
                  <a:pt x="184547" y="81372"/>
                  <a:pt x="180566" y="77391"/>
                  <a:pt x="175617" y="77391"/>
                </a:cubicBezTo>
                <a:lnTo>
                  <a:pt x="133945" y="77391"/>
                </a:lnTo>
                <a:close/>
                <a:moveTo>
                  <a:pt x="133945" y="113109"/>
                </a:moveTo>
                <a:cubicBezTo>
                  <a:pt x="128997" y="113109"/>
                  <a:pt x="125016" y="117091"/>
                  <a:pt x="125016" y="122039"/>
                </a:cubicBezTo>
                <a:cubicBezTo>
                  <a:pt x="125016" y="126988"/>
                  <a:pt x="128997" y="130969"/>
                  <a:pt x="133945" y="130969"/>
                </a:cubicBezTo>
                <a:lnTo>
                  <a:pt x="175617" y="130969"/>
                </a:lnTo>
                <a:cubicBezTo>
                  <a:pt x="180566" y="130969"/>
                  <a:pt x="184547" y="126988"/>
                  <a:pt x="184547" y="122039"/>
                </a:cubicBezTo>
                <a:cubicBezTo>
                  <a:pt x="184547" y="117091"/>
                  <a:pt x="180566" y="113109"/>
                  <a:pt x="175617" y="113109"/>
                </a:cubicBezTo>
                <a:lnTo>
                  <a:pt x="133945" y="113109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8" name="Text 16"/>
          <p:cNvSpPr/>
          <p:nvPr/>
        </p:nvSpPr>
        <p:spPr>
          <a:xfrm>
            <a:off x="5013275" y="1704975"/>
            <a:ext cx="1933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Карточка инструмента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41775" y="2219325"/>
            <a:ext cx="338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Детальная информация с capabilities и MITRE-сопоставлениями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44157" y="2857500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108321" y="54825"/>
                </a:moveTo>
                <a:cubicBezTo>
                  <a:pt x="111498" y="53965"/>
                  <a:pt x="114832" y="55476"/>
                  <a:pt x="116265" y="58419"/>
                </a:cubicBezTo>
                <a:lnTo>
                  <a:pt x="121109" y="68212"/>
                </a:lnTo>
                <a:cubicBezTo>
                  <a:pt x="123792" y="68576"/>
                  <a:pt x="126422" y="69306"/>
                  <a:pt x="128896" y="70321"/>
                </a:cubicBezTo>
                <a:lnTo>
                  <a:pt x="138012" y="64253"/>
                </a:lnTo>
                <a:cubicBezTo>
                  <a:pt x="140747" y="62430"/>
                  <a:pt x="144367" y="62794"/>
                  <a:pt x="146685" y="65112"/>
                </a:cubicBezTo>
                <a:lnTo>
                  <a:pt x="151686" y="70113"/>
                </a:lnTo>
                <a:cubicBezTo>
                  <a:pt x="154004" y="72431"/>
                  <a:pt x="154368" y="76077"/>
                  <a:pt x="152545" y="78786"/>
                </a:cubicBezTo>
                <a:lnTo>
                  <a:pt x="146477" y="87876"/>
                </a:lnTo>
                <a:cubicBezTo>
                  <a:pt x="146971" y="89100"/>
                  <a:pt x="147414" y="90376"/>
                  <a:pt x="147779" y="91704"/>
                </a:cubicBezTo>
                <a:cubicBezTo>
                  <a:pt x="148144" y="93032"/>
                  <a:pt x="148378" y="94335"/>
                  <a:pt x="148560" y="95663"/>
                </a:cubicBezTo>
                <a:lnTo>
                  <a:pt x="158379" y="100507"/>
                </a:lnTo>
                <a:cubicBezTo>
                  <a:pt x="161322" y="101966"/>
                  <a:pt x="162833" y="105300"/>
                  <a:pt x="161973" y="108451"/>
                </a:cubicBezTo>
                <a:lnTo>
                  <a:pt x="160150" y="115275"/>
                </a:lnTo>
                <a:cubicBezTo>
                  <a:pt x="159291" y="118426"/>
                  <a:pt x="156348" y="120562"/>
                  <a:pt x="153066" y="120354"/>
                </a:cubicBezTo>
                <a:lnTo>
                  <a:pt x="142127" y="119650"/>
                </a:lnTo>
                <a:cubicBezTo>
                  <a:pt x="140486" y="121760"/>
                  <a:pt x="138585" y="123713"/>
                  <a:pt x="136423" y="125380"/>
                </a:cubicBezTo>
                <a:lnTo>
                  <a:pt x="137127" y="136293"/>
                </a:lnTo>
                <a:cubicBezTo>
                  <a:pt x="137335" y="139575"/>
                  <a:pt x="135199" y="142544"/>
                  <a:pt x="132048" y="143377"/>
                </a:cubicBezTo>
                <a:lnTo>
                  <a:pt x="125224" y="145200"/>
                </a:lnTo>
                <a:cubicBezTo>
                  <a:pt x="122047" y="146060"/>
                  <a:pt x="118739" y="144549"/>
                  <a:pt x="117280" y="141606"/>
                </a:cubicBezTo>
                <a:lnTo>
                  <a:pt x="112436" y="131813"/>
                </a:lnTo>
                <a:cubicBezTo>
                  <a:pt x="109753" y="131449"/>
                  <a:pt x="107123" y="130719"/>
                  <a:pt x="104648" y="129704"/>
                </a:cubicBezTo>
                <a:lnTo>
                  <a:pt x="95533" y="135772"/>
                </a:lnTo>
                <a:cubicBezTo>
                  <a:pt x="92798" y="137595"/>
                  <a:pt x="89178" y="137231"/>
                  <a:pt x="86860" y="134913"/>
                </a:cubicBezTo>
                <a:lnTo>
                  <a:pt x="81859" y="129912"/>
                </a:lnTo>
                <a:cubicBezTo>
                  <a:pt x="79541" y="127594"/>
                  <a:pt x="79177" y="123974"/>
                  <a:pt x="81000" y="121239"/>
                </a:cubicBezTo>
                <a:lnTo>
                  <a:pt x="87068" y="112123"/>
                </a:lnTo>
                <a:cubicBezTo>
                  <a:pt x="86573" y="110899"/>
                  <a:pt x="86131" y="109623"/>
                  <a:pt x="85766" y="108295"/>
                </a:cubicBezTo>
                <a:cubicBezTo>
                  <a:pt x="85401" y="106966"/>
                  <a:pt x="85167" y="105638"/>
                  <a:pt x="84985" y="104336"/>
                </a:cubicBezTo>
                <a:lnTo>
                  <a:pt x="75166" y="99492"/>
                </a:lnTo>
                <a:cubicBezTo>
                  <a:pt x="72223" y="98033"/>
                  <a:pt x="70738" y="94699"/>
                  <a:pt x="71571" y="91548"/>
                </a:cubicBezTo>
                <a:lnTo>
                  <a:pt x="73395" y="84724"/>
                </a:lnTo>
                <a:cubicBezTo>
                  <a:pt x="74254" y="81573"/>
                  <a:pt x="77197" y="79437"/>
                  <a:pt x="80479" y="79645"/>
                </a:cubicBezTo>
                <a:lnTo>
                  <a:pt x="91392" y="80349"/>
                </a:lnTo>
                <a:cubicBezTo>
                  <a:pt x="93032" y="78239"/>
                  <a:pt x="94934" y="76286"/>
                  <a:pt x="97095" y="74619"/>
                </a:cubicBezTo>
                <a:lnTo>
                  <a:pt x="96392" y="63732"/>
                </a:lnTo>
                <a:cubicBezTo>
                  <a:pt x="96184" y="60450"/>
                  <a:pt x="98320" y="57481"/>
                  <a:pt x="101471" y="56648"/>
                </a:cubicBezTo>
                <a:lnTo>
                  <a:pt x="108295" y="54825"/>
                </a:lnTo>
                <a:close/>
                <a:moveTo>
                  <a:pt x="116785" y="88553"/>
                </a:moveTo>
                <a:cubicBezTo>
                  <a:pt x="110461" y="88560"/>
                  <a:pt x="105331" y="93701"/>
                  <a:pt x="105339" y="100026"/>
                </a:cubicBezTo>
                <a:cubicBezTo>
                  <a:pt x="105346" y="106350"/>
                  <a:pt x="110487" y="111479"/>
                  <a:pt x="116811" y="111472"/>
                </a:cubicBezTo>
                <a:cubicBezTo>
                  <a:pt x="123136" y="111465"/>
                  <a:pt x="128265" y="106324"/>
                  <a:pt x="128258" y="99999"/>
                </a:cubicBezTo>
                <a:cubicBezTo>
                  <a:pt x="128251" y="93675"/>
                  <a:pt x="123110" y="88546"/>
                  <a:pt x="116785" y="88553"/>
                </a:cubicBezTo>
                <a:close/>
                <a:moveTo>
                  <a:pt x="58575" y="-11850"/>
                </a:moveTo>
                <a:lnTo>
                  <a:pt x="65399" y="-10027"/>
                </a:lnTo>
                <a:cubicBezTo>
                  <a:pt x="68550" y="-9168"/>
                  <a:pt x="70686" y="-6199"/>
                  <a:pt x="70478" y="-2943"/>
                </a:cubicBezTo>
                <a:lnTo>
                  <a:pt x="69774" y="7944"/>
                </a:lnTo>
                <a:cubicBezTo>
                  <a:pt x="71936" y="9611"/>
                  <a:pt x="73837" y="11538"/>
                  <a:pt x="75478" y="13674"/>
                </a:cubicBezTo>
                <a:lnTo>
                  <a:pt x="86417" y="12970"/>
                </a:lnTo>
                <a:cubicBezTo>
                  <a:pt x="89673" y="12762"/>
                  <a:pt x="92642" y="14898"/>
                  <a:pt x="93501" y="18049"/>
                </a:cubicBezTo>
                <a:lnTo>
                  <a:pt x="95324" y="24873"/>
                </a:lnTo>
                <a:cubicBezTo>
                  <a:pt x="96158" y="28024"/>
                  <a:pt x="94673" y="31358"/>
                  <a:pt x="91730" y="32817"/>
                </a:cubicBezTo>
                <a:lnTo>
                  <a:pt x="81911" y="37661"/>
                </a:lnTo>
                <a:cubicBezTo>
                  <a:pt x="81729" y="38989"/>
                  <a:pt x="81469" y="40318"/>
                  <a:pt x="81130" y="41620"/>
                </a:cubicBezTo>
                <a:cubicBezTo>
                  <a:pt x="80791" y="42922"/>
                  <a:pt x="80323" y="44224"/>
                  <a:pt x="79828" y="45448"/>
                </a:cubicBezTo>
                <a:lnTo>
                  <a:pt x="85896" y="54564"/>
                </a:lnTo>
                <a:cubicBezTo>
                  <a:pt x="87719" y="57299"/>
                  <a:pt x="87355" y="60919"/>
                  <a:pt x="85037" y="63237"/>
                </a:cubicBezTo>
                <a:lnTo>
                  <a:pt x="80036" y="68238"/>
                </a:lnTo>
                <a:cubicBezTo>
                  <a:pt x="77718" y="70556"/>
                  <a:pt x="74098" y="70920"/>
                  <a:pt x="71363" y="69097"/>
                </a:cubicBezTo>
                <a:lnTo>
                  <a:pt x="62247" y="63029"/>
                </a:lnTo>
                <a:cubicBezTo>
                  <a:pt x="59773" y="64044"/>
                  <a:pt x="57143" y="64774"/>
                  <a:pt x="54460" y="65138"/>
                </a:cubicBezTo>
                <a:lnTo>
                  <a:pt x="49616" y="74931"/>
                </a:lnTo>
                <a:cubicBezTo>
                  <a:pt x="48157" y="77874"/>
                  <a:pt x="44823" y="79359"/>
                  <a:pt x="41672" y="78525"/>
                </a:cubicBezTo>
                <a:lnTo>
                  <a:pt x="34848" y="76702"/>
                </a:lnTo>
                <a:cubicBezTo>
                  <a:pt x="31671" y="75843"/>
                  <a:pt x="29561" y="72874"/>
                  <a:pt x="29769" y="69618"/>
                </a:cubicBezTo>
                <a:lnTo>
                  <a:pt x="30473" y="58705"/>
                </a:lnTo>
                <a:cubicBezTo>
                  <a:pt x="28311" y="57038"/>
                  <a:pt x="26410" y="55111"/>
                  <a:pt x="24769" y="52975"/>
                </a:cubicBezTo>
                <a:lnTo>
                  <a:pt x="13830" y="53679"/>
                </a:lnTo>
                <a:cubicBezTo>
                  <a:pt x="10574" y="53887"/>
                  <a:pt x="7605" y="51751"/>
                  <a:pt x="6746" y="48600"/>
                </a:cubicBezTo>
                <a:lnTo>
                  <a:pt x="4922" y="41776"/>
                </a:lnTo>
                <a:cubicBezTo>
                  <a:pt x="4089" y="38625"/>
                  <a:pt x="5574" y="35291"/>
                  <a:pt x="8517" y="33832"/>
                </a:cubicBezTo>
                <a:lnTo>
                  <a:pt x="18336" y="28988"/>
                </a:lnTo>
                <a:cubicBezTo>
                  <a:pt x="18518" y="27660"/>
                  <a:pt x="18778" y="26357"/>
                  <a:pt x="19117" y="25029"/>
                </a:cubicBezTo>
                <a:cubicBezTo>
                  <a:pt x="19482" y="23701"/>
                  <a:pt x="19898" y="22425"/>
                  <a:pt x="20419" y="21201"/>
                </a:cubicBezTo>
                <a:lnTo>
                  <a:pt x="14351" y="12111"/>
                </a:lnTo>
                <a:cubicBezTo>
                  <a:pt x="12528" y="9376"/>
                  <a:pt x="12892" y="5756"/>
                  <a:pt x="15210" y="3438"/>
                </a:cubicBezTo>
                <a:lnTo>
                  <a:pt x="20211" y="-1563"/>
                </a:lnTo>
                <a:cubicBezTo>
                  <a:pt x="22529" y="-3881"/>
                  <a:pt x="26149" y="-4245"/>
                  <a:pt x="28884" y="-2422"/>
                </a:cubicBezTo>
                <a:lnTo>
                  <a:pt x="38000" y="3646"/>
                </a:lnTo>
                <a:cubicBezTo>
                  <a:pt x="40474" y="2631"/>
                  <a:pt x="43104" y="1901"/>
                  <a:pt x="45787" y="1537"/>
                </a:cubicBezTo>
                <a:lnTo>
                  <a:pt x="50631" y="-8256"/>
                </a:lnTo>
                <a:cubicBezTo>
                  <a:pt x="52090" y="-11199"/>
                  <a:pt x="55398" y="-12684"/>
                  <a:pt x="58575" y="-11850"/>
                </a:cubicBezTo>
                <a:close/>
                <a:moveTo>
                  <a:pt x="50110" y="21878"/>
                </a:moveTo>
                <a:cubicBezTo>
                  <a:pt x="43786" y="21878"/>
                  <a:pt x="38651" y="27013"/>
                  <a:pt x="38651" y="33337"/>
                </a:cubicBezTo>
                <a:cubicBezTo>
                  <a:pt x="38651" y="39662"/>
                  <a:pt x="43786" y="44797"/>
                  <a:pt x="50110" y="44797"/>
                </a:cubicBezTo>
                <a:cubicBezTo>
                  <a:pt x="56435" y="44797"/>
                  <a:pt x="61570" y="39662"/>
                  <a:pt x="61570" y="33337"/>
                </a:cubicBezTo>
                <a:cubicBezTo>
                  <a:pt x="61570" y="27013"/>
                  <a:pt x="56435" y="21878"/>
                  <a:pt x="50110" y="21878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1" name="Text 19"/>
          <p:cNvSpPr/>
          <p:nvPr/>
        </p:nvSpPr>
        <p:spPr>
          <a:xfrm>
            <a:off x="4684663" y="2828925"/>
            <a:ext cx="151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Найденные capabilities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52491" y="312420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04492" y="10184"/>
                </a:moveTo>
                <a:lnTo>
                  <a:pt x="143091" y="49329"/>
                </a:lnTo>
                <a:cubicBezTo>
                  <a:pt x="150305" y="56648"/>
                  <a:pt x="150305" y="68368"/>
                  <a:pt x="143091" y="75687"/>
                </a:cubicBezTo>
                <a:lnTo>
                  <a:pt x="102357" y="116916"/>
                </a:lnTo>
                <a:cubicBezTo>
                  <a:pt x="99934" y="119364"/>
                  <a:pt x="95976" y="119390"/>
                  <a:pt x="93527" y="116968"/>
                </a:cubicBezTo>
                <a:cubicBezTo>
                  <a:pt x="91079" y="114546"/>
                  <a:pt x="91053" y="110587"/>
                  <a:pt x="93475" y="108139"/>
                </a:cubicBezTo>
                <a:lnTo>
                  <a:pt x="134209" y="66883"/>
                </a:lnTo>
                <a:cubicBezTo>
                  <a:pt x="136606" y="64461"/>
                  <a:pt x="136606" y="60528"/>
                  <a:pt x="134209" y="58106"/>
                </a:cubicBezTo>
                <a:lnTo>
                  <a:pt x="95585" y="18987"/>
                </a:lnTo>
                <a:cubicBezTo>
                  <a:pt x="93163" y="16539"/>
                  <a:pt x="93189" y="12580"/>
                  <a:pt x="95637" y="10158"/>
                </a:cubicBezTo>
                <a:cubicBezTo>
                  <a:pt x="98085" y="7735"/>
                  <a:pt x="102044" y="7761"/>
                  <a:pt x="104466" y="10210"/>
                </a:cubicBezTo>
                <a:close/>
                <a:moveTo>
                  <a:pt x="8360" y="59773"/>
                </a:moveTo>
                <a:lnTo>
                  <a:pt x="8360" y="25003"/>
                </a:lnTo>
                <a:cubicBezTo>
                  <a:pt x="8360" y="15809"/>
                  <a:pt x="15835" y="8334"/>
                  <a:pt x="25029" y="8334"/>
                </a:cubicBezTo>
                <a:lnTo>
                  <a:pt x="59799" y="8334"/>
                </a:lnTo>
                <a:cubicBezTo>
                  <a:pt x="64227" y="8334"/>
                  <a:pt x="68472" y="10079"/>
                  <a:pt x="71597" y="13205"/>
                </a:cubicBezTo>
                <a:lnTo>
                  <a:pt x="109102" y="50709"/>
                </a:lnTo>
                <a:cubicBezTo>
                  <a:pt x="115613" y="57221"/>
                  <a:pt x="115613" y="67769"/>
                  <a:pt x="109102" y="74280"/>
                </a:cubicBezTo>
                <a:lnTo>
                  <a:pt x="74332" y="109050"/>
                </a:lnTo>
                <a:cubicBezTo>
                  <a:pt x="67821" y="115561"/>
                  <a:pt x="57273" y="115561"/>
                  <a:pt x="50762" y="109050"/>
                </a:cubicBezTo>
                <a:lnTo>
                  <a:pt x="13257" y="71545"/>
                </a:lnTo>
                <a:cubicBezTo>
                  <a:pt x="10131" y="68420"/>
                  <a:pt x="8386" y="64175"/>
                  <a:pt x="8386" y="59747"/>
                </a:cubicBezTo>
                <a:close/>
                <a:moveTo>
                  <a:pt x="45865" y="37505"/>
                </a:moveTo>
                <a:cubicBezTo>
                  <a:pt x="45865" y="32905"/>
                  <a:pt x="42131" y="29170"/>
                  <a:pt x="37531" y="29170"/>
                </a:cubicBezTo>
                <a:cubicBezTo>
                  <a:pt x="32931" y="29170"/>
                  <a:pt x="29196" y="32905"/>
                  <a:pt x="29196" y="37505"/>
                </a:cubicBezTo>
                <a:cubicBezTo>
                  <a:pt x="29196" y="42105"/>
                  <a:pt x="32931" y="45839"/>
                  <a:pt x="37531" y="45839"/>
                </a:cubicBezTo>
                <a:cubicBezTo>
                  <a:pt x="42131" y="45839"/>
                  <a:pt x="45865" y="42105"/>
                  <a:pt x="45865" y="37505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3" name="Text 21"/>
          <p:cNvSpPr/>
          <p:nvPr/>
        </p:nvSpPr>
        <p:spPr>
          <a:xfrm>
            <a:off x="4684663" y="3095625"/>
            <a:ext cx="109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MITRE mappings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07338" y="1414463"/>
            <a:ext cx="3695700" cy="2066925"/>
          </a:xfrm>
          <a:custGeom>
            <a:avLst/>
            <a:gdLst/>
            <a:ahLst/>
            <a:cxnLst/>
            <a:rect l="l" t="t" r="r" b="b"/>
            <a:pathLst>
              <a:path w="3695700" h="2066925">
                <a:moveTo>
                  <a:pt x="76208" y="0"/>
                </a:moveTo>
                <a:lnTo>
                  <a:pt x="3619492" y="0"/>
                </a:lnTo>
                <a:cubicBezTo>
                  <a:pt x="3661581" y="0"/>
                  <a:pt x="3695700" y="34119"/>
                  <a:pt x="3695700" y="76208"/>
                </a:cubicBezTo>
                <a:lnTo>
                  <a:pt x="3695700" y="1990717"/>
                </a:lnTo>
                <a:cubicBezTo>
                  <a:pt x="3695700" y="2032806"/>
                  <a:pt x="3661581" y="2066925"/>
                  <a:pt x="3619492" y="2066925"/>
                </a:cubicBezTo>
                <a:lnTo>
                  <a:pt x="76208" y="2066925"/>
                </a:lnTo>
                <a:cubicBezTo>
                  <a:pt x="34119" y="2066925"/>
                  <a:pt x="0" y="2032806"/>
                  <a:pt x="0" y="1990717"/>
                </a:cubicBezTo>
                <a:lnTo>
                  <a:pt x="0" y="76208"/>
                </a:lnTo>
                <a:cubicBezTo>
                  <a:pt x="0" y="34147"/>
                  <a:pt x="34147" y="0"/>
                  <a:pt x="76208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02600" y="1609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435950" y="17430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23812"/>
                </a:moveTo>
                <a:cubicBezTo>
                  <a:pt x="7107" y="23812"/>
                  <a:pt x="2753" y="26715"/>
                  <a:pt x="893" y="31179"/>
                </a:cubicBezTo>
                <a:cubicBezTo>
                  <a:pt x="-967" y="35644"/>
                  <a:pt x="74" y="40742"/>
                  <a:pt x="3497" y="44128"/>
                </a:cubicBezTo>
                <a:lnTo>
                  <a:pt x="71438" y="112105"/>
                </a:lnTo>
                <a:lnTo>
                  <a:pt x="71438" y="154781"/>
                </a:lnTo>
                <a:cubicBezTo>
                  <a:pt x="71438" y="157944"/>
                  <a:pt x="72703" y="160958"/>
                  <a:pt x="74935" y="163190"/>
                </a:cubicBezTo>
                <a:lnTo>
                  <a:pt x="98747" y="187003"/>
                </a:lnTo>
                <a:cubicBezTo>
                  <a:pt x="102171" y="190426"/>
                  <a:pt x="107268" y="191430"/>
                  <a:pt x="111733" y="189570"/>
                </a:cubicBezTo>
                <a:cubicBezTo>
                  <a:pt x="116198" y="187709"/>
                  <a:pt x="119063" y="183393"/>
                  <a:pt x="119063" y="178594"/>
                </a:cubicBezTo>
                <a:lnTo>
                  <a:pt x="119063" y="112105"/>
                </a:lnTo>
                <a:lnTo>
                  <a:pt x="187003" y="44165"/>
                </a:lnTo>
                <a:cubicBezTo>
                  <a:pt x="190426" y="40742"/>
                  <a:pt x="191430" y="35644"/>
                  <a:pt x="189570" y="31179"/>
                </a:cubicBezTo>
                <a:cubicBezTo>
                  <a:pt x="187709" y="26715"/>
                  <a:pt x="183393" y="23812"/>
                  <a:pt x="178594" y="23812"/>
                </a:cubicBezTo>
                <a:lnTo>
                  <a:pt x="11906" y="23812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7" name="Text 25"/>
          <p:cNvSpPr/>
          <p:nvPr/>
        </p:nvSpPr>
        <p:spPr>
          <a:xfrm>
            <a:off x="8874100" y="1704975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Фильтр по MITRE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02600" y="2219325"/>
            <a:ext cx="338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Выбор инструментов по конкретным tactic и technique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21650" y="28575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0" name="Text 28"/>
          <p:cNvSpPr/>
          <p:nvPr/>
        </p:nvSpPr>
        <p:spPr>
          <a:xfrm>
            <a:off x="8545488" y="2828925"/>
            <a:ext cx="84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 тактикам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13316" y="312420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75009" y="-4167"/>
                </a:moveTo>
                <a:cubicBezTo>
                  <a:pt x="79619" y="-4167"/>
                  <a:pt x="83344" y="-443"/>
                  <a:pt x="83344" y="4167"/>
                </a:cubicBezTo>
                <a:lnTo>
                  <a:pt x="83344" y="8933"/>
                </a:lnTo>
                <a:cubicBezTo>
                  <a:pt x="108894" y="12580"/>
                  <a:pt x="129105" y="32791"/>
                  <a:pt x="132751" y="58341"/>
                </a:cubicBezTo>
                <a:lnTo>
                  <a:pt x="137517" y="58341"/>
                </a:lnTo>
                <a:cubicBezTo>
                  <a:pt x="142127" y="58341"/>
                  <a:pt x="145852" y="62065"/>
                  <a:pt x="145852" y="66675"/>
                </a:cubicBezTo>
                <a:cubicBezTo>
                  <a:pt x="145852" y="71285"/>
                  <a:pt x="142127" y="75009"/>
                  <a:pt x="137517" y="75009"/>
                </a:cubicBezTo>
                <a:lnTo>
                  <a:pt x="132751" y="75009"/>
                </a:lnTo>
                <a:cubicBezTo>
                  <a:pt x="129105" y="100559"/>
                  <a:pt x="108894" y="120770"/>
                  <a:pt x="83344" y="124417"/>
                </a:cubicBezTo>
                <a:lnTo>
                  <a:pt x="83344" y="129183"/>
                </a:lnTo>
                <a:cubicBezTo>
                  <a:pt x="83344" y="133793"/>
                  <a:pt x="79619" y="137517"/>
                  <a:pt x="75009" y="137517"/>
                </a:cubicBezTo>
                <a:cubicBezTo>
                  <a:pt x="70399" y="137517"/>
                  <a:pt x="66675" y="133793"/>
                  <a:pt x="66675" y="129183"/>
                </a:cubicBezTo>
                <a:lnTo>
                  <a:pt x="66675" y="124417"/>
                </a:lnTo>
                <a:cubicBezTo>
                  <a:pt x="41125" y="120770"/>
                  <a:pt x="20914" y="100559"/>
                  <a:pt x="17268" y="75009"/>
                </a:cubicBezTo>
                <a:lnTo>
                  <a:pt x="12502" y="75009"/>
                </a:lnTo>
                <a:cubicBezTo>
                  <a:pt x="7892" y="75009"/>
                  <a:pt x="4167" y="71285"/>
                  <a:pt x="4167" y="66675"/>
                </a:cubicBezTo>
                <a:cubicBezTo>
                  <a:pt x="4167" y="62065"/>
                  <a:pt x="7892" y="58341"/>
                  <a:pt x="12502" y="58341"/>
                </a:cubicBezTo>
                <a:lnTo>
                  <a:pt x="17268" y="58341"/>
                </a:lnTo>
                <a:cubicBezTo>
                  <a:pt x="20914" y="32791"/>
                  <a:pt x="41125" y="12580"/>
                  <a:pt x="66675" y="8933"/>
                </a:cubicBezTo>
                <a:lnTo>
                  <a:pt x="66675" y="4167"/>
                </a:lnTo>
                <a:cubicBezTo>
                  <a:pt x="66675" y="-443"/>
                  <a:pt x="70399" y="-4167"/>
                  <a:pt x="75009" y="-4167"/>
                </a:cubicBezTo>
                <a:close/>
                <a:moveTo>
                  <a:pt x="34171" y="75009"/>
                </a:moveTo>
                <a:cubicBezTo>
                  <a:pt x="37479" y="91340"/>
                  <a:pt x="50345" y="104206"/>
                  <a:pt x="66675" y="107513"/>
                </a:cubicBezTo>
                <a:lnTo>
                  <a:pt x="66675" y="104180"/>
                </a:lnTo>
                <a:cubicBezTo>
                  <a:pt x="66675" y="99570"/>
                  <a:pt x="70399" y="95845"/>
                  <a:pt x="75009" y="95845"/>
                </a:cubicBezTo>
                <a:cubicBezTo>
                  <a:pt x="79619" y="95845"/>
                  <a:pt x="83344" y="99570"/>
                  <a:pt x="83344" y="104180"/>
                </a:cubicBezTo>
                <a:lnTo>
                  <a:pt x="83344" y="107513"/>
                </a:lnTo>
                <a:cubicBezTo>
                  <a:pt x="99674" y="104206"/>
                  <a:pt x="112540" y="91340"/>
                  <a:pt x="115848" y="75009"/>
                </a:cubicBezTo>
                <a:lnTo>
                  <a:pt x="112514" y="75009"/>
                </a:lnTo>
                <a:cubicBezTo>
                  <a:pt x="107904" y="75009"/>
                  <a:pt x="104180" y="71285"/>
                  <a:pt x="104180" y="66675"/>
                </a:cubicBezTo>
                <a:cubicBezTo>
                  <a:pt x="104180" y="62065"/>
                  <a:pt x="107904" y="58341"/>
                  <a:pt x="112514" y="58341"/>
                </a:cubicBezTo>
                <a:lnTo>
                  <a:pt x="115848" y="58341"/>
                </a:lnTo>
                <a:cubicBezTo>
                  <a:pt x="112540" y="42010"/>
                  <a:pt x="99674" y="29144"/>
                  <a:pt x="83344" y="25837"/>
                </a:cubicBezTo>
                <a:lnTo>
                  <a:pt x="83344" y="29170"/>
                </a:lnTo>
                <a:cubicBezTo>
                  <a:pt x="83344" y="33780"/>
                  <a:pt x="79619" y="37505"/>
                  <a:pt x="75009" y="37505"/>
                </a:cubicBezTo>
                <a:cubicBezTo>
                  <a:pt x="70399" y="37505"/>
                  <a:pt x="66675" y="33780"/>
                  <a:pt x="66675" y="29170"/>
                </a:cubicBezTo>
                <a:lnTo>
                  <a:pt x="66675" y="25837"/>
                </a:lnTo>
                <a:cubicBezTo>
                  <a:pt x="50345" y="29144"/>
                  <a:pt x="37479" y="42010"/>
                  <a:pt x="34171" y="58341"/>
                </a:cubicBezTo>
                <a:lnTo>
                  <a:pt x="37505" y="58341"/>
                </a:lnTo>
                <a:cubicBezTo>
                  <a:pt x="42115" y="58341"/>
                  <a:pt x="45839" y="62065"/>
                  <a:pt x="45839" y="66675"/>
                </a:cubicBezTo>
                <a:cubicBezTo>
                  <a:pt x="45839" y="71285"/>
                  <a:pt x="42115" y="75009"/>
                  <a:pt x="37505" y="75009"/>
                </a:cubicBezTo>
                <a:lnTo>
                  <a:pt x="34171" y="75009"/>
                </a:lnTo>
                <a:close/>
                <a:moveTo>
                  <a:pt x="75009" y="54173"/>
                </a:moveTo>
                <a:cubicBezTo>
                  <a:pt x="81909" y="54173"/>
                  <a:pt x="87511" y="59775"/>
                  <a:pt x="87511" y="66675"/>
                </a:cubicBezTo>
                <a:cubicBezTo>
                  <a:pt x="87511" y="73575"/>
                  <a:pt x="81909" y="79177"/>
                  <a:pt x="75009" y="79177"/>
                </a:cubicBezTo>
                <a:cubicBezTo>
                  <a:pt x="68110" y="79177"/>
                  <a:pt x="62508" y="73575"/>
                  <a:pt x="62508" y="66675"/>
                </a:cubicBezTo>
                <a:cubicBezTo>
                  <a:pt x="62508" y="59775"/>
                  <a:pt x="68110" y="54173"/>
                  <a:pt x="75009" y="54173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2" name="Text 30"/>
          <p:cNvSpPr/>
          <p:nvPr/>
        </p:nvSpPr>
        <p:spPr>
          <a:xfrm>
            <a:off x="8545488" y="3095625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 техникам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5763" y="3643313"/>
            <a:ext cx="3695700" cy="2066925"/>
          </a:xfrm>
          <a:custGeom>
            <a:avLst/>
            <a:gdLst/>
            <a:ahLst/>
            <a:cxnLst/>
            <a:rect l="l" t="t" r="r" b="b"/>
            <a:pathLst>
              <a:path w="3695700" h="2066925">
                <a:moveTo>
                  <a:pt x="76208" y="0"/>
                </a:moveTo>
                <a:lnTo>
                  <a:pt x="3619492" y="0"/>
                </a:lnTo>
                <a:cubicBezTo>
                  <a:pt x="3661581" y="0"/>
                  <a:pt x="3695700" y="34119"/>
                  <a:pt x="3695700" y="76208"/>
                </a:cubicBezTo>
                <a:lnTo>
                  <a:pt x="3695700" y="1990717"/>
                </a:lnTo>
                <a:cubicBezTo>
                  <a:pt x="3695700" y="2032806"/>
                  <a:pt x="3661581" y="2066925"/>
                  <a:pt x="3619492" y="2066925"/>
                </a:cubicBezTo>
                <a:lnTo>
                  <a:pt x="76208" y="2066925"/>
                </a:lnTo>
                <a:cubicBezTo>
                  <a:pt x="34119" y="2066925"/>
                  <a:pt x="0" y="2032806"/>
                  <a:pt x="0" y="1990717"/>
                </a:cubicBezTo>
                <a:lnTo>
                  <a:pt x="0" y="76208"/>
                </a:lnTo>
                <a:cubicBezTo>
                  <a:pt x="0" y="34147"/>
                  <a:pt x="34147" y="0"/>
                  <a:pt x="76208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1025" y="3838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26281" y="39719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59717" y="-9823"/>
                </a:moveTo>
                <a:cubicBezTo>
                  <a:pt x="63178" y="-12725"/>
                  <a:pt x="68275" y="-12613"/>
                  <a:pt x="71586" y="-9488"/>
                </a:cubicBezTo>
                <a:cubicBezTo>
                  <a:pt x="76163" y="-5172"/>
                  <a:pt x="80256" y="-409"/>
                  <a:pt x="84200" y="4428"/>
                </a:cubicBezTo>
                <a:cubicBezTo>
                  <a:pt x="89222" y="10567"/>
                  <a:pt x="95250" y="18678"/>
                  <a:pt x="101054" y="28315"/>
                </a:cubicBezTo>
                <a:cubicBezTo>
                  <a:pt x="102989" y="25784"/>
                  <a:pt x="104775" y="23552"/>
                  <a:pt x="106338" y="21654"/>
                </a:cubicBezTo>
                <a:cubicBezTo>
                  <a:pt x="106747" y="21171"/>
                  <a:pt x="107156" y="20650"/>
                  <a:pt x="107566" y="20129"/>
                </a:cubicBezTo>
                <a:cubicBezTo>
                  <a:pt x="110505" y="16483"/>
                  <a:pt x="114151" y="11906"/>
                  <a:pt x="119025" y="11906"/>
                </a:cubicBezTo>
                <a:cubicBezTo>
                  <a:pt x="124011" y="11906"/>
                  <a:pt x="127508" y="16334"/>
                  <a:pt x="130485" y="20129"/>
                </a:cubicBezTo>
                <a:cubicBezTo>
                  <a:pt x="130969" y="20762"/>
                  <a:pt x="131452" y="21357"/>
                  <a:pt x="131936" y="21915"/>
                </a:cubicBezTo>
                <a:cubicBezTo>
                  <a:pt x="135768" y="26529"/>
                  <a:pt x="140866" y="33189"/>
                  <a:pt x="145963" y="41411"/>
                </a:cubicBezTo>
                <a:cubicBezTo>
                  <a:pt x="156083" y="57745"/>
                  <a:pt x="166650" y="81000"/>
                  <a:pt x="166650" y="107119"/>
                </a:cubicBezTo>
                <a:cubicBezTo>
                  <a:pt x="166650" y="153144"/>
                  <a:pt x="129332" y="190463"/>
                  <a:pt x="83307" y="190463"/>
                </a:cubicBezTo>
                <a:cubicBezTo>
                  <a:pt x="37281" y="190463"/>
                  <a:pt x="0" y="153181"/>
                  <a:pt x="0" y="107156"/>
                </a:cubicBezTo>
                <a:cubicBezTo>
                  <a:pt x="0" y="73261"/>
                  <a:pt x="15292" y="43904"/>
                  <a:pt x="29952" y="23440"/>
                </a:cubicBezTo>
                <a:cubicBezTo>
                  <a:pt x="37356" y="13134"/>
                  <a:pt x="44723" y="4874"/>
                  <a:pt x="50267" y="-781"/>
                </a:cubicBezTo>
                <a:cubicBezTo>
                  <a:pt x="53318" y="-3907"/>
                  <a:pt x="56406" y="-6995"/>
                  <a:pt x="59754" y="-9785"/>
                </a:cubicBezTo>
                <a:close/>
                <a:moveTo>
                  <a:pt x="83976" y="154781"/>
                </a:moveTo>
                <a:cubicBezTo>
                  <a:pt x="93390" y="154781"/>
                  <a:pt x="101724" y="152177"/>
                  <a:pt x="109575" y="146968"/>
                </a:cubicBezTo>
                <a:cubicBezTo>
                  <a:pt x="125239" y="136029"/>
                  <a:pt x="129443" y="114151"/>
                  <a:pt x="120030" y="96962"/>
                </a:cubicBezTo>
                <a:cubicBezTo>
                  <a:pt x="118356" y="93613"/>
                  <a:pt x="114077" y="93390"/>
                  <a:pt x="111658" y="96217"/>
                </a:cubicBezTo>
                <a:lnTo>
                  <a:pt x="102282" y="107119"/>
                </a:lnTo>
                <a:cubicBezTo>
                  <a:pt x="99826" y="109947"/>
                  <a:pt x="95399" y="109872"/>
                  <a:pt x="93092" y="106933"/>
                </a:cubicBezTo>
                <a:cubicBezTo>
                  <a:pt x="86655" y="98710"/>
                  <a:pt x="74823" y="83716"/>
                  <a:pt x="68796" y="76051"/>
                </a:cubicBezTo>
                <a:cubicBezTo>
                  <a:pt x="66787" y="73484"/>
                  <a:pt x="63140" y="73075"/>
                  <a:pt x="60796" y="75344"/>
                </a:cubicBezTo>
                <a:cubicBezTo>
                  <a:pt x="53987" y="81967"/>
                  <a:pt x="41635" y="96478"/>
                  <a:pt x="41635" y="114151"/>
                </a:cubicBezTo>
                <a:cubicBezTo>
                  <a:pt x="41635" y="139675"/>
                  <a:pt x="60461" y="154781"/>
                  <a:pt x="83939" y="154781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6" name="Text 34"/>
          <p:cNvSpPr/>
          <p:nvPr/>
        </p:nvSpPr>
        <p:spPr>
          <a:xfrm>
            <a:off x="1152525" y="3933825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ATT&amp;CK Heatmap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81025" y="4448175"/>
            <a:ext cx="338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Визуализация покрытия тактик и техник в базе данных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91741" y="50863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75009" y="8334"/>
                </a:moveTo>
                <a:cubicBezTo>
                  <a:pt x="53965" y="8334"/>
                  <a:pt x="37114" y="17919"/>
                  <a:pt x="24847" y="29327"/>
                </a:cubicBezTo>
                <a:cubicBezTo>
                  <a:pt x="12658" y="40656"/>
                  <a:pt x="4506" y="54173"/>
                  <a:pt x="625" y="63471"/>
                </a:cubicBezTo>
                <a:cubicBezTo>
                  <a:pt x="-234" y="65529"/>
                  <a:pt x="-234" y="67821"/>
                  <a:pt x="625" y="69879"/>
                </a:cubicBezTo>
                <a:cubicBezTo>
                  <a:pt x="4506" y="79177"/>
                  <a:pt x="12658" y="92720"/>
                  <a:pt x="24847" y="104023"/>
                </a:cubicBezTo>
                <a:cubicBezTo>
                  <a:pt x="37114" y="115405"/>
                  <a:pt x="53965" y="125016"/>
                  <a:pt x="75009" y="125016"/>
                </a:cubicBezTo>
                <a:cubicBezTo>
                  <a:pt x="96054" y="125016"/>
                  <a:pt x="112905" y="115431"/>
                  <a:pt x="125172" y="104023"/>
                </a:cubicBezTo>
                <a:cubicBezTo>
                  <a:pt x="137361" y="92694"/>
                  <a:pt x="145513" y="79177"/>
                  <a:pt x="149394" y="69879"/>
                </a:cubicBezTo>
                <a:cubicBezTo>
                  <a:pt x="150253" y="67821"/>
                  <a:pt x="150253" y="65529"/>
                  <a:pt x="149394" y="63471"/>
                </a:cubicBezTo>
                <a:cubicBezTo>
                  <a:pt x="145513" y="54173"/>
                  <a:pt x="137361" y="40630"/>
                  <a:pt x="125172" y="29327"/>
                </a:cubicBezTo>
                <a:cubicBezTo>
                  <a:pt x="112905" y="17945"/>
                  <a:pt x="96054" y="8334"/>
                  <a:pt x="75009" y="8334"/>
                </a:cubicBezTo>
                <a:close/>
                <a:moveTo>
                  <a:pt x="37505" y="66675"/>
                </a:moveTo>
                <a:cubicBezTo>
                  <a:pt x="37505" y="45976"/>
                  <a:pt x="54310" y="29170"/>
                  <a:pt x="75009" y="29170"/>
                </a:cubicBezTo>
                <a:cubicBezTo>
                  <a:pt x="95709" y="29170"/>
                  <a:pt x="112514" y="45976"/>
                  <a:pt x="112514" y="66675"/>
                </a:cubicBezTo>
                <a:cubicBezTo>
                  <a:pt x="112514" y="87374"/>
                  <a:pt x="95709" y="104180"/>
                  <a:pt x="75009" y="104180"/>
                </a:cubicBezTo>
                <a:cubicBezTo>
                  <a:pt x="54310" y="104180"/>
                  <a:pt x="37505" y="87374"/>
                  <a:pt x="37505" y="66675"/>
                </a:cubicBezTo>
                <a:close/>
                <a:moveTo>
                  <a:pt x="75009" y="50006"/>
                </a:moveTo>
                <a:cubicBezTo>
                  <a:pt x="75009" y="59200"/>
                  <a:pt x="67534" y="66675"/>
                  <a:pt x="58341" y="66675"/>
                </a:cubicBezTo>
                <a:cubicBezTo>
                  <a:pt x="55345" y="66675"/>
                  <a:pt x="52533" y="65894"/>
                  <a:pt x="50084" y="64487"/>
                </a:cubicBezTo>
                <a:cubicBezTo>
                  <a:pt x="49824" y="67326"/>
                  <a:pt x="50058" y="70243"/>
                  <a:pt x="50840" y="73134"/>
                </a:cubicBezTo>
                <a:cubicBezTo>
                  <a:pt x="54408" y="86469"/>
                  <a:pt x="68134" y="94387"/>
                  <a:pt x="81469" y="90819"/>
                </a:cubicBezTo>
                <a:cubicBezTo>
                  <a:pt x="94804" y="87250"/>
                  <a:pt x="102721" y="73525"/>
                  <a:pt x="99153" y="60190"/>
                </a:cubicBezTo>
                <a:cubicBezTo>
                  <a:pt x="95976" y="48287"/>
                  <a:pt x="84698" y="40708"/>
                  <a:pt x="72822" y="41750"/>
                </a:cubicBezTo>
                <a:cubicBezTo>
                  <a:pt x="74202" y="44172"/>
                  <a:pt x="75009" y="46985"/>
                  <a:pt x="75009" y="50006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9" name="Text 37"/>
          <p:cNvSpPr/>
          <p:nvPr/>
        </p:nvSpPr>
        <p:spPr>
          <a:xfrm>
            <a:off x="823913" y="5057775"/>
            <a:ext cx="159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Обзорная визуализация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00075" y="5353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8334"/>
                </a:moveTo>
                <a:cubicBezTo>
                  <a:pt x="12944" y="8334"/>
                  <a:pt x="16669" y="12059"/>
                  <a:pt x="16669" y="16669"/>
                </a:cubicBezTo>
                <a:lnTo>
                  <a:pt x="16669" y="104180"/>
                </a:lnTo>
                <a:cubicBezTo>
                  <a:pt x="16669" y="106472"/>
                  <a:pt x="18544" y="108347"/>
                  <a:pt x="20836" y="108347"/>
                </a:cubicBezTo>
                <a:lnTo>
                  <a:pt x="125016" y="108347"/>
                </a:lnTo>
                <a:cubicBezTo>
                  <a:pt x="129626" y="108347"/>
                  <a:pt x="133350" y="112071"/>
                  <a:pt x="133350" y="116681"/>
                </a:cubicBezTo>
                <a:cubicBezTo>
                  <a:pt x="133350" y="121291"/>
                  <a:pt x="129626" y="125016"/>
                  <a:pt x="125016" y="125016"/>
                </a:cubicBezTo>
                <a:lnTo>
                  <a:pt x="20836" y="125016"/>
                </a:lnTo>
                <a:cubicBezTo>
                  <a:pt x="9324" y="125016"/>
                  <a:pt x="0" y="115692"/>
                  <a:pt x="0" y="104180"/>
                </a:cubicBezTo>
                <a:lnTo>
                  <a:pt x="0" y="16669"/>
                </a:lnTo>
                <a:cubicBezTo>
                  <a:pt x="0" y="12059"/>
                  <a:pt x="3724" y="8334"/>
                  <a:pt x="8334" y="8334"/>
                </a:cubicBezTo>
                <a:close/>
                <a:moveTo>
                  <a:pt x="33337" y="25003"/>
                </a:moveTo>
                <a:cubicBezTo>
                  <a:pt x="33337" y="20393"/>
                  <a:pt x="37062" y="16669"/>
                  <a:pt x="41672" y="16669"/>
                </a:cubicBezTo>
                <a:lnTo>
                  <a:pt x="91678" y="16669"/>
                </a:lnTo>
                <a:cubicBezTo>
                  <a:pt x="96288" y="16669"/>
                  <a:pt x="100013" y="20393"/>
                  <a:pt x="100013" y="25003"/>
                </a:cubicBezTo>
                <a:cubicBezTo>
                  <a:pt x="100013" y="29613"/>
                  <a:pt x="96288" y="33337"/>
                  <a:pt x="91678" y="33337"/>
                </a:cubicBezTo>
                <a:lnTo>
                  <a:pt x="41672" y="33337"/>
                </a:lnTo>
                <a:cubicBezTo>
                  <a:pt x="37062" y="33337"/>
                  <a:pt x="33337" y="29613"/>
                  <a:pt x="33337" y="25003"/>
                </a:cubicBezTo>
                <a:close/>
                <a:moveTo>
                  <a:pt x="41672" y="45839"/>
                </a:moveTo>
                <a:lnTo>
                  <a:pt x="75009" y="45839"/>
                </a:lnTo>
                <a:cubicBezTo>
                  <a:pt x="79619" y="45839"/>
                  <a:pt x="83344" y="49563"/>
                  <a:pt x="83344" y="54173"/>
                </a:cubicBezTo>
                <a:cubicBezTo>
                  <a:pt x="83344" y="58783"/>
                  <a:pt x="79619" y="62508"/>
                  <a:pt x="75009" y="62508"/>
                </a:cubicBezTo>
                <a:lnTo>
                  <a:pt x="41672" y="62508"/>
                </a:lnTo>
                <a:cubicBezTo>
                  <a:pt x="37062" y="62508"/>
                  <a:pt x="33337" y="58783"/>
                  <a:pt x="33337" y="54173"/>
                </a:cubicBezTo>
                <a:cubicBezTo>
                  <a:pt x="33337" y="49563"/>
                  <a:pt x="37062" y="45839"/>
                  <a:pt x="41672" y="45839"/>
                </a:cubicBezTo>
                <a:close/>
                <a:moveTo>
                  <a:pt x="41672" y="75009"/>
                </a:moveTo>
                <a:lnTo>
                  <a:pt x="108347" y="75009"/>
                </a:lnTo>
                <a:cubicBezTo>
                  <a:pt x="112957" y="75009"/>
                  <a:pt x="116681" y="78734"/>
                  <a:pt x="116681" y="83344"/>
                </a:cubicBezTo>
                <a:cubicBezTo>
                  <a:pt x="116681" y="87954"/>
                  <a:pt x="112957" y="91678"/>
                  <a:pt x="108347" y="91678"/>
                </a:cubicBezTo>
                <a:lnTo>
                  <a:pt x="41672" y="91678"/>
                </a:lnTo>
                <a:cubicBezTo>
                  <a:pt x="37062" y="91678"/>
                  <a:pt x="33337" y="87954"/>
                  <a:pt x="33337" y="83344"/>
                </a:cubicBezTo>
                <a:cubicBezTo>
                  <a:pt x="33337" y="78734"/>
                  <a:pt x="37062" y="75009"/>
                  <a:pt x="41672" y="75009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1" name="Text 39"/>
          <p:cNvSpPr/>
          <p:nvPr/>
        </p:nvSpPr>
        <p:spPr>
          <a:xfrm>
            <a:off x="823913" y="5324475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Плотность покрытия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246513" y="3643313"/>
            <a:ext cx="3695700" cy="2066925"/>
          </a:xfrm>
          <a:custGeom>
            <a:avLst/>
            <a:gdLst/>
            <a:ahLst/>
            <a:cxnLst/>
            <a:rect l="l" t="t" r="r" b="b"/>
            <a:pathLst>
              <a:path w="3695700" h="2066925">
                <a:moveTo>
                  <a:pt x="76208" y="0"/>
                </a:moveTo>
                <a:lnTo>
                  <a:pt x="3619492" y="0"/>
                </a:lnTo>
                <a:cubicBezTo>
                  <a:pt x="3661581" y="0"/>
                  <a:pt x="3695700" y="34119"/>
                  <a:pt x="3695700" y="76208"/>
                </a:cubicBezTo>
                <a:lnTo>
                  <a:pt x="3695700" y="1990717"/>
                </a:lnTo>
                <a:cubicBezTo>
                  <a:pt x="3695700" y="2032806"/>
                  <a:pt x="3661581" y="2066925"/>
                  <a:pt x="3619492" y="2066925"/>
                </a:cubicBezTo>
                <a:lnTo>
                  <a:pt x="76208" y="2066925"/>
                </a:lnTo>
                <a:cubicBezTo>
                  <a:pt x="34119" y="2066925"/>
                  <a:pt x="0" y="2032806"/>
                  <a:pt x="0" y="1990717"/>
                </a:cubicBezTo>
                <a:lnTo>
                  <a:pt x="0" y="76208"/>
                </a:lnTo>
                <a:cubicBezTo>
                  <a:pt x="0" y="34147"/>
                  <a:pt x="34147" y="0"/>
                  <a:pt x="76208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41775" y="3838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575125" y="39719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5" name="Text 43"/>
          <p:cNvSpPr/>
          <p:nvPr/>
        </p:nvSpPr>
        <p:spPr>
          <a:xfrm>
            <a:off x="5013275" y="3933825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Динамика появления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441775" y="4448175"/>
            <a:ext cx="338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Графики новых инструментов по времени и источникам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469160" y="50863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28728" y="0"/>
                  <a:pt x="25003" y="3724"/>
                  <a:pt x="25003" y="8334"/>
                </a:cubicBezTo>
                <a:lnTo>
                  <a:pt x="25003" y="16669"/>
                </a:lnTo>
                <a:lnTo>
                  <a:pt x="16669" y="16669"/>
                </a:lnTo>
                <a:cubicBezTo>
                  <a:pt x="7475" y="16669"/>
                  <a:pt x="0" y="24144"/>
                  <a:pt x="0" y="33337"/>
                </a:cubicBezTo>
                <a:lnTo>
                  <a:pt x="0" y="45839"/>
                </a:lnTo>
                <a:lnTo>
                  <a:pt x="116681" y="45839"/>
                </a:ln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91678" y="16669"/>
                </a:lnTo>
                <a:lnTo>
                  <a:pt x="91678" y="8334"/>
                </a:lnTo>
                <a:cubicBezTo>
                  <a:pt x="91678" y="3724"/>
                  <a:pt x="87954" y="0"/>
                  <a:pt x="83344" y="0"/>
                </a:cubicBezTo>
                <a:cubicBezTo>
                  <a:pt x="78734" y="0"/>
                  <a:pt x="75009" y="3724"/>
                  <a:pt x="75009" y="8334"/>
                </a:cubicBezTo>
                <a:lnTo>
                  <a:pt x="75009" y="16669"/>
                </a:lnTo>
                <a:lnTo>
                  <a:pt x="41672" y="16669"/>
                </a:lnTo>
                <a:lnTo>
                  <a:pt x="41672" y="8334"/>
                </a:lnTo>
                <a:cubicBezTo>
                  <a:pt x="41672" y="3724"/>
                  <a:pt x="37947" y="0"/>
                  <a:pt x="33337" y="0"/>
                </a:cubicBezTo>
                <a:close/>
                <a:moveTo>
                  <a:pt x="0" y="58341"/>
                </a:move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58341"/>
                </a:lnTo>
                <a:lnTo>
                  <a:pt x="0" y="58341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8" name="Text 46"/>
          <p:cNvSpPr/>
          <p:nvPr/>
        </p:nvSpPr>
        <p:spPr>
          <a:xfrm>
            <a:off x="4684663" y="5057775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 времени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469160" y="53530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41672"/>
                </a:lnTo>
                <a:cubicBezTo>
                  <a:pt x="0" y="50866"/>
                  <a:pt x="7475" y="58341"/>
                  <a:pt x="16669" y="58341"/>
                </a:cubicBezTo>
                <a:lnTo>
                  <a:pt x="100013" y="58341"/>
                </a:lnTo>
                <a:cubicBezTo>
                  <a:pt x="109206" y="58341"/>
                  <a:pt x="116681" y="50866"/>
                  <a:pt x="116681" y="41672"/>
                </a:cubicBezTo>
                <a:lnTo>
                  <a:pt x="116681" y="25003"/>
                </a:lnTo>
                <a:cubicBezTo>
                  <a:pt x="116681" y="15809"/>
                  <a:pt x="109206" y="8334"/>
                  <a:pt x="100013" y="8334"/>
                </a:cubicBezTo>
                <a:lnTo>
                  <a:pt x="16669" y="8334"/>
                </a:lnTo>
                <a:close/>
                <a:moveTo>
                  <a:pt x="72926" y="27087"/>
                </a:moveTo>
                <a:cubicBezTo>
                  <a:pt x="76376" y="27087"/>
                  <a:pt x="79177" y="29888"/>
                  <a:pt x="79177" y="33337"/>
                </a:cubicBezTo>
                <a:cubicBezTo>
                  <a:pt x="79177" y="36787"/>
                  <a:pt x="76376" y="39588"/>
                  <a:pt x="72926" y="39588"/>
                </a:cubicBezTo>
                <a:cubicBezTo>
                  <a:pt x="69476" y="39588"/>
                  <a:pt x="66675" y="36787"/>
                  <a:pt x="66675" y="33337"/>
                </a:cubicBezTo>
                <a:cubicBezTo>
                  <a:pt x="66675" y="29888"/>
                  <a:pt x="69476" y="27087"/>
                  <a:pt x="72926" y="27087"/>
                </a:cubicBezTo>
                <a:close/>
                <a:moveTo>
                  <a:pt x="87511" y="33337"/>
                </a:moveTo>
                <a:cubicBezTo>
                  <a:pt x="87511" y="29888"/>
                  <a:pt x="90312" y="27087"/>
                  <a:pt x="93762" y="27087"/>
                </a:cubicBezTo>
                <a:cubicBezTo>
                  <a:pt x="97212" y="27087"/>
                  <a:pt x="100013" y="29888"/>
                  <a:pt x="100013" y="33337"/>
                </a:cubicBezTo>
                <a:cubicBezTo>
                  <a:pt x="100013" y="36787"/>
                  <a:pt x="97212" y="39588"/>
                  <a:pt x="93762" y="39588"/>
                </a:cubicBezTo>
                <a:cubicBezTo>
                  <a:pt x="90312" y="39588"/>
                  <a:pt x="87511" y="36787"/>
                  <a:pt x="87511" y="33337"/>
                </a:cubicBezTo>
                <a:close/>
                <a:moveTo>
                  <a:pt x="16669" y="75009"/>
                </a:moveTo>
                <a:cubicBezTo>
                  <a:pt x="7475" y="75009"/>
                  <a:pt x="0" y="82484"/>
                  <a:pt x="0" y="91678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91678"/>
                </a:lnTo>
                <a:cubicBezTo>
                  <a:pt x="116681" y="82484"/>
                  <a:pt x="109206" y="75009"/>
                  <a:pt x="100013" y="75009"/>
                </a:cubicBezTo>
                <a:lnTo>
                  <a:pt x="16669" y="75009"/>
                </a:lnTo>
                <a:close/>
                <a:moveTo>
                  <a:pt x="72926" y="93762"/>
                </a:moveTo>
                <a:cubicBezTo>
                  <a:pt x="76376" y="93762"/>
                  <a:pt x="79177" y="96563"/>
                  <a:pt x="79177" y="100013"/>
                </a:cubicBezTo>
                <a:cubicBezTo>
                  <a:pt x="79177" y="103462"/>
                  <a:pt x="76376" y="106263"/>
                  <a:pt x="72926" y="106263"/>
                </a:cubicBezTo>
                <a:cubicBezTo>
                  <a:pt x="69476" y="106263"/>
                  <a:pt x="66675" y="103462"/>
                  <a:pt x="66675" y="100013"/>
                </a:cubicBezTo>
                <a:cubicBezTo>
                  <a:pt x="66675" y="96563"/>
                  <a:pt x="69476" y="93762"/>
                  <a:pt x="72926" y="93762"/>
                </a:cubicBezTo>
                <a:close/>
                <a:moveTo>
                  <a:pt x="87511" y="100013"/>
                </a:moveTo>
                <a:cubicBezTo>
                  <a:pt x="87511" y="96563"/>
                  <a:pt x="90312" y="93762"/>
                  <a:pt x="93762" y="93762"/>
                </a:cubicBezTo>
                <a:cubicBezTo>
                  <a:pt x="97212" y="93762"/>
                  <a:pt x="100013" y="96563"/>
                  <a:pt x="100013" y="100013"/>
                </a:cubicBezTo>
                <a:cubicBezTo>
                  <a:pt x="100013" y="103462"/>
                  <a:pt x="97212" y="106263"/>
                  <a:pt x="93762" y="106263"/>
                </a:cubicBezTo>
                <a:cubicBezTo>
                  <a:pt x="90312" y="106263"/>
                  <a:pt x="87511" y="103462"/>
                  <a:pt x="87511" y="100013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50" name="Text 48"/>
          <p:cNvSpPr/>
          <p:nvPr/>
        </p:nvSpPr>
        <p:spPr>
          <a:xfrm>
            <a:off x="4684663" y="5324475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 источникам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107338" y="3643313"/>
            <a:ext cx="3695700" cy="2066925"/>
          </a:xfrm>
          <a:custGeom>
            <a:avLst/>
            <a:gdLst/>
            <a:ahLst/>
            <a:cxnLst/>
            <a:rect l="l" t="t" r="r" b="b"/>
            <a:pathLst>
              <a:path w="3695700" h="2066925">
                <a:moveTo>
                  <a:pt x="76208" y="0"/>
                </a:moveTo>
                <a:lnTo>
                  <a:pt x="3619492" y="0"/>
                </a:lnTo>
                <a:cubicBezTo>
                  <a:pt x="3661581" y="0"/>
                  <a:pt x="3695700" y="34119"/>
                  <a:pt x="3695700" y="76208"/>
                </a:cubicBezTo>
                <a:lnTo>
                  <a:pt x="3695700" y="1990717"/>
                </a:lnTo>
                <a:cubicBezTo>
                  <a:pt x="3695700" y="2032806"/>
                  <a:pt x="3661581" y="2066925"/>
                  <a:pt x="3619492" y="2066925"/>
                </a:cubicBezTo>
                <a:lnTo>
                  <a:pt x="76208" y="2066925"/>
                </a:lnTo>
                <a:cubicBezTo>
                  <a:pt x="34119" y="2066925"/>
                  <a:pt x="0" y="2032806"/>
                  <a:pt x="0" y="1990717"/>
                </a:cubicBezTo>
                <a:lnTo>
                  <a:pt x="0" y="76208"/>
                </a:lnTo>
                <a:cubicBezTo>
                  <a:pt x="0" y="34147"/>
                  <a:pt x="34147" y="0"/>
                  <a:pt x="76208" y="0"/>
                </a:cubicBezTo>
                <a:close/>
              </a:path>
            </a:pathLst>
          </a:custGeom>
          <a:solidFill>
            <a:srgbClr val="2C3036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02600" y="3838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447856" y="39719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110133"/>
                </a:moveTo>
                <a:cubicBezTo>
                  <a:pt x="166688" y="134801"/>
                  <a:pt x="146707" y="154781"/>
                  <a:pt x="122039" y="154781"/>
                </a:cubicBezTo>
                <a:lnTo>
                  <a:pt x="119063" y="154781"/>
                </a:lnTo>
                <a:cubicBezTo>
                  <a:pt x="112477" y="154781"/>
                  <a:pt x="107156" y="149461"/>
                  <a:pt x="107156" y="142875"/>
                </a:cubicBezTo>
                <a:cubicBezTo>
                  <a:pt x="107156" y="136289"/>
                  <a:pt x="112477" y="130969"/>
                  <a:pt x="119063" y="130969"/>
                </a:cubicBezTo>
                <a:lnTo>
                  <a:pt x="122039" y="130969"/>
                </a:lnTo>
                <a:cubicBezTo>
                  <a:pt x="133536" y="130969"/>
                  <a:pt x="142875" y="121630"/>
                  <a:pt x="142875" y="110133"/>
                </a:cubicBezTo>
                <a:lnTo>
                  <a:pt x="142875" y="107156"/>
                </a:lnTo>
                <a:lnTo>
                  <a:pt x="119063" y="107156"/>
                </a:lnTo>
                <a:cubicBezTo>
                  <a:pt x="105928" y="107156"/>
                  <a:pt x="95250" y="96478"/>
                  <a:pt x="95250" y="83344"/>
                </a:cubicBezTo>
                <a:lnTo>
                  <a:pt x="95250" y="59531"/>
                </a:lnTo>
                <a:cubicBezTo>
                  <a:pt x="95250" y="46397"/>
                  <a:pt x="105928" y="35719"/>
                  <a:pt x="119063" y="35719"/>
                </a:cubicBezTo>
                <a:lnTo>
                  <a:pt x="142875" y="35719"/>
                </a:lnTo>
                <a:cubicBezTo>
                  <a:pt x="156009" y="35719"/>
                  <a:pt x="166688" y="46397"/>
                  <a:pt x="166688" y="59531"/>
                </a:cubicBezTo>
                <a:lnTo>
                  <a:pt x="166688" y="110133"/>
                </a:lnTo>
                <a:close/>
                <a:moveTo>
                  <a:pt x="71438" y="110133"/>
                </a:moveTo>
                <a:cubicBezTo>
                  <a:pt x="71438" y="134801"/>
                  <a:pt x="51457" y="154781"/>
                  <a:pt x="26789" y="154781"/>
                </a:cubicBezTo>
                <a:lnTo>
                  <a:pt x="23812" y="154781"/>
                </a:lnTo>
                <a:cubicBezTo>
                  <a:pt x="17227" y="154781"/>
                  <a:pt x="11906" y="149461"/>
                  <a:pt x="11906" y="142875"/>
                </a:cubicBezTo>
                <a:cubicBezTo>
                  <a:pt x="11906" y="136289"/>
                  <a:pt x="17227" y="130969"/>
                  <a:pt x="23812" y="130969"/>
                </a:cubicBezTo>
                <a:lnTo>
                  <a:pt x="26789" y="130969"/>
                </a:lnTo>
                <a:cubicBezTo>
                  <a:pt x="38286" y="130969"/>
                  <a:pt x="47625" y="121630"/>
                  <a:pt x="47625" y="110133"/>
                </a:cubicBezTo>
                <a:lnTo>
                  <a:pt x="47625" y="107156"/>
                </a:lnTo>
                <a:lnTo>
                  <a:pt x="23812" y="107156"/>
                </a:lnTo>
                <a:cubicBezTo>
                  <a:pt x="10678" y="107156"/>
                  <a:pt x="0" y="96478"/>
                  <a:pt x="0" y="83344"/>
                </a:cubicBezTo>
                <a:lnTo>
                  <a:pt x="0" y="59531"/>
                </a:lnTo>
                <a:cubicBezTo>
                  <a:pt x="0" y="46397"/>
                  <a:pt x="10678" y="35719"/>
                  <a:pt x="23812" y="35719"/>
                </a:cubicBezTo>
                <a:lnTo>
                  <a:pt x="47625" y="35719"/>
                </a:lnTo>
                <a:cubicBezTo>
                  <a:pt x="60759" y="35719"/>
                  <a:pt x="71438" y="46397"/>
                  <a:pt x="71438" y="59531"/>
                </a:cubicBezTo>
                <a:lnTo>
                  <a:pt x="71438" y="110133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54" name="Text 52"/>
          <p:cNvSpPr/>
          <p:nvPr/>
        </p:nvSpPr>
        <p:spPr>
          <a:xfrm>
            <a:off x="8874100" y="3933825"/>
            <a:ext cx="1781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Evidence-фрагменты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302600" y="4448175"/>
            <a:ext cx="338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Текстовые фрагменты, обосновывающие каждую классификацию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338319" y="508635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31254" y="66675"/>
                </a:moveTo>
                <a:cubicBezTo>
                  <a:pt x="27790" y="66675"/>
                  <a:pt x="25003" y="69462"/>
                  <a:pt x="25003" y="72926"/>
                </a:cubicBezTo>
                <a:cubicBezTo>
                  <a:pt x="25003" y="76390"/>
                  <a:pt x="27790" y="79177"/>
                  <a:pt x="31254" y="79177"/>
                </a:cubicBezTo>
                <a:lnTo>
                  <a:pt x="68759" y="79177"/>
                </a:lnTo>
                <a:cubicBezTo>
                  <a:pt x="72223" y="79177"/>
                  <a:pt x="75009" y="76390"/>
                  <a:pt x="75009" y="72926"/>
                </a:cubicBezTo>
                <a:cubicBezTo>
                  <a:pt x="75009" y="69462"/>
                  <a:pt x="72223" y="66675"/>
                  <a:pt x="68759" y="66675"/>
                </a:cubicBezTo>
                <a:lnTo>
                  <a:pt x="31254" y="66675"/>
                </a:lnTo>
                <a:close/>
                <a:moveTo>
                  <a:pt x="31254" y="91678"/>
                </a:moveTo>
                <a:cubicBezTo>
                  <a:pt x="27790" y="91678"/>
                  <a:pt x="25003" y="94465"/>
                  <a:pt x="25003" y="97929"/>
                </a:cubicBezTo>
                <a:cubicBezTo>
                  <a:pt x="25003" y="101393"/>
                  <a:pt x="27790" y="104180"/>
                  <a:pt x="31254" y="104180"/>
                </a:cubicBezTo>
                <a:lnTo>
                  <a:pt x="68759" y="104180"/>
                </a:lnTo>
                <a:cubicBezTo>
                  <a:pt x="72223" y="104180"/>
                  <a:pt x="75009" y="101393"/>
                  <a:pt x="75009" y="97929"/>
                </a:cubicBezTo>
                <a:cubicBezTo>
                  <a:pt x="75009" y="94465"/>
                  <a:pt x="72223" y="91678"/>
                  <a:pt x="68759" y="91678"/>
                </a:cubicBezTo>
                <a:lnTo>
                  <a:pt x="31254" y="91678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57" name="Text 55"/>
          <p:cNvSpPr/>
          <p:nvPr/>
        </p:nvSpPr>
        <p:spPr>
          <a:xfrm>
            <a:off x="8545488" y="5057775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Цитаты из README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313316" y="53530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09258" y="25003"/>
                </a:moveTo>
                <a:cubicBezTo>
                  <a:pt x="104935" y="25003"/>
                  <a:pt x="100742" y="26175"/>
                  <a:pt x="97069" y="28311"/>
                </a:cubicBezTo>
                <a:cubicBezTo>
                  <a:pt x="92954" y="24144"/>
                  <a:pt x="88162" y="20654"/>
                  <a:pt x="82875" y="18023"/>
                </a:cubicBezTo>
                <a:cubicBezTo>
                  <a:pt x="90220" y="11772"/>
                  <a:pt x="99570" y="8334"/>
                  <a:pt x="109258" y="8334"/>
                </a:cubicBezTo>
                <a:cubicBezTo>
                  <a:pt x="131761" y="8334"/>
                  <a:pt x="150019" y="26566"/>
                  <a:pt x="150019" y="49095"/>
                </a:cubicBezTo>
                <a:cubicBezTo>
                  <a:pt x="150019" y="59903"/>
                  <a:pt x="145721" y="70269"/>
                  <a:pt x="138090" y="77900"/>
                </a:cubicBezTo>
                <a:lnTo>
                  <a:pt x="119572" y="96418"/>
                </a:lnTo>
                <a:cubicBezTo>
                  <a:pt x="111941" y="104049"/>
                  <a:pt x="101575" y="108347"/>
                  <a:pt x="90767" y="108347"/>
                </a:cubicBezTo>
                <a:cubicBezTo>
                  <a:pt x="68264" y="108347"/>
                  <a:pt x="50006" y="90115"/>
                  <a:pt x="50006" y="67587"/>
                </a:cubicBezTo>
                <a:cubicBezTo>
                  <a:pt x="50006" y="67196"/>
                  <a:pt x="50006" y="66805"/>
                  <a:pt x="50032" y="66415"/>
                </a:cubicBezTo>
                <a:cubicBezTo>
                  <a:pt x="50163" y="61805"/>
                  <a:pt x="53991" y="58184"/>
                  <a:pt x="58601" y="58315"/>
                </a:cubicBezTo>
                <a:cubicBezTo>
                  <a:pt x="63211" y="58445"/>
                  <a:pt x="66831" y="62273"/>
                  <a:pt x="66701" y="66883"/>
                </a:cubicBezTo>
                <a:cubicBezTo>
                  <a:pt x="66701" y="67118"/>
                  <a:pt x="66701" y="67352"/>
                  <a:pt x="66701" y="67561"/>
                </a:cubicBezTo>
                <a:cubicBezTo>
                  <a:pt x="66701" y="80869"/>
                  <a:pt x="77484" y="91652"/>
                  <a:pt x="90793" y="91652"/>
                </a:cubicBezTo>
                <a:cubicBezTo>
                  <a:pt x="97174" y="91652"/>
                  <a:pt x="103294" y="89126"/>
                  <a:pt x="107826" y="84594"/>
                </a:cubicBezTo>
                <a:lnTo>
                  <a:pt x="126344" y="66076"/>
                </a:lnTo>
                <a:cubicBezTo>
                  <a:pt x="130850" y="61570"/>
                  <a:pt x="133402" y="55424"/>
                  <a:pt x="133402" y="49043"/>
                </a:cubicBezTo>
                <a:cubicBezTo>
                  <a:pt x="133402" y="35734"/>
                  <a:pt x="122619" y="24951"/>
                  <a:pt x="109311" y="24951"/>
                </a:cubicBezTo>
                <a:close/>
                <a:moveTo>
                  <a:pt x="71676" y="45136"/>
                </a:moveTo>
                <a:cubicBezTo>
                  <a:pt x="71181" y="44927"/>
                  <a:pt x="70686" y="44641"/>
                  <a:pt x="70243" y="44328"/>
                </a:cubicBezTo>
                <a:cubicBezTo>
                  <a:pt x="66961" y="42636"/>
                  <a:pt x="63211" y="41672"/>
                  <a:pt x="59278" y="41672"/>
                </a:cubicBezTo>
                <a:cubicBezTo>
                  <a:pt x="52897" y="41672"/>
                  <a:pt x="46777" y="44198"/>
                  <a:pt x="42245" y="48730"/>
                </a:cubicBezTo>
                <a:lnTo>
                  <a:pt x="23727" y="67248"/>
                </a:lnTo>
                <a:cubicBezTo>
                  <a:pt x="19221" y="71754"/>
                  <a:pt x="16669" y="77900"/>
                  <a:pt x="16669" y="84281"/>
                </a:cubicBezTo>
                <a:cubicBezTo>
                  <a:pt x="16669" y="97590"/>
                  <a:pt x="27451" y="108373"/>
                  <a:pt x="40760" y="108373"/>
                </a:cubicBezTo>
                <a:cubicBezTo>
                  <a:pt x="45058" y="108373"/>
                  <a:pt x="49251" y="107227"/>
                  <a:pt x="52923" y="105091"/>
                </a:cubicBezTo>
                <a:cubicBezTo>
                  <a:pt x="57038" y="109258"/>
                  <a:pt x="61831" y="112748"/>
                  <a:pt x="67144" y="115379"/>
                </a:cubicBezTo>
                <a:cubicBezTo>
                  <a:pt x="59799" y="121604"/>
                  <a:pt x="50475" y="125068"/>
                  <a:pt x="40760" y="125068"/>
                </a:cubicBezTo>
                <a:cubicBezTo>
                  <a:pt x="18257" y="125068"/>
                  <a:pt x="0" y="106836"/>
                  <a:pt x="0" y="84307"/>
                </a:cubicBezTo>
                <a:cubicBezTo>
                  <a:pt x="0" y="73499"/>
                  <a:pt x="4297" y="63133"/>
                  <a:pt x="11929" y="55502"/>
                </a:cubicBezTo>
                <a:lnTo>
                  <a:pt x="30447" y="36984"/>
                </a:lnTo>
                <a:cubicBezTo>
                  <a:pt x="38078" y="29353"/>
                  <a:pt x="48444" y="25055"/>
                  <a:pt x="59252" y="25055"/>
                </a:cubicBezTo>
                <a:cubicBezTo>
                  <a:pt x="81807" y="25055"/>
                  <a:pt x="100013" y="43443"/>
                  <a:pt x="100013" y="65920"/>
                </a:cubicBezTo>
                <a:cubicBezTo>
                  <a:pt x="100013" y="66258"/>
                  <a:pt x="100013" y="66597"/>
                  <a:pt x="100013" y="66935"/>
                </a:cubicBezTo>
                <a:cubicBezTo>
                  <a:pt x="99908" y="71545"/>
                  <a:pt x="96080" y="75166"/>
                  <a:pt x="91470" y="75061"/>
                </a:cubicBezTo>
                <a:cubicBezTo>
                  <a:pt x="86860" y="74957"/>
                  <a:pt x="83240" y="71129"/>
                  <a:pt x="83344" y="66519"/>
                </a:cubicBezTo>
                <a:cubicBezTo>
                  <a:pt x="83344" y="66310"/>
                  <a:pt x="83344" y="66128"/>
                  <a:pt x="83344" y="65920"/>
                </a:cubicBezTo>
                <a:cubicBezTo>
                  <a:pt x="83344" y="57143"/>
                  <a:pt x="78656" y="49433"/>
                  <a:pt x="71676" y="45188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59" name="Text 57"/>
          <p:cNvSpPr/>
          <p:nvPr/>
        </p:nvSpPr>
        <p:spPr>
          <a:xfrm>
            <a:off x="8545488" y="5324475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Ссылки на источники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385763" y="5872163"/>
            <a:ext cx="11420475" cy="771525"/>
          </a:xfrm>
          <a:custGeom>
            <a:avLst/>
            <a:gdLst/>
            <a:ahLst/>
            <a:cxnLst/>
            <a:rect l="l" t="t" r="r" b="b"/>
            <a:pathLst>
              <a:path w="11420475" h="771525">
                <a:moveTo>
                  <a:pt x="76204" y="0"/>
                </a:moveTo>
                <a:lnTo>
                  <a:pt x="11344271" y="0"/>
                </a:lnTo>
                <a:cubicBezTo>
                  <a:pt x="11386358" y="0"/>
                  <a:pt x="11420475" y="34117"/>
                  <a:pt x="11420475" y="76204"/>
                </a:cubicBezTo>
                <a:lnTo>
                  <a:pt x="11420475" y="695321"/>
                </a:lnTo>
                <a:cubicBezTo>
                  <a:pt x="11420475" y="737408"/>
                  <a:pt x="11386358" y="771525"/>
                  <a:pt x="11344271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8163" y="61626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62" name="Text 60"/>
          <p:cNvSpPr/>
          <p:nvPr/>
        </p:nvSpPr>
        <p:spPr>
          <a:xfrm>
            <a:off x="920279" y="6029325"/>
            <a:ext cx="10801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MCP-доступ:</a:t>
            </a: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AI-агент может задавать запросы: "какие инструменты связаны с T1046", "новые инструменты за 30 дней", "источники с Discovery-утилитами"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14350" y="514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419100"/>
            <a:ext cx="1971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План работ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525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Поэтапная реализация от концепции к рабочему прототипу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409700"/>
            <a:ext cx="2724150" cy="4286250"/>
          </a:xfrm>
          <a:custGeom>
            <a:avLst/>
            <a:gdLst/>
            <a:ahLst/>
            <a:cxnLst/>
            <a:rect l="l" t="t" r="r" b="b"/>
            <a:pathLst>
              <a:path w="2724150" h="4286250">
                <a:moveTo>
                  <a:pt x="0" y="0"/>
                </a:moveTo>
                <a:lnTo>
                  <a:pt x="2647956" y="0"/>
                </a:lnTo>
                <a:cubicBezTo>
                  <a:pt x="2690037" y="0"/>
                  <a:pt x="2724150" y="34113"/>
                  <a:pt x="2724150" y="76194"/>
                </a:cubicBezTo>
                <a:lnTo>
                  <a:pt x="2724150" y="4210056"/>
                </a:lnTo>
                <a:cubicBezTo>
                  <a:pt x="2724150" y="4252137"/>
                  <a:pt x="2690037" y="4286250"/>
                  <a:pt x="2647956" y="4286250"/>
                </a:cubicBez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solidFill>
            <a:srgbClr val="2C3036">
              <a:alpha val="5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409700"/>
            <a:ext cx="38100" cy="4286250"/>
          </a:xfrm>
          <a:custGeom>
            <a:avLst/>
            <a:gdLst/>
            <a:ahLst/>
            <a:cxnLst/>
            <a:rect l="l" t="t" r="r" b="b"/>
            <a:pathLst>
              <a:path w="38100" h="4286250">
                <a:moveTo>
                  <a:pt x="0" y="0"/>
                </a:moveTo>
                <a:lnTo>
                  <a:pt x="38100" y="0"/>
                </a:lnTo>
                <a:lnTo>
                  <a:pt x="38100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31354" y="1714500"/>
            <a:ext cx="200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57300" y="1638300"/>
            <a:ext cx="65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Этап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57300" y="1905000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Текущий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286000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Концепция и архитектура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6984" y="27051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4" name="Text 12"/>
          <p:cNvSpPr/>
          <p:nvPr/>
        </p:nvSpPr>
        <p:spPr>
          <a:xfrm>
            <a:off x="852488" y="2667000"/>
            <a:ext cx="170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Формализация проблемы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6984" y="2971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6" name="Text 14"/>
          <p:cNvSpPr/>
          <p:nvPr/>
        </p:nvSpPr>
        <p:spPr>
          <a:xfrm>
            <a:off x="852488" y="2933700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Определение сущностей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6984" y="32385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8" name="Text 16"/>
          <p:cNvSpPr/>
          <p:nvPr/>
        </p:nvSpPr>
        <p:spPr>
          <a:xfrm>
            <a:off x="852488" y="3200400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Программная архитектура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6984" y="35052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0" name="Text 18"/>
          <p:cNvSpPr/>
          <p:nvPr/>
        </p:nvSpPr>
        <p:spPr>
          <a:xfrm>
            <a:off x="852488" y="3467100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План реализации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9600" y="5157788"/>
            <a:ext cx="2324100" cy="9525"/>
          </a:xfrm>
          <a:custGeom>
            <a:avLst/>
            <a:gdLst/>
            <a:ahLst/>
            <a:cxnLst/>
            <a:rect l="l" t="t" r="r" b="b"/>
            <a:pathLst>
              <a:path w="2324100" h="9525">
                <a:moveTo>
                  <a:pt x="0" y="0"/>
                </a:moveTo>
                <a:lnTo>
                  <a:pt x="2324100" y="0"/>
                </a:lnTo>
                <a:lnTo>
                  <a:pt x="23241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09600" y="5314950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Результат: Презентация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95650" y="1409700"/>
            <a:ext cx="2724150" cy="4286250"/>
          </a:xfrm>
          <a:custGeom>
            <a:avLst/>
            <a:gdLst/>
            <a:ahLst/>
            <a:cxnLst/>
            <a:rect l="l" t="t" r="r" b="b"/>
            <a:pathLst>
              <a:path w="2724150" h="4286250">
                <a:moveTo>
                  <a:pt x="0" y="0"/>
                </a:moveTo>
                <a:lnTo>
                  <a:pt x="2647956" y="0"/>
                </a:lnTo>
                <a:cubicBezTo>
                  <a:pt x="2690037" y="0"/>
                  <a:pt x="2724150" y="34113"/>
                  <a:pt x="2724150" y="76194"/>
                </a:cubicBezTo>
                <a:lnTo>
                  <a:pt x="2724150" y="4210056"/>
                </a:lnTo>
                <a:cubicBezTo>
                  <a:pt x="2724150" y="4252137"/>
                  <a:pt x="2690037" y="4286250"/>
                  <a:pt x="2647956" y="4286250"/>
                </a:cubicBez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solidFill>
            <a:srgbClr val="2C3036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95650" y="1409700"/>
            <a:ext cx="38100" cy="4286250"/>
          </a:xfrm>
          <a:custGeom>
            <a:avLst/>
            <a:gdLst/>
            <a:ahLst/>
            <a:cxnLst/>
            <a:rect l="l" t="t" r="r" b="b"/>
            <a:pathLst>
              <a:path w="38100" h="4286250">
                <a:moveTo>
                  <a:pt x="0" y="0"/>
                </a:moveTo>
                <a:lnTo>
                  <a:pt x="38100" y="0"/>
                </a:lnTo>
                <a:lnTo>
                  <a:pt x="38100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solidFill>
            <a:srgbClr val="8D939C"/>
          </a:solidFill>
          <a:ln/>
        </p:spPr>
      </p:sp>
      <p:sp>
        <p:nvSpPr>
          <p:cNvPr id="25" name="Shape 23"/>
          <p:cNvSpPr/>
          <p:nvPr/>
        </p:nvSpPr>
        <p:spPr>
          <a:xfrm>
            <a:off x="35052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D939C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707606" y="1714500"/>
            <a:ext cx="238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152900" y="1638300"/>
            <a:ext cx="86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Этап 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52900" y="1905000"/>
            <a:ext cx="83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Следующий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505200" y="2286000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ETL-модуль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524250" y="27051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8D939C"/>
          </a:solidFill>
          <a:ln/>
        </p:spPr>
      </p:sp>
      <p:sp>
        <p:nvSpPr>
          <p:cNvPr id="31" name="Text 29"/>
          <p:cNvSpPr/>
          <p:nvPr/>
        </p:nvSpPr>
        <p:spPr>
          <a:xfrm>
            <a:off x="3748087" y="2667000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Сбор из GitHub API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524250" y="29718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8D939C"/>
          </a:solidFill>
          <a:ln/>
        </p:spPr>
      </p:sp>
      <p:sp>
        <p:nvSpPr>
          <p:cNvPr id="33" name="Text 31"/>
          <p:cNvSpPr/>
          <p:nvPr/>
        </p:nvSpPr>
        <p:spPr>
          <a:xfrm>
            <a:off x="3748087" y="2933700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Сбор из RSS-каналов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524250" y="32385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8D939C"/>
          </a:solidFill>
          <a:ln/>
        </p:spPr>
      </p:sp>
      <p:sp>
        <p:nvSpPr>
          <p:cNvPr id="35" name="Text 33"/>
          <p:cNvSpPr/>
          <p:nvPr/>
        </p:nvSpPr>
        <p:spPr>
          <a:xfrm>
            <a:off x="3748087" y="3200400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Очистка и нормализация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524250" y="35052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8D939C"/>
          </a:solidFill>
          <a:ln/>
        </p:spPr>
      </p:sp>
      <p:sp>
        <p:nvSpPr>
          <p:cNvPr id="37" name="Text 35"/>
          <p:cNvSpPr/>
          <p:nvPr/>
        </p:nvSpPr>
        <p:spPr>
          <a:xfrm>
            <a:off x="3748087" y="3467100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Sample dataset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505200" y="5157788"/>
            <a:ext cx="2324100" cy="9525"/>
          </a:xfrm>
          <a:custGeom>
            <a:avLst/>
            <a:gdLst/>
            <a:ahLst/>
            <a:cxnLst/>
            <a:rect l="l" t="t" r="r" b="b"/>
            <a:pathLst>
              <a:path w="2324100" h="9525">
                <a:moveTo>
                  <a:pt x="0" y="0"/>
                </a:moveTo>
                <a:lnTo>
                  <a:pt x="2324100" y="0"/>
                </a:lnTo>
                <a:lnTo>
                  <a:pt x="23241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D939C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505200" y="5314950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Результат: Рабочий ETL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91250" y="1409700"/>
            <a:ext cx="2724150" cy="4286250"/>
          </a:xfrm>
          <a:custGeom>
            <a:avLst/>
            <a:gdLst/>
            <a:ahLst/>
            <a:cxnLst/>
            <a:rect l="l" t="t" r="r" b="b"/>
            <a:pathLst>
              <a:path w="2724150" h="4286250">
                <a:moveTo>
                  <a:pt x="0" y="0"/>
                </a:moveTo>
                <a:lnTo>
                  <a:pt x="2647956" y="0"/>
                </a:lnTo>
                <a:cubicBezTo>
                  <a:pt x="2690037" y="0"/>
                  <a:pt x="2724150" y="34113"/>
                  <a:pt x="2724150" y="76194"/>
                </a:cubicBezTo>
                <a:lnTo>
                  <a:pt x="2724150" y="4210056"/>
                </a:lnTo>
                <a:cubicBezTo>
                  <a:pt x="2724150" y="4252137"/>
                  <a:pt x="2690037" y="4286250"/>
                  <a:pt x="2647956" y="4286250"/>
                </a:cubicBez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solidFill>
            <a:srgbClr val="2C3036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191250" y="1409700"/>
            <a:ext cx="38100" cy="4286250"/>
          </a:xfrm>
          <a:custGeom>
            <a:avLst/>
            <a:gdLst/>
            <a:ahLst/>
            <a:cxnLst/>
            <a:rect l="l" t="t" r="r" b="b"/>
            <a:pathLst>
              <a:path w="38100" h="4286250">
                <a:moveTo>
                  <a:pt x="0" y="0"/>
                </a:moveTo>
                <a:lnTo>
                  <a:pt x="38100" y="0"/>
                </a:lnTo>
                <a:lnTo>
                  <a:pt x="38100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solidFill>
            <a:srgbClr val="8D939C"/>
          </a:solidFill>
          <a:ln/>
        </p:spPr>
      </p:sp>
      <p:sp>
        <p:nvSpPr>
          <p:cNvPr id="42" name="Shape 40"/>
          <p:cNvSpPr/>
          <p:nvPr/>
        </p:nvSpPr>
        <p:spPr>
          <a:xfrm>
            <a:off x="64008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D939C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600230" y="1714500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48500" y="1638300"/>
            <a:ext cx="714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Этап 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048500" y="1905000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Пререлиз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00800" y="2286000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Пререлиз-чекап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19850" y="27051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8D939C"/>
          </a:solidFill>
          <a:ln/>
        </p:spPr>
      </p:sp>
      <p:sp>
        <p:nvSpPr>
          <p:cNvPr id="48" name="Text 46"/>
          <p:cNvSpPr/>
          <p:nvPr/>
        </p:nvSpPr>
        <p:spPr>
          <a:xfrm>
            <a:off x="6643688" y="266700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Rule-based mapping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19850" y="29718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8D939C"/>
          </a:solidFill>
          <a:ln/>
        </p:spPr>
      </p:sp>
      <p:sp>
        <p:nvSpPr>
          <p:cNvPr id="50" name="Text 48"/>
          <p:cNvSpPr/>
          <p:nvPr/>
        </p:nvSpPr>
        <p:spPr>
          <a:xfrm>
            <a:off x="6643688" y="2933700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Первичная классификация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19850" y="32385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8D939C"/>
          </a:solidFill>
          <a:ln/>
        </p:spPr>
      </p:sp>
      <p:sp>
        <p:nvSpPr>
          <p:cNvPr id="52" name="Text 50"/>
          <p:cNvSpPr/>
          <p:nvPr/>
        </p:nvSpPr>
        <p:spPr>
          <a:xfrm>
            <a:off x="6643688" y="3200400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Прототип интерфейса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19850" y="35052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8D939C"/>
          </a:solidFill>
          <a:ln/>
        </p:spPr>
      </p:sp>
      <p:sp>
        <p:nvSpPr>
          <p:cNvPr id="54" name="Text 52"/>
          <p:cNvSpPr/>
          <p:nvPr/>
        </p:nvSpPr>
        <p:spPr>
          <a:xfrm>
            <a:off x="6643688" y="3467100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Тестирование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400800" y="5157788"/>
            <a:ext cx="2324100" cy="9525"/>
          </a:xfrm>
          <a:custGeom>
            <a:avLst/>
            <a:gdLst/>
            <a:ahLst/>
            <a:cxnLst/>
            <a:rect l="l" t="t" r="r" b="b"/>
            <a:pathLst>
              <a:path w="2324100" h="9525">
                <a:moveTo>
                  <a:pt x="0" y="0"/>
                </a:moveTo>
                <a:lnTo>
                  <a:pt x="2324100" y="0"/>
                </a:lnTo>
                <a:lnTo>
                  <a:pt x="23241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D939C">
              <a:alpha val="2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0" y="5314950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Результат: Рабочий прототип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086850" y="1409700"/>
            <a:ext cx="2724150" cy="4286250"/>
          </a:xfrm>
          <a:custGeom>
            <a:avLst/>
            <a:gdLst/>
            <a:ahLst/>
            <a:cxnLst/>
            <a:rect l="l" t="t" r="r" b="b"/>
            <a:pathLst>
              <a:path w="2724150" h="4286250">
                <a:moveTo>
                  <a:pt x="0" y="0"/>
                </a:moveTo>
                <a:lnTo>
                  <a:pt x="2647956" y="0"/>
                </a:lnTo>
                <a:cubicBezTo>
                  <a:pt x="2690037" y="0"/>
                  <a:pt x="2724150" y="34113"/>
                  <a:pt x="2724150" y="76194"/>
                </a:cubicBezTo>
                <a:lnTo>
                  <a:pt x="2724150" y="4210056"/>
                </a:lnTo>
                <a:cubicBezTo>
                  <a:pt x="2724150" y="4252137"/>
                  <a:pt x="2690037" y="4286250"/>
                  <a:pt x="2647956" y="4286250"/>
                </a:cubicBez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solidFill>
            <a:srgbClr val="2C3036">
              <a:alpha val="5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86850" y="1409700"/>
            <a:ext cx="38100" cy="4286250"/>
          </a:xfrm>
          <a:custGeom>
            <a:avLst/>
            <a:gdLst/>
            <a:ahLst/>
            <a:cxnLst/>
            <a:rect l="l" t="t" r="r" b="b"/>
            <a:pathLst>
              <a:path w="38100" h="4286250">
                <a:moveTo>
                  <a:pt x="0" y="0"/>
                </a:moveTo>
                <a:lnTo>
                  <a:pt x="38100" y="0"/>
                </a:lnTo>
                <a:lnTo>
                  <a:pt x="38100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solidFill>
            <a:srgbClr val="8D939C"/>
          </a:solidFill>
          <a:ln/>
        </p:spPr>
      </p:sp>
      <p:sp>
        <p:nvSpPr>
          <p:cNvPr id="59" name="Shape 57"/>
          <p:cNvSpPr/>
          <p:nvPr/>
        </p:nvSpPr>
        <p:spPr>
          <a:xfrm>
            <a:off x="92964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D939C">
              <a:alpha val="2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9496053" y="1714500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944100" y="1638300"/>
            <a:ext cx="69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Этап 4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944100" y="1905000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Финал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296400" y="2286000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Финальная демонстрация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9315450" y="27051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8D939C"/>
          </a:solidFill>
          <a:ln/>
        </p:spPr>
      </p:sp>
      <p:sp>
        <p:nvSpPr>
          <p:cNvPr id="65" name="Text 63"/>
          <p:cNvSpPr/>
          <p:nvPr/>
        </p:nvSpPr>
        <p:spPr>
          <a:xfrm>
            <a:off x="9539288" y="2667000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End-to-end pipeline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315450" y="29718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8D939C"/>
          </a:solidFill>
          <a:ln/>
        </p:spPr>
      </p:sp>
      <p:sp>
        <p:nvSpPr>
          <p:cNvPr id="67" name="Text 65"/>
          <p:cNvSpPr/>
          <p:nvPr/>
        </p:nvSpPr>
        <p:spPr>
          <a:xfrm>
            <a:off x="9539288" y="2933700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+ compose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9315450" y="32385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8D939C"/>
          </a:solidFill>
          <a:ln/>
        </p:spPr>
      </p:sp>
      <p:sp>
        <p:nvSpPr>
          <p:cNvPr id="69" name="Text 67"/>
          <p:cNvSpPr/>
          <p:nvPr/>
        </p:nvSpPr>
        <p:spPr>
          <a:xfrm>
            <a:off x="9539288" y="3200400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MCP-сервер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9315450" y="35052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8D939C"/>
          </a:solidFill>
          <a:ln/>
        </p:spPr>
      </p:sp>
      <p:sp>
        <p:nvSpPr>
          <p:cNvPr id="71" name="Text 69"/>
          <p:cNvSpPr/>
          <p:nvPr/>
        </p:nvSpPr>
        <p:spPr>
          <a:xfrm>
            <a:off x="9539288" y="3467100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Полная документация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9296400" y="5157788"/>
            <a:ext cx="2324100" cy="9525"/>
          </a:xfrm>
          <a:custGeom>
            <a:avLst/>
            <a:gdLst/>
            <a:ahLst/>
            <a:cxnLst/>
            <a:rect l="l" t="t" r="r" b="b"/>
            <a:pathLst>
              <a:path w="2324100" h="9525">
                <a:moveTo>
                  <a:pt x="0" y="0"/>
                </a:moveTo>
                <a:lnTo>
                  <a:pt x="2324100" y="0"/>
                </a:lnTo>
                <a:lnTo>
                  <a:pt x="23241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D939C">
              <a:alpha val="2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9296400" y="5314950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Результат: Готовый продукт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385763" y="5853113"/>
            <a:ext cx="11420475" cy="619125"/>
          </a:xfrm>
          <a:custGeom>
            <a:avLst/>
            <a:gdLst/>
            <a:ahLst/>
            <a:cxnLst/>
            <a:rect l="l" t="t" r="r" b="b"/>
            <a:pathLst>
              <a:path w="11420475" h="619125">
                <a:moveTo>
                  <a:pt x="76202" y="0"/>
                </a:moveTo>
                <a:lnTo>
                  <a:pt x="11344273" y="0"/>
                </a:lnTo>
                <a:cubicBezTo>
                  <a:pt x="11386358" y="0"/>
                  <a:pt x="11420475" y="34117"/>
                  <a:pt x="11420475" y="76202"/>
                </a:cubicBezTo>
                <a:lnTo>
                  <a:pt x="11420475" y="542923"/>
                </a:lnTo>
                <a:cubicBezTo>
                  <a:pt x="11420475" y="585008"/>
                  <a:pt x="11386358" y="619125"/>
                  <a:pt x="1134427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9600" y="60483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42863"/>
                </a:moveTo>
                <a:cubicBezTo>
                  <a:pt x="228600" y="65276"/>
                  <a:pt x="202213" y="98718"/>
                  <a:pt x="190827" y="112068"/>
                </a:cubicBezTo>
                <a:cubicBezTo>
                  <a:pt x="189131" y="114032"/>
                  <a:pt x="186630" y="114791"/>
                  <a:pt x="184353" y="114300"/>
                </a:cubicBezTo>
                <a:lnTo>
                  <a:pt x="142875" y="114300"/>
                </a:lnTo>
                <a:cubicBezTo>
                  <a:pt x="134972" y="114300"/>
                  <a:pt x="128588" y="120685"/>
                  <a:pt x="128588" y="128588"/>
                </a:cubicBezTo>
                <a:cubicBezTo>
                  <a:pt x="128588" y="136490"/>
                  <a:pt x="134972" y="142875"/>
                  <a:pt x="142875" y="142875"/>
                </a:cubicBezTo>
                <a:lnTo>
                  <a:pt x="185738" y="142875"/>
                </a:lnTo>
                <a:cubicBezTo>
                  <a:pt x="209401" y="142875"/>
                  <a:pt x="228600" y="162074"/>
                  <a:pt x="228600" y="185738"/>
                </a:cubicBezTo>
                <a:cubicBezTo>
                  <a:pt x="228600" y="209401"/>
                  <a:pt x="209401" y="228600"/>
                  <a:pt x="185738" y="228600"/>
                </a:cubicBezTo>
                <a:lnTo>
                  <a:pt x="62329" y="228600"/>
                </a:lnTo>
                <a:cubicBezTo>
                  <a:pt x="66214" y="224180"/>
                  <a:pt x="70946" y="218509"/>
                  <a:pt x="75724" y="212169"/>
                </a:cubicBezTo>
                <a:cubicBezTo>
                  <a:pt x="78537" y="208419"/>
                  <a:pt x="81439" y="204311"/>
                  <a:pt x="84207" y="200025"/>
                </a:cubicBezTo>
                <a:lnTo>
                  <a:pt x="185738" y="200025"/>
                </a:lnTo>
                <a:cubicBezTo>
                  <a:pt x="193640" y="200025"/>
                  <a:pt x="200025" y="193640"/>
                  <a:pt x="200025" y="185738"/>
                </a:cubicBezTo>
                <a:cubicBezTo>
                  <a:pt x="200025" y="177835"/>
                  <a:pt x="193640" y="171450"/>
                  <a:pt x="185738" y="171450"/>
                </a:cubicBezTo>
                <a:lnTo>
                  <a:pt x="142875" y="171450"/>
                </a:lnTo>
                <a:cubicBezTo>
                  <a:pt x="119211" y="171450"/>
                  <a:pt x="100013" y="152251"/>
                  <a:pt x="100013" y="128588"/>
                </a:cubicBezTo>
                <a:cubicBezTo>
                  <a:pt x="100013" y="104924"/>
                  <a:pt x="119211" y="85725"/>
                  <a:pt x="142875" y="85725"/>
                </a:cubicBezTo>
                <a:lnTo>
                  <a:pt x="160645" y="85725"/>
                </a:lnTo>
                <a:cubicBezTo>
                  <a:pt x="151269" y="71661"/>
                  <a:pt x="142875" y="55498"/>
                  <a:pt x="142875" y="42863"/>
                </a:cubicBezTo>
                <a:cubicBezTo>
                  <a:pt x="142875" y="19199"/>
                  <a:pt x="162074" y="0"/>
                  <a:pt x="185738" y="0"/>
                </a:cubicBezTo>
                <a:cubicBezTo>
                  <a:pt x="209401" y="0"/>
                  <a:pt x="228600" y="19199"/>
                  <a:pt x="228600" y="42863"/>
                </a:cubicBezTo>
                <a:close/>
                <a:moveTo>
                  <a:pt x="52283" y="218376"/>
                </a:moveTo>
                <a:cubicBezTo>
                  <a:pt x="50587" y="220295"/>
                  <a:pt x="49069" y="221992"/>
                  <a:pt x="47774" y="223421"/>
                </a:cubicBezTo>
                <a:lnTo>
                  <a:pt x="46970" y="224314"/>
                </a:lnTo>
                <a:lnTo>
                  <a:pt x="46881" y="224224"/>
                </a:lnTo>
                <a:cubicBezTo>
                  <a:pt x="44202" y="226278"/>
                  <a:pt x="40362" y="226010"/>
                  <a:pt x="37951" y="223421"/>
                </a:cubicBezTo>
                <a:cubicBezTo>
                  <a:pt x="26700" y="211187"/>
                  <a:pt x="0" y="179710"/>
                  <a:pt x="0" y="157163"/>
                </a:cubicBezTo>
                <a:cubicBezTo>
                  <a:pt x="0" y="133499"/>
                  <a:pt x="19199" y="114300"/>
                  <a:pt x="42863" y="114300"/>
                </a:cubicBezTo>
                <a:cubicBezTo>
                  <a:pt x="66526" y="114300"/>
                  <a:pt x="85725" y="133499"/>
                  <a:pt x="85725" y="157163"/>
                </a:cubicBezTo>
                <a:cubicBezTo>
                  <a:pt x="85725" y="170557"/>
                  <a:pt x="76304" y="187077"/>
                  <a:pt x="66303" y="200873"/>
                </a:cubicBezTo>
                <a:cubicBezTo>
                  <a:pt x="61526" y="207437"/>
                  <a:pt x="56614" y="213375"/>
                  <a:pt x="52551" y="218063"/>
                </a:cubicBezTo>
                <a:lnTo>
                  <a:pt x="52283" y="218376"/>
                </a:lnTo>
                <a:close/>
                <a:moveTo>
                  <a:pt x="57150" y="157163"/>
                </a:moveTo>
                <a:cubicBezTo>
                  <a:pt x="57150" y="149277"/>
                  <a:pt x="50748" y="142875"/>
                  <a:pt x="42863" y="142875"/>
                </a:cubicBezTo>
                <a:cubicBezTo>
                  <a:pt x="34977" y="142875"/>
                  <a:pt x="28575" y="149277"/>
                  <a:pt x="28575" y="157163"/>
                </a:cubicBezTo>
                <a:cubicBezTo>
                  <a:pt x="28575" y="165048"/>
                  <a:pt x="34977" y="171450"/>
                  <a:pt x="42863" y="171450"/>
                </a:cubicBezTo>
                <a:cubicBezTo>
                  <a:pt x="50748" y="171450"/>
                  <a:pt x="57150" y="165048"/>
                  <a:pt x="57150" y="157163"/>
                </a:cubicBezTo>
                <a:close/>
                <a:moveTo>
                  <a:pt x="185738" y="57150"/>
                </a:moveTo>
                <a:cubicBezTo>
                  <a:pt x="193623" y="57150"/>
                  <a:pt x="200025" y="50748"/>
                  <a:pt x="200025" y="42863"/>
                </a:cubicBezTo>
                <a:cubicBezTo>
                  <a:pt x="200025" y="34977"/>
                  <a:pt x="193623" y="28575"/>
                  <a:pt x="185738" y="28575"/>
                </a:cubicBezTo>
                <a:cubicBezTo>
                  <a:pt x="177852" y="28575"/>
                  <a:pt x="171450" y="34977"/>
                  <a:pt x="171450" y="42863"/>
                </a:cubicBezTo>
                <a:cubicBezTo>
                  <a:pt x="171450" y="50748"/>
                  <a:pt x="177852" y="57150"/>
                  <a:pt x="185738" y="5715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76" name="Text 74"/>
          <p:cNvSpPr/>
          <p:nvPr/>
        </p:nvSpPr>
        <p:spPr>
          <a:xfrm>
            <a:off x="1019175" y="6048375"/>
            <a:ext cx="1000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Мы движемся </a:t>
            </a:r>
            <a:r>
              <a:rPr lang="en-US" sz="12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 от красивых обещаний</a:t>
            </a: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а от архитектуры к воспроизводимому прототипу, а затем к полнофункциональному решению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8183" y="328183"/>
            <a:ext cx="393820" cy="393820"/>
          </a:xfrm>
          <a:custGeom>
            <a:avLst/>
            <a:gdLst/>
            <a:ahLst/>
            <a:cxnLst/>
            <a:rect l="l" t="t" r="r" b="b"/>
            <a:pathLst>
              <a:path w="393820" h="393820">
                <a:moveTo>
                  <a:pt x="65638" y="0"/>
                </a:moveTo>
                <a:lnTo>
                  <a:pt x="328182" y="0"/>
                </a:lnTo>
                <a:cubicBezTo>
                  <a:pt x="364408" y="0"/>
                  <a:pt x="393820" y="29411"/>
                  <a:pt x="393820" y="65638"/>
                </a:cubicBezTo>
                <a:lnTo>
                  <a:pt x="393820" y="328182"/>
                </a:lnTo>
                <a:cubicBezTo>
                  <a:pt x="393820" y="364408"/>
                  <a:pt x="364408" y="393820"/>
                  <a:pt x="328182" y="393820"/>
                </a:cubicBezTo>
                <a:lnTo>
                  <a:pt x="65638" y="393820"/>
                </a:lnTo>
                <a:cubicBezTo>
                  <a:pt x="29411" y="393820"/>
                  <a:pt x="0" y="364408"/>
                  <a:pt x="0" y="328182"/>
                </a:cubicBezTo>
                <a:lnTo>
                  <a:pt x="0" y="65638"/>
                </a:lnTo>
                <a:cubicBezTo>
                  <a:pt x="0" y="29387"/>
                  <a:pt x="29387" y="0"/>
                  <a:pt x="65638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43047" y="443047"/>
            <a:ext cx="164092" cy="164092"/>
          </a:xfrm>
          <a:custGeom>
            <a:avLst/>
            <a:gdLst/>
            <a:ahLst/>
            <a:cxnLst/>
            <a:rect l="l" t="t" r="r" b="b"/>
            <a:pathLst>
              <a:path w="164092" h="164092">
                <a:moveTo>
                  <a:pt x="82046" y="0"/>
                </a:moveTo>
                <a:cubicBezTo>
                  <a:pt x="86757" y="0"/>
                  <a:pt x="91084" y="2596"/>
                  <a:pt x="93327" y="6730"/>
                </a:cubicBezTo>
                <a:lnTo>
                  <a:pt x="162553" y="134927"/>
                </a:lnTo>
                <a:cubicBezTo>
                  <a:pt x="164700" y="138901"/>
                  <a:pt x="164604" y="143708"/>
                  <a:pt x="162297" y="147586"/>
                </a:cubicBezTo>
                <a:cubicBezTo>
                  <a:pt x="159989" y="151464"/>
                  <a:pt x="155791" y="153836"/>
                  <a:pt x="151272" y="153836"/>
                </a:cubicBezTo>
                <a:lnTo>
                  <a:pt x="12820" y="153836"/>
                </a:lnTo>
                <a:cubicBezTo>
                  <a:pt x="8301" y="153836"/>
                  <a:pt x="4134" y="151464"/>
                  <a:pt x="1795" y="147586"/>
                </a:cubicBezTo>
                <a:cubicBezTo>
                  <a:pt x="-545" y="143708"/>
                  <a:pt x="-609" y="138901"/>
                  <a:pt x="1538" y="134927"/>
                </a:cubicBezTo>
                <a:lnTo>
                  <a:pt x="70764" y="6730"/>
                </a:lnTo>
                <a:cubicBezTo>
                  <a:pt x="73008" y="2596"/>
                  <a:pt x="77335" y="0"/>
                  <a:pt x="82046" y="0"/>
                </a:cubicBezTo>
                <a:close/>
                <a:moveTo>
                  <a:pt x="82046" y="53843"/>
                </a:moveTo>
                <a:cubicBezTo>
                  <a:pt x="77783" y="53843"/>
                  <a:pt x="74354" y="57272"/>
                  <a:pt x="74354" y="61534"/>
                </a:cubicBezTo>
                <a:lnTo>
                  <a:pt x="74354" y="97429"/>
                </a:lnTo>
                <a:cubicBezTo>
                  <a:pt x="74354" y="101692"/>
                  <a:pt x="77783" y="105121"/>
                  <a:pt x="82046" y="105121"/>
                </a:cubicBezTo>
                <a:cubicBezTo>
                  <a:pt x="86308" y="105121"/>
                  <a:pt x="89738" y="101692"/>
                  <a:pt x="89738" y="97429"/>
                </a:cubicBezTo>
                <a:lnTo>
                  <a:pt x="89738" y="61534"/>
                </a:lnTo>
                <a:cubicBezTo>
                  <a:pt x="89738" y="57272"/>
                  <a:pt x="86308" y="53843"/>
                  <a:pt x="82046" y="53843"/>
                </a:cubicBezTo>
                <a:close/>
                <a:moveTo>
                  <a:pt x="90603" y="123069"/>
                </a:moveTo>
                <a:cubicBezTo>
                  <a:pt x="90798" y="119892"/>
                  <a:pt x="89214" y="116870"/>
                  <a:pt x="86491" y="115223"/>
                </a:cubicBezTo>
                <a:cubicBezTo>
                  <a:pt x="83768" y="113576"/>
                  <a:pt x="80356" y="113576"/>
                  <a:pt x="77633" y="115223"/>
                </a:cubicBezTo>
                <a:cubicBezTo>
                  <a:pt x="74910" y="116870"/>
                  <a:pt x="73326" y="119892"/>
                  <a:pt x="73521" y="123069"/>
                </a:cubicBezTo>
                <a:cubicBezTo>
                  <a:pt x="73326" y="126245"/>
                  <a:pt x="74910" y="129267"/>
                  <a:pt x="77633" y="130914"/>
                </a:cubicBezTo>
                <a:cubicBezTo>
                  <a:pt x="80356" y="132561"/>
                  <a:pt x="83768" y="132561"/>
                  <a:pt x="86491" y="130914"/>
                </a:cubicBezTo>
                <a:cubicBezTo>
                  <a:pt x="89214" y="129267"/>
                  <a:pt x="90798" y="126245"/>
                  <a:pt x="90603" y="123069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" name="Text 2"/>
          <p:cNvSpPr/>
          <p:nvPr/>
        </p:nvSpPr>
        <p:spPr>
          <a:xfrm>
            <a:off x="853276" y="361001"/>
            <a:ext cx="2100371" cy="32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2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Риски проекта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8183" y="820458"/>
            <a:ext cx="11609475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3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Основные проектные риски и контрмеры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4592" y="1214277"/>
            <a:ext cx="5669362" cy="1739370"/>
          </a:xfrm>
          <a:custGeom>
            <a:avLst/>
            <a:gdLst/>
            <a:ahLst/>
            <a:cxnLst/>
            <a:rect l="l" t="t" r="r" b="b"/>
            <a:pathLst>
              <a:path w="5669362" h="1739370">
                <a:moveTo>
                  <a:pt x="0" y="0"/>
                </a:moveTo>
                <a:lnTo>
                  <a:pt x="5603718" y="0"/>
                </a:lnTo>
                <a:cubicBezTo>
                  <a:pt x="5639972" y="0"/>
                  <a:pt x="5669362" y="29390"/>
                  <a:pt x="5669362" y="65644"/>
                </a:cubicBezTo>
                <a:lnTo>
                  <a:pt x="5669362" y="1673726"/>
                </a:lnTo>
                <a:cubicBezTo>
                  <a:pt x="5669362" y="1709980"/>
                  <a:pt x="5639972" y="1739370"/>
                  <a:pt x="5603718" y="1739370"/>
                </a:cubicBezTo>
                <a:lnTo>
                  <a:pt x="0" y="1739370"/>
                </a:lnTo>
                <a:lnTo>
                  <a:pt x="0" y="0"/>
                </a:lnTo>
                <a:close/>
              </a:path>
            </a:pathLst>
          </a:custGeom>
          <a:solidFill>
            <a:srgbClr val="2C3036">
              <a:alpha val="5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44592" y="1214277"/>
            <a:ext cx="32818" cy="1739370"/>
          </a:xfrm>
          <a:custGeom>
            <a:avLst/>
            <a:gdLst/>
            <a:ahLst/>
            <a:cxnLst/>
            <a:rect l="l" t="t" r="r" b="b"/>
            <a:pathLst>
              <a:path w="32818" h="1739370">
                <a:moveTo>
                  <a:pt x="0" y="0"/>
                </a:moveTo>
                <a:lnTo>
                  <a:pt x="32818" y="0"/>
                </a:lnTo>
                <a:lnTo>
                  <a:pt x="32818" y="1739370"/>
                </a:lnTo>
                <a:lnTo>
                  <a:pt x="0" y="1739370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5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5860" y="1411187"/>
            <a:ext cx="143580" cy="164092"/>
          </a:xfrm>
          <a:custGeom>
            <a:avLst/>
            <a:gdLst/>
            <a:ahLst/>
            <a:cxnLst/>
            <a:rect l="l" t="t" r="r" b="b"/>
            <a:pathLst>
              <a:path w="143580" h="164092">
                <a:moveTo>
                  <a:pt x="61534" y="0"/>
                </a:moveTo>
                <a:cubicBezTo>
                  <a:pt x="50221" y="0"/>
                  <a:pt x="41023" y="9198"/>
                  <a:pt x="41023" y="20511"/>
                </a:cubicBezTo>
                <a:lnTo>
                  <a:pt x="41023" y="102557"/>
                </a:lnTo>
                <a:cubicBezTo>
                  <a:pt x="41023" y="113871"/>
                  <a:pt x="50221" y="123069"/>
                  <a:pt x="61534" y="123069"/>
                </a:cubicBezTo>
                <a:lnTo>
                  <a:pt x="123069" y="123069"/>
                </a:lnTo>
                <a:cubicBezTo>
                  <a:pt x="134382" y="123069"/>
                  <a:pt x="143580" y="113871"/>
                  <a:pt x="143580" y="102557"/>
                </a:cubicBezTo>
                <a:lnTo>
                  <a:pt x="143580" y="38267"/>
                </a:lnTo>
                <a:cubicBezTo>
                  <a:pt x="143580" y="32690"/>
                  <a:pt x="141305" y="27338"/>
                  <a:pt x="137266" y="23460"/>
                </a:cubicBezTo>
                <a:lnTo>
                  <a:pt x="118774" y="5705"/>
                </a:lnTo>
                <a:cubicBezTo>
                  <a:pt x="114960" y="2051"/>
                  <a:pt x="109864" y="0"/>
                  <a:pt x="104576" y="0"/>
                </a:cubicBezTo>
                <a:lnTo>
                  <a:pt x="61534" y="0"/>
                </a:lnTo>
                <a:close/>
                <a:moveTo>
                  <a:pt x="20511" y="41023"/>
                </a:moveTo>
                <a:cubicBezTo>
                  <a:pt x="9198" y="41023"/>
                  <a:pt x="0" y="50221"/>
                  <a:pt x="0" y="61534"/>
                </a:cubicBezTo>
                <a:lnTo>
                  <a:pt x="0" y="143580"/>
                </a:lnTo>
                <a:cubicBezTo>
                  <a:pt x="0" y="154893"/>
                  <a:pt x="9198" y="164092"/>
                  <a:pt x="20511" y="164092"/>
                </a:cubicBezTo>
                <a:lnTo>
                  <a:pt x="82046" y="164092"/>
                </a:lnTo>
                <a:cubicBezTo>
                  <a:pt x="93359" y="164092"/>
                  <a:pt x="102557" y="154893"/>
                  <a:pt x="102557" y="143580"/>
                </a:cubicBezTo>
                <a:lnTo>
                  <a:pt x="102557" y="138452"/>
                </a:lnTo>
                <a:lnTo>
                  <a:pt x="82046" y="138452"/>
                </a:lnTo>
                <a:lnTo>
                  <a:pt x="82046" y="143580"/>
                </a:lnTo>
                <a:lnTo>
                  <a:pt x="20511" y="143580"/>
                </a:lnTo>
                <a:lnTo>
                  <a:pt x="20511" y="61534"/>
                </a:lnTo>
                <a:lnTo>
                  <a:pt x="25639" y="61534"/>
                </a:lnTo>
                <a:lnTo>
                  <a:pt x="25639" y="41023"/>
                </a:lnTo>
                <a:lnTo>
                  <a:pt x="20511" y="41023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9" name="Text 7"/>
          <p:cNvSpPr/>
          <p:nvPr/>
        </p:nvSpPr>
        <p:spPr>
          <a:xfrm>
            <a:off x="828662" y="1378369"/>
            <a:ext cx="1837825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3" b="1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Дубли и шумные данные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5093" y="1706552"/>
            <a:ext cx="5390406" cy="39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Один и тот же инструмент может встречаться в разных источниках с разными названиями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5093" y="2198826"/>
            <a:ext cx="5324770" cy="590729"/>
          </a:xfrm>
          <a:custGeom>
            <a:avLst/>
            <a:gdLst/>
            <a:ahLst/>
            <a:cxnLst/>
            <a:rect l="l" t="t" r="r" b="b"/>
            <a:pathLst>
              <a:path w="5324770" h="590729">
                <a:moveTo>
                  <a:pt x="65636" y="0"/>
                </a:moveTo>
                <a:lnTo>
                  <a:pt x="5259134" y="0"/>
                </a:lnTo>
                <a:cubicBezTo>
                  <a:pt x="5295384" y="0"/>
                  <a:pt x="5324770" y="29386"/>
                  <a:pt x="5324770" y="65636"/>
                </a:cubicBezTo>
                <a:lnTo>
                  <a:pt x="5324770" y="525094"/>
                </a:lnTo>
                <a:cubicBezTo>
                  <a:pt x="5324770" y="561343"/>
                  <a:pt x="5295384" y="590729"/>
                  <a:pt x="5259134" y="590729"/>
                </a:cubicBezTo>
                <a:lnTo>
                  <a:pt x="65636" y="590729"/>
                </a:lnTo>
                <a:cubicBezTo>
                  <a:pt x="29410" y="590729"/>
                  <a:pt x="0" y="561319"/>
                  <a:pt x="0" y="525094"/>
                </a:cubicBezTo>
                <a:lnTo>
                  <a:pt x="0" y="65636"/>
                </a:lnTo>
                <a:cubicBezTo>
                  <a:pt x="0" y="29386"/>
                  <a:pt x="29386" y="0"/>
                  <a:pt x="6563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39957" y="2313690"/>
            <a:ext cx="131273" cy="131273"/>
          </a:xfrm>
          <a:custGeom>
            <a:avLst/>
            <a:gdLst/>
            <a:ahLst/>
            <a:cxnLst/>
            <a:rect l="l" t="t" r="r" b="b"/>
            <a:pathLst>
              <a:path w="131273" h="131273">
                <a:moveTo>
                  <a:pt x="65637" y="0"/>
                </a:moveTo>
                <a:cubicBezTo>
                  <a:pt x="66816" y="0"/>
                  <a:pt x="67995" y="256"/>
                  <a:pt x="69072" y="744"/>
                </a:cubicBezTo>
                <a:lnTo>
                  <a:pt x="117377" y="21229"/>
                </a:lnTo>
                <a:cubicBezTo>
                  <a:pt x="123017" y="23614"/>
                  <a:pt x="127222" y="29178"/>
                  <a:pt x="127197" y="35895"/>
                </a:cubicBezTo>
                <a:cubicBezTo>
                  <a:pt x="127068" y="61329"/>
                  <a:pt x="116608" y="107865"/>
                  <a:pt x="72431" y="129017"/>
                </a:cubicBezTo>
                <a:cubicBezTo>
                  <a:pt x="68149" y="131068"/>
                  <a:pt x="63175" y="131068"/>
                  <a:pt x="58893" y="129017"/>
                </a:cubicBezTo>
                <a:cubicBezTo>
                  <a:pt x="14691" y="107865"/>
                  <a:pt x="4256" y="61329"/>
                  <a:pt x="4128" y="35895"/>
                </a:cubicBezTo>
                <a:cubicBezTo>
                  <a:pt x="4102" y="29178"/>
                  <a:pt x="8307" y="23614"/>
                  <a:pt x="13948" y="21229"/>
                </a:cubicBezTo>
                <a:lnTo>
                  <a:pt x="62227" y="744"/>
                </a:lnTo>
                <a:cubicBezTo>
                  <a:pt x="63303" y="256"/>
                  <a:pt x="64457" y="0"/>
                  <a:pt x="65637" y="0"/>
                </a:cubicBezTo>
                <a:close/>
                <a:moveTo>
                  <a:pt x="65637" y="17127"/>
                </a:moveTo>
                <a:lnTo>
                  <a:pt x="65637" y="114069"/>
                </a:lnTo>
                <a:cubicBezTo>
                  <a:pt x="101019" y="96942"/>
                  <a:pt x="110531" y="58996"/>
                  <a:pt x="110762" y="36280"/>
                </a:cubicBezTo>
                <a:lnTo>
                  <a:pt x="65637" y="17153"/>
                </a:lnTo>
                <a:lnTo>
                  <a:pt x="65637" y="17153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3" name="Text 11"/>
          <p:cNvSpPr/>
          <p:nvPr/>
        </p:nvSpPr>
        <p:spPr>
          <a:xfrm>
            <a:off x="853276" y="2297281"/>
            <a:ext cx="656366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Контрмера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3548" y="2527009"/>
            <a:ext cx="5185292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Нормализация названий и дедупликация на основе канонических имен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4592" y="3084921"/>
            <a:ext cx="5669362" cy="1542460"/>
          </a:xfrm>
          <a:custGeom>
            <a:avLst/>
            <a:gdLst/>
            <a:ahLst/>
            <a:cxnLst/>
            <a:rect l="l" t="t" r="r" b="b"/>
            <a:pathLst>
              <a:path w="5669362" h="1542460">
                <a:moveTo>
                  <a:pt x="0" y="0"/>
                </a:moveTo>
                <a:lnTo>
                  <a:pt x="5603730" y="0"/>
                </a:lnTo>
                <a:cubicBezTo>
                  <a:pt x="5639978" y="0"/>
                  <a:pt x="5669362" y="29384"/>
                  <a:pt x="5669362" y="65632"/>
                </a:cubicBezTo>
                <a:lnTo>
                  <a:pt x="5669362" y="1476829"/>
                </a:lnTo>
                <a:cubicBezTo>
                  <a:pt x="5669362" y="1513076"/>
                  <a:pt x="5639978" y="1542460"/>
                  <a:pt x="5603730" y="1542460"/>
                </a:cubicBezTo>
                <a:lnTo>
                  <a:pt x="0" y="1542460"/>
                </a:lnTo>
                <a:lnTo>
                  <a:pt x="0" y="0"/>
                </a:lnTo>
                <a:close/>
              </a:path>
            </a:pathLst>
          </a:custGeom>
          <a:solidFill>
            <a:srgbClr val="2C3036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44592" y="3084921"/>
            <a:ext cx="32818" cy="1542460"/>
          </a:xfrm>
          <a:custGeom>
            <a:avLst/>
            <a:gdLst/>
            <a:ahLst/>
            <a:cxnLst/>
            <a:rect l="l" t="t" r="r" b="b"/>
            <a:pathLst>
              <a:path w="32818" h="1542460">
                <a:moveTo>
                  <a:pt x="0" y="0"/>
                </a:moveTo>
                <a:lnTo>
                  <a:pt x="32818" y="0"/>
                </a:lnTo>
                <a:lnTo>
                  <a:pt x="32818" y="1542460"/>
                </a:lnTo>
                <a:lnTo>
                  <a:pt x="0" y="1542460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45604" y="3281830"/>
            <a:ext cx="164092" cy="164092"/>
          </a:xfrm>
          <a:custGeom>
            <a:avLst/>
            <a:gdLst/>
            <a:ahLst/>
            <a:cxnLst/>
            <a:rect l="l" t="t" r="r" b="b"/>
            <a:pathLst>
              <a:path w="164092" h="164092">
                <a:moveTo>
                  <a:pt x="71790" y="0"/>
                </a:moveTo>
                <a:cubicBezTo>
                  <a:pt x="83103" y="0"/>
                  <a:pt x="92301" y="6891"/>
                  <a:pt x="92301" y="15384"/>
                </a:cubicBezTo>
                <a:cubicBezTo>
                  <a:pt x="92301" y="18717"/>
                  <a:pt x="90891" y="21793"/>
                  <a:pt x="88456" y="24325"/>
                </a:cubicBezTo>
                <a:cubicBezTo>
                  <a:pt x="86340" y="26537"/>
                  <a:pt x="84610" y="29229"/>
                  <a:pt x="84610" y="32306"/>
                </a:cubicBezTo>
                <a:cubicBezTo>
                  <a:pt x="84610" y="37113"/>
                  <a:pt x="88520" y="41023"/>
                  <a:pt x="93327" y="41023"/>
                </a:cubicBezTo>
                <a:lnTo>
                  <a:pt x="107685" y="41023"/>
                </a:lnTo>
                <a:cubicBezTo>
                  <a:pt x="116178" y="41023"/>
                  <a:pt x="123069" y="47913"/>
                  <a:pt x="123069" y="56406"/>
                </a:cubicBezTo>
                <a:lnTo>
                  <a:pt x="123069" y="70764"/>
                </a:lnTo>
                <a:cubicBezTo>
                  <a:pt x="123069" y="75572"/>
                  <a:pt x="126979" y="79482"/>
                  <a:pt x="131786" y="79482"/>
                </a:cubicBezTo>
                <a:cubicBezTo>
                  <a:pt x="134831" y="79482"/>
                  <a:pt x="137555" y="77751"/>
                  <a:pt x="139766" y="75636"/>
                </a:cubicBezTo>
                <a:cubicBezTo>
                  <a:pt x="142298" y="73232"/>
                  <a:pt x="145375" y="71790"/>
                  <a:pt x="148708" y="71790"/>
                </a:cubicBezTo>
                <a:cubicBezTo>
                  <a:pt x="157201" y="71790"/>
                  <a:pt x="164092" y="80988"/>
                  <a:pt x="164092" y="92301"/>
                </a:cubicBezTo>
                <a:cubicBezTo>
                  <a:pt x="164092" y="103615"/>
                  <a:pt x="157201" y="112813"/>
                  <a:pt x="148708" y="112813"/>
                </a:cubicBezTo>
                <a:cubicBezTo>
                  <a:pt x="145375" y="112813"/>
                  <a:pt x="142266" y="111403"/>
                  <a:pt x="139766" y="108967"/>
                </a:cubicBezTo>
                <a:cubicBezTo>
                  <a:pt x="137555" y="106852"/>
                  <a:pt x="134863" y="105121"/>
                  <a:pt x="131786" y="105121"/>
                </a:cubicBezTo>
                <a:cubicBezTo>
                  <a:pt x="126979" y="105121"/>
                  <a:pt x="123069" y="109031"/>
                  <a:pt x="123069" y="113838"/>
                </a:cubicBezTo>
                <a:lnTo>
                  <a:pt x="123069" y="148708"/>
                </a:lnTo>
                <a:cubicBezTo>
                  <a:pt x="123069" y="157201"/>
                  <a:pt x="116178" y="164092"/>
                  <a:pt x="107685" y="164092"/>
                </a:cubicBezTo>
                <a:lnTo>
                  <a:pt x="89481" y="164092"/>
                </a:lnTo>
                <a:cubicBezTo>
                  <a:pt x="85379" y="164092"/>
                  <a:pt x="82046" y="160758"/>
                  <a:pt x="82046" y="156656"/>
                </a:cubicBezTo>
                <a:cubicBezTo>
                  <a:pt x="82046" y="153708"/>
                  <a:pt x="83905" y="151112"/>
                  <a:pt x="86276" y="149349"/>
                </a:cubicBezTo>
                <a:cubicBezTo>
                  <a:pt x="89994" y="146561"/>
                  <a:pt x="92301" y="142715"/>
                  <a:pt x="92301" y="138452"/>
                </a:cubicBezTo>
                <a:cubicBezTo>
                  <a:pt x="92301" y="129959"/>
                  <a:pt x="83103" y="123069"/>
                  <a:pt x="71790" y="123069"/>
                </a:cubicBezTo>
                <a:cubicBezTo>
                  <a:pt x="60477" y="123069"/>
                  <a:pt x="51279" y="129959"/>
                  <a:pt x="51279" y="138452"/>
                </a:cubicBezTo>
                <a:cubicBezTo>
                  <a:pt x="51279" y="142715"/>
                  <a:pt x="53586" y="146561"/>
                  <a:pt x="57304" y="149349"/>
                </a:cubicBezTo>
                <a:cubicBezTo>
                  <a:pt x="59675" y="151112"/>
                  <a:pt x="61534" y="153676"/>
                  <a:pt x="61534" y="156656"/>
                </a:cubicBezTo>
                <a:cubicBezTo>
                  <a:pt x="61534" y="160758"/>
                  <a:pt x="58201" y="164092"/>
                  <a:pt x="54099" y="164092"/>
                </a:cubicBezTo>
                <a:lnTo>
                  <a:pt x="15384" y="164092"/>
                </a:lnTo>
                <a:cubicBezTo>
                  <a:pt x="6891" y="164092"/>
                  <a:pt x="0" y="157201"/>
                  <a:pt x="0" y="148708"/>
                </a:cubicBezTo>
                <a:lnTo>
                  <a:pt x="0" y="109993"/>
                </a:lnTo>
                <a:cubicBezTo>
                  <a:pt x="0" y="105890"/>
                  <a:pt x="3333" y="102557"/>
                  <a:pt x="7435" y="102557"/>
                </a:cubicBezTo>
                <a:cubicBezTo>
                  <a:pt x="10384" y="102557"/>
                  <a:pt x="12980" y="104416"/>
                  <a:pt x="14743" y="106788"/>
                </a:cubicBezTo>
                <a:cubicBezTo>
                  <a:pt x="17531" y="110505"/>
                  <a:pt x="21377" y="112813"/>
                  <a:pt x="25639" y="112813"/>
                </a:cubicBezTo>
                <a:cubicBezTo>
                  <a:pt x="34132" y="112813"/>
                  <a:pt x="41023" y="103615"/>
                  <a:pt x="41023" y="92301"/>
                </a:cubicBezTo>
                <a:cubicBezTo>
                  <a:pt x="41023" y="80988"/>
                  <a:pt x="34132" y="71790"/>
                  <a:pt x="25639" y="71790"/>
                </a:cubicBezTo>
                <a:cubicBezTo>
                  <a:pt x="21377" y="71790"/>
                  <a:pt x="17531" y="74098"/>
                  <a:pt x="14743" y="77815"/>
                </a:cubicBezTo>
                <a:cubicBezTo>
                  <a:pt x="12980" y="80187"/>
                  <a:pt x="10416" y="82046"/>
                  <a:pt x="7435" y="82046"/>
                </a:cubicBezTo>
                <a:cubicBezTo>
                  <a:pt x="3333" y="82046"/>
                  <a:pt x="0" y="78713"/>
                  <a:pt x="0" y="74610"/>
                </a:cubicBezTo>
                <a:lnTo>
                  <a:pt x="0" y="56406"/>
                </a:lnTo>
                <a:cubicBezTo>
                  <a:pt x="0" y="47913"/>
                  <a:pt x="6891" y="41023"/>
                  <a:pt x="15384" y="41023"/>
                </a:cubicBezTo>
                <a:lnTo>
                  <a:pt x="50253" y="41023"/>
                </a:lnTo>
                <a:cubicBezTo>
                  <a:pt x="55060" y="41023"/>
                  <a:pt x="58970" y="37113"/>
                  <a:pt x="58970" y="32306"/>
                </a:cubicBezTo>
                <a:cubicBezTo>
                  <a:pt x="58970" y="29261"/>
                  <a:pt x="57240" y="26537"/>
                  <a:pt x="55124" y="24325"/>
                </a:cubicBezTo>
                <a:cubicBezTo>
                  <a:pt x="52721" y="21793"/>
                  <a:pt x="51279" y="18717"/>
                  <a:pt x="51279" y="15384"/>
                </a:cubicBezTo>
                <a:cubicBezTo>
                  <a:pt x="51279" y="6891"/>
                  <a:pt x="60477" y="0"/>
                  <a:pt x="71790" y="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8" name="Text 16"/>
          <p:cNvSpPr/>
          <p:nvPr/>
        </p:nvSpPr>
        <p:spPr>
          <a:xfrm>
            <a:off x="828662" y="3249012"/>
            <a:ext cx="2420350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3" b="1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Один инструмент = много техник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5093" y="3577195"/>
            <a:ext cx="5390406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Инструменты часто покрывают несколько сценариев использования MITRE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5093" y="3872560"/>
            <a:ext cx="5324770" cy="590729"/>
          </a:xfrm>
          <a:custGeom>
            <a:avLst/>
            <a:gdLst/>
            <a:ahLst/>
            <a:cxnLst/>
            <a:rect l="l" t="t" r="r" b="b"/>
            <a:pathLst>
              <a:path w="5324770" h="590729">
                <a:moveTo>
                  <a:pt x="65636" y="0"/>
                </a:moveTo>
                <a:lnTo>
                  <a:pt x="5259134" y="0"/>
                </a:lnTo>
                <a:cubicBezTo>
                  <a:pt x="5295384" y="0"/>
                  <a:pt x="5324770" y="29386"/>
                  <a:pt x="5324770" y="65636"/>
                </a:cubicBezTo>
                <a:lnTo>
                  <a:pt x="5324770" y="525094"/>
                </a:lnTo>
                <a:cubicBezTo>
                  <a:pt x="5324770" y="561343"/>
                  <a:pt x="5295384" y="590729"/>
                  <a:pt x="5259134" y="590729"/>
                </a:cubicBezTo>
                <a:lnTo>
                  <a:pt x="65636" y="590729"/>
                </a:lnTo>
                <a:cubicBezTo>
                  <a:pt x="29410" y="590729"/>
                  <a:pt x="0" y="561319"/>
                  <a:pt x="0" y="525094"/>
                </a:cubicBezTo>
                <a:lnTo>
                  <a:pt x="0" y="65636"/>
                </a:lnTo>
                <a:cubicBezTo>
                  <a:pt x="0" y="29386"/>
                  <a:pt x="29386" y="0"/>
                  <a:pt x="6563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39957" y="3987424"/>
            <a:ext cx="131273" cy="131273"/>
          </a:xfrm>
          <a:custGeom>
            <a:avLst/>
            <a:gdLst/>
            <a:ahLst/>
            <a:cxnLst/>
            <a:rect l="l" t="t" r="r" b="b"/>
            <a:pathLst>
              <a:path w="131273" h="131273">
                <a:moveTo>
                  <a:pt x="65637" y="0"/>
                </a:moveTo>
                <a:cubicBezTo>
                  <a:pt x="66816" y="0"/>
                  <a:pt x="67995" y="256"/>
                  <a:pt x="69072" y="744"/>
                </a:cubicBezTo>
                <a:lnTo>
                  <a:pt x="117377" y="21229"/>
                </a:lnTo>
                <a:cubicBezTo>
                  <a:pt x="123017" y="23614"/>
                  <a:pt x="127222" y="29178"/>
                  <a:pt x="127197" y="35895"/>
                </a:cubicBezTo>
                <a:cubicBezTo>
                  <a:pt x="127068" y="61329"/>
                  <a:pt x="116608" y="107865"/>
                  <a:pt x="72431" y="129017"/>
                </a:cubicBezTo>
                <a:cubicBezTo>
                  <a:pt x="68149" y="131068"/>
                  <a:pt x="63175" y="131068"/>
                  <a:pt x="58893" y="129017"/>
                </a:cubicBezTo>
                <a:cubicBezTo>
                  <a:pt x="14691" y="107865"/>
                  <a:pt x="4256" y="61329"/>
                  <a:pt x="4128" y="35895"/>
                </a:cubicBezTo>
                <a:cubicBezTo>
                  <a:pt x="4102" y="29178"/>
                  <a:pt x="8307" y="23614"/>
                  <a:pt x="13948" y="21229"/>
                </a:cubicBezTo>
                <a:lnTo>
                  <a:pt x="62227" y="744"/>
                </a:lnTo>
                <a:cubicBezTo>
                  <a:pt x="63303" y="256"/>
                  <a:pt x="64457" y="0"/>
                  <a:pt x="65637" y="0"/>
                </a:cubicBezTo>
                <a:close/>
                <a:moveTo>
                  <a:pt x="65637" y="17127"/>
                </a:moveTo>
                <a:lnTo>
                  <a:pt x="65637" y="114069"/>
                </a:lnTo>
                <a:cubicBezTo>
                  <a:pt x="101019" y="96942"/>
                  <a:pt x="110531" y="58996"/>
                  <a:pt x="110762" y="36280"/>
                </a:cubicBezTo>
                <a:lnTo>
                  <a:pt x="65637" y="17153"/>
                </a:lnTo>
                <a:lnTo>
                  <a:pt x="65637" y="17153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2" name="Text 20"/>
          <p:cNvSpPr/>
          <p:nvPr/>
        </p:nvSpPr>
        <p:spPr>
          <a:xfrm>
            <a:off x="853276" y="3971015"/>
            <a:ext cx="656366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Контрмера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3548" y="4200743"/>
            <a:ext cx="5185292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Классификация capabilities, а не только tools — каждая возможность отдельно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4592" y="4758654"/>
            <a:ext cx="5669362" cy="1542460"/>
          </a:xfrm>
          <a:custGeom>
            <a:avLst/>
            <a:gdLst/>
            <a:ahLst/>
            <a:cxnLst/>
            <a:rect l="l" t="t" r="r" b="b"/>
            <a:pathLst>
              <a:path w="5669362" h="1542460">
                <a:moveTo>
                  <a:pt x="0" y="0"/>
                </a:moveTo>
                <a:lnTo>
                  <a:pt x="5603730" y="0"/>
                </a:lnTo>
                <a:cubicBezTo>
                  <a:pt x="5639978" y="0"/>
                  <a:pt x="5669362" y="29384"/>
                  <a:pt x="5669362" y="65632"/>
                </a:cubicBezTo>
                <a:lnTo>
                  <a:pt x="5669362" y="1476829"/>
                </a:lnTo>
                <a:cubicBezTo>
                  <a:pt x="5669362" y="1513076"/>
                  <a:pt x="5639978" y="1542460"/>
                  <a:pt x="5603730" y="1542460"/>
                </a:cubicBezTo>
                <a:lnTo>
                  <a:pt x="0" y="1542460"/>
                </a:lnTo>
                <a:lnTo>
                  <a:pt x="0" y="0"/>
                </a:lnTo>
                <a:close/>
              </a:path>
            </a:pathLst>
          </a:custGeom>
          <a:solidFill>
            <a:srgbClr val="2C3036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4592" y="4758654"/>
            <a:ext cx="32818" cy="1542460"/>
          </a:xfrm>
          <a:custGeom>
            <a:avLst/>
            <a:gdLst/>
            <a:ahLst/>
            <a:cxnLst/>
            <a:rect l="l" t="t" r="r" b="b"/>
            <a:pathLst>
              <a:path w="32818" h="1542460">
                <a:moveTo>
                  <a:pt x="0" y="0"/>
                </a:moveTo>
                <a:lnTo>
                  <a:pt x="32818" y="0"/>
                </a:lnTo>
                <a:lnTo>
                  <a:pt x="32818" y="1542460"/>
                </a:lnTo>
                <a:lnTo>
                  <a:pt x="0" y="1542460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5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25093" y="4955564"/>
            <a:ext cx="205114" cy="164092"/>
          </a:xfrm>
          <a:custGeom>
            <a:avLst/>
            <a:gdLst/>
            <a:ahLst/>
            <a:cxnLst/>
            <a:rect l="l" t="t" r="r" b="b"/>
            <a:pathLst>
              <a:path w="205114" h="164092">
                <a:moveTo>
                  <a:pt x="112813" y="0"/>
                </a:moveTo>
                <a:cubicBezTo>
                  <a:pt x="112813" y="-5673"/>
                  <a:pt x="108230" y="-10256"/>
                  <a:pt x="102557" y="-10256"/>
                </a:cubicBezTo>
                <a:cubicBezTo>
                  <a:pt x="96885" y="-10256"/>
                  <a:pt x="92301" y="-5673"/>
                  <a:pt x="92301" y="0"/>
                </a:cubicBezTo>
                <a:lnTo>
                  <a:pt x="92301" y="20511"/>
                </a:lnTo>
                <a:lnTo>
                  <a:pt x="61534" y="20511"/>
                </a:lnTo>
                <a:cubicBezTo>
                  <a:pt x="44548" y="20511"/>
                  <a:pt x="30767" y="34293"/>
                  <a:pt x="30767" y="51279"/>
                </a:cubicBezTo>
                <a:lnTo>
                  <a:pt x="30767" y="123069"/>
                </a:lnTo>
                <a:cubicBezTo>
                  <a:pt x="30767" y="140055"/>
                  <a:pt x="44548" y="153836"/>
                  <a:pt x="61534" y="153836"/>
                </a:cubicBezTo>
                <a:lnTo>
                  <a:pt x="143580" y="153836"/>
                </a:lnTo>
                <a:cubicBezTo>
                  <a:pt x="160566" y="153836"/>
                  <a:pt x="174347" y="140055"/>
                  <a:pt x="174347" y="123069"/>
                </a:cubicBezTo>
                <a:lnTo>
                  <a:pt x="174347" y="51279"/>
                </a:lnTo>
                <a:cubicBezTo>
                  <a:pt x="174347" y="34293"/>
                  <a:pt x="160566" y="20511"/>
                  <a:pt x="143580" y="20511"/>
                </a:cubicBezTo>
                <a:lnTo>
                  <a:pt x="112813" y="20511"/>
                </a:lnTo>
                <a:lnTo>
                  <a:pt x="112813" y="0"/>
                </a:lnTo>
                <a:close/>
                <a:moveTo>
                  <a:pt x="51279" y="117941"/>
                </a:moveTo>
                <a:cubicBezTo>
                  <a:pt x="51279" y="113678"/>
                  <a:pt x="54708" y="110249"/>
                  <a:pt x="58970" y="110249"/>
                </a:cubicBezTo>
                <a:lnTo>
                  <a:pt x="69226" y="110249"/>
                </a:lnTo>
                <a:cubicBezTo>
                  <a:pt x="73489" y="110249"/>
                  <a:pt x="76918" y="113678"/>
                  <a:pt x="76918" y="117941"/>
                </a:cubicBezTo>
                <a:cubicBezTo>
                  <a:pt x="76918" y="122203"/>
                  <a:pt x="73489" y="125633"/>
                  <a:pt x="69226" y="125633"/>
                </a:cubicBezTo>
                <a:lnTo>
                  <a:pt x="58970" y="125633"/>
                </a:lnTo>
                <a:cubicBezTo>
                  <a:pt x="54708" y="125633"/>
                  <a:pt x="51279" y="122203"/>
                  <a:pt x="51279" y="117941"/>
                </a:cubicBezTo>
                <a:close/>
                <a:moveTo>
                  <a:pt x="89738" y="117941"/>
                </a:moveTo>
                <a:cubicBezTo>
                  <a:pt x="89738" y="113678"/>
                  <a:pt x="93167" y="110249"/>
                  <a:pt x="97429" y="110249"/>
                </a:cubicBezTo>
                <a:lnTo>
                  <a:pt x="107685" y="110249"/>
                </a:lnTo>
                <a:cubicBezTo>
                  <a:pt x="111948" y="110249"/>
                  <a:pt x="115377" y="113678"/>
                  <a:pt x="115377" y="117941"/>
                </a:cubicBezTo>
                <a:cubicBezTo>
                  <a:pt x="115377" y="122203"/>
                  <a:pt x="111948" y="125633"/>
                  <a:pt x="107685" y="125633"/>
                </a:cubicBezTo>
                <a:lnTo>
                  <a:pt x="97429" y="125633"/>
                </a:lnTo>
                <a:cubicBezTo>
                  <a:pt x="93167" y="125633"/>
                  <a:pt x="89738" y="122203"/>
                  <a:pt x="89738" y="117941"/>
                </a:cubicBezTo>
                <a:close/>
                <a:moveTo>
                  <a:pt x="128197" y="117941"/>
                </a:moveTo>
                <a:cubicBezTo>
                  <a:pt x="128197" y="113678"/>
                  <a:pt x="131626" y="110249"/>
                  <a:pt x="135888" y="110249"/>
                </a:cubicBezTo>
                <a:lnTo>
                  <a:pt x="146144" y="110249"/>
                </a:lnTo>
                <a:cubicBezTo>
                  <a:pt x="150407" y="110249"/>
                  <a:pt x="153836" y="113678"/>
                  <a:pt x="153836" y="117941"/>
                </a:cubicBezTo>
                <a:cubicBezTo>
                  <a:pt x="153836" y="122203"/>
                  <a:pt x="150407" y="125633"/>
                  <a:pt x="146144" y="125633"/>
                </a:cubicBezTo>
                <a:lnTo>
                  <a:pt x="135888" y="125633"/>
                </a:lnTo>
                <a:cubicBezTo>
                  <a:pt x="131626" y="125633"/>
                  <a:pt x="128197" y="122203"/>
                  <a:pt x="128197" y="117941"/>
                </a:cubicBezTo>
                <a:close/>
                <a:moveTo>
                  <a:pt x="71790" y="56406"/>
                </a:moveTo>
                <a:cubicBezTo>
                  <a:pt x="80280" y="56406"/>
                  <a:pt x="87174" y="63300"/>
                  <a:pt x="87174" y="71790"/>
                </a:cubicBezTo>
                <a:cubicBezTo>
                  <a:pt x="87174" y="80280"/>
                  <a:pt x="80280" y="87174"/>
                  <a:pt x="71790" y="87174"/>
                </a:cubicBezTo>
                <a:cubicBezTo>
                  <a:pt x="63300" y="87174"/>
                  <a:pt x="56406" y="80280"/>
                  <a:pt x="56406" y="71790"/>
                </a:cubicBezTo>
                <a:cubicBezTo>
                  <a:pt x="56406" y="63300"/>
                  <a:pt x="63300" y="56406"/>
                  <a:pt x="71790" y="56406"/>
                </a:cubicBezTo>
                <a:close/>
                <a:moveTo>
                  <a:pt x="117941" y="71790"/>
                </a:moveTo>
                <a:cubicBezTo>
                  <a:pt x="117941" y="63300"/>
                  <a:pt x="124834" y="56406"/>
                  <a:pt x="133324" y="56406"/>
                </a:cubicBezTo>
                <a:cubicBezTo>
                  <a:pt x="141815" y="56406"/>
                  <a:pt x="148708" y="63300"/>
                  <a:pt x="148708" y="71790"/>
                </a:cubicBezTo>
                <a:cubicBezTo>
                  <a:pt x="148708" y="80280"/>
                  <a:pt x="141815" y="87174"/>
                  <a:pt x="133324" y="87174"/>
                </a:cubicBezTo>
                <a:cubicBezTo>
                  <a:pt x="124834" y="87174"/>
                  <a:pt x="117941" y="80280"/>
                  <a:pt x="117941" y="71790"/>
                </a:cubicBezTo>
                <a:close/>
                <a:moveTo>
                  <a:pt x="20511" y="71790"/>
                </a:moveTo>
                <a:cubicBezTo>
                  <a:pt x="20511" y="66117"/>
                  <a:pt x="15928" y="61534"/>
                  <a:pt x="10256" y="61534"/>
                </a:cubicBezTo>
                <a:cubicBezTo>
                  <a:pt x="4583" y="61534"/>
                  <a:pt x="0" y="66117"/>
                  <a:pt x="0" y="71790"/>
                </a:cubicBezTo>
                <a:lnTo>
                  <a:pt x="0" y="102557"/>
                </a:lnTo>
                <a:cubicBezTo>
                  <a:pt x="0" y="108230"/>
                  <a:pt x="4583" y="112813"/>
                  <a:pt x="10256" y="112813"/>
                </a:cubicBezTo>
                <a:cubicBezTo>
                  <a:pt x="15928" y="112813"/>
                  <a:pt x="20511" y="108230"/>
                  <a:pt x="20511" y="102557"/>
                </a:cubicBezTo>
                <a:lnTo>
                  <a:pt x="20511" y="71790"/>
                </a:lnTo>
                <a:close/>
                <a:moveTo>
                  <a:pt x="194859" y="61534"/>
                </a:moveTo>
                <a:cubicBezTo>
                  <a:pt x="189186" y="61534"/>
                  <a:pt x="184603" y="66117"/>
                  <a:pt x="184603" y="71790"/>
                </a:cubicBezTo>
                <a:lnTo>
                  <a:pt x="184603" y="102557"/>
                </a:lnTo>
                <a:cubicBezTo>
                  <a:pt x="184603" y="108230"/>
                  <a:pt x="189186" y="112813"/>
                  <a:pt x="194859" y="112813"/>
                </a:cubicBezTo>
                <a:cubicBezTo>
                  <a:pt x="200531" y="112813"/>
                  <a:pt x="205114" y="108230"/>
                  <a:pt x="205114" y="102557"/>
                </a:cubicBezTo>
                <a:lnTo>
                  <a:pt x="205114" y="71790"/>
                </a:lnTo>
                <a:cubicBezTo>
                  <a:pt x="205114" y="66117"/>
                  <a:pt x="200531" y="61534"/>
                  <a:pt x="194859" y="61534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7" name="Text 25"/>
          <p:cNvSpPr/>
          <p:nvPr/>
        </p:nvSpPr>
        <p:spPr>
          <a:xfrm>
            <a:off x="828662" y="4922746"/>
            <a:ext cx="2026530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3" b="1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Ложные срабатывания LLM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5093" y="5250929"/>
            <a:ext cx="5390406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Галлюцинации языковых моделей могут приводить к неверным классификациям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25093" y="5546293"/>
            <a:ext cx="5324770" cy="590729"/>
          </a:xfrm>
          <a:custGeom>
            <a:avLst/>
            <a:gdLst/>
            <a:ahLst/>
            <a:cxnLst/>
            <a:rect l="l" t="t" r="r" b="b"/>
            <a:pathLst>
              <a:path w="5324770" h="590729">
                <a:moveTo>
                  <a:pt x="65636" y="0"/>
                </a:moveTo>
                <a:lnTo>
                  <a:pt x="5259134" y="0"/>
                </a:lnTo>
                <a:cubicBezTo>
                  <a:pt x="5295384" y="0"/>
                  <a:pt x="5324770" y="29386"/>
                  <a:pt x="5324770" y="65636"/>
                </a:cubicBezTo>
                <a:lnTo>
                  <a:pt x="5324770" y="525094"/>
                </a:lnTo>
                <a:cubicBezTo>
                  <a:pt x="5324770" y="561343"/>
                  <a:pt x="5295384" y="590729"/>
                  <a:pt x="5259134" y="590729"/>
                </a:cubicBezTo>
                <a:lnTo>
                  <a:pt x="65636" y="590729"/>
                </a:lnTo>
                <a:cubicBezTo>
                  <a:pt x="29410" y="590729"/>
                  <a:pt x="0" y="561319"/>
                  <a:pt x="0" y="525094"/>
                </a:cubicBezTo>
                <a:lnTo>
                  <a:pt x="0" y="65636"/>
                </a:lnTo>
                <a:cubicBezTo>
                  <a:pt x="0" y="29386"/>
                  <a:pt x="29386" y="0"/>
                  <a:pt x="6563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39957" y="5661157"/>
            <a:ext cx="131273" cy="131273"/>
          </a:xfrm>
          <a:custGeom>
            <a:avLst/>
            <a:gdLst/>
            <a:ahLst/>
            <a:cxnLst/>
            <a:rect l="l" t="t" r="r" b="b"/>
            <a:pathLst>
              <a:path w="131273" h="131273">
                <a:moveTo>
                  <a:pt x="65637" y="0"/>
                </a:moveTo>
                <a:cubicBezTo>
                  <a:pt x="66816" y="0"/>
                  <a:pt x="67995" y="256"/>
                  <a:pt x="69072" y="744"/>
                </a:cubicBezTo>
                <a:lnTo>
                  <a:pt x="117377" y="21229"/>
                </a:lnTo>
                <a:cubicBezTo>
                  <a:pt x="123017" y="23614"/>
                  <a:pt x="127222" y="29178"/>
                  <a:pt x="127197" y="35895"/>
                </a:cubicBezTo>
                <a:cubicBezTo>
                  <a:pt x="127068" y="61329"/>
                  <a:pt x="116608" y="107865"/>
                  <a:pt x="72431" y="129017"/>
                </a:cubicBezTo>
                <a:cubicBezTo>
                  <a:pt x="68149" y="131068"/>
                  <a:pt x="63175" y="131068"/>
                  <a:pt x="58893" y="129017"/>
                </a:cubicBezTo>
                <a:cubicBezTo>
                  <a:pt x="14691" y="107865"/>
                  <a:pt x="4256" y="61329"/>
                  <a:pt x="4128" y="35895"/>
                </a:cubicBezTo>
                <a:cubicBezTo>
                  <a:pt x="4102" y="29178"/>
                  <a:pt x="8307" y="23614"/>
                  <a:pt x="13948" y="21229"/>
                </a:cubicBezTo>
                <a:lnTo>
                  <a:pt x="62227" y="744"/>
                </a:lnTo>
                <a:cubicBezTo>
                  <a:pt x="63303" y="256"/>
                  <a:pt x="64457" y="0"/>
                  <a:pt x="65637" y="0"/>
                </a:cubicBezTo>
                <a:close/>
                <a:moveTo>
                  <a:pt x="65637" y="17127"/>
                </a:moveTo>
                <a:lnTo>
                  <a:pt x="65637" y="114069"/>
                </a:lnTo>
                <a:cubicBezTo>
                  <a:pt x="101019" y="96942"/>
                  <a:pt x="110531" y="58996"/>
                  <a:pt x="110762" y="36280"/>
                </a:cubicBezTo>
                <a:lnTo>
                  <a:pt x="65637" y="17153"/>
                </a:lnTo>
                <a:lnTo>
                  <a:pt x="65637" y="17153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1" name="Text 29"/>
          <p:cNvSpPr/>
          <p:nvPr/>
        </p:nvSpPr>
        <p:spPr>
          <a:xfrm>
            <a:off x="853276" y="5644748"/>
            <a:ext cx="656366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Контрмера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3548" y="5874476"/>
            <a:ext cx="5185292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Evidence + HITL — каждая метка должна иметь текстовое обоснование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5352" y="1214277"/>
            <a:ext cx="5669362" cy="1542460"/>
          </a:xfrm>
          <a:custGeom>
            <a:avLst/>
            <a:gdLst/>
            <a:ahLst/>
            <a:cxnLst/>
            <a:rect l="l" t="t" r="r" b="b"/>
            <a:pathLst>
              <a:path w="5669362" h="1542460">
                <a:moveTo>
                  <a:pt x="0" y="0"/>
                </a:moveTo>
                <a:lnTo>
                  <a:pt x="5603730" y="0"/>
                </a:lnTo>
                <a:cubicBezTo>
                  <a:pt x="5639978" y="0"/>
                  <a:pt x="5669362" y="29384"/>
                  <a:pt x="5669362" y="65632"/>
                </a:cubicBezTo>
                <a:lnTo>
                  <a:pt x="5669362" y="1476829"/>
                </a:lnTo>
                <a:cubicBezTo>
                  <a:pt x="5669362" y="1513076"/>
                  <a:pt x="5639978" y="1542460"/>
                  <a:pt x="5603730" y="1542460"/>
                </a:cubicBezTo>
                <a:lnTo>
                  <a:pt x="0" y="1542460"/>
                </a:lnTo>
                <a:lnTo>
                  <a:pt x="0" y="0"/>
                </a:lnTo>
                <a:close/>
              </a:path>
            </a:pathLst>
          </a:custGeom>
          <a:solidFill>
            <a:srgbClr val="2C3036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195352" y="1214277"/>
            <a:ext cx="32818" cy="1542460"/>
          </a:xfrm>
          <a:custGeom>
            <a:avLst/>
            <a:gdLst/>
            <a:ahLst/>
            <a:cxnLst/>
            <a:rect l="l" t="t" r="r" b="b"/>
            <a:pathLst>
              <a:path w="32818" h="1542460">
                <a:moveTo>
                  <a:pt x="0" y="0"/>
                </a:moveTo>
                <a:lnTo>
                  <a:pt x="32818" y="0"/>
                </a:lnTo>
                <a:lnTo>
                  <a:pt x="32818" y="1542460"/>
                </a:lnTo>
                <a:lnTo>
                  <a:pt x="0" y="1542460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396364" y="1411187"/>
            <a:ext cx="164092" cy="164092"/>
          </a:xfrm>
          <a:custGeom>
            <a:avLst/>
            <a:gdLst/>
            <a:ahLst/>
            <a:cxnLst/>
            <a:rect l="l" t="t" r="r" b="b"/>
            <a:pathLst>
              <a:path w="164092" h="164092">
                <a:moveTo>
                  <a:pt x="0" y="25639"/>
                </a:moveTo>
                <a:cubicBezTo>
                  <a:pt x="0" y="17146"/>
                  <a:pt x="6891" y="10256"/>
                  <a:pt x="15384" y="10256"/>
                </a:cubicBezTo>
                <a:lnTo>
                  <a:pt x="46151" y="10256"/>
                </a:lnTo>
                <a:cubicBezTo>
                  <a:pt x="54644" y="10256"/>
                  <a:pt x="61534" y="17146"/>
                  <a:pt x="61534" y="25639"/>
                </a:cubicBezTo>
                <a:lnTo>
                  <a:pt x="61534" y="30767"/>
                </a:lnTo>
                <a:lnTo>
                  <a:pt x="102557" y="30767"/>
                </a:lnTo>
                <a:lnTo>
                  <a:pt x="102557" y="25639"/>
                </a:lnTo>
                <a:cubicBezTo>
                  <a:pt x="102557" y="17146"/>
                  <a:pt x="109448" y="10256"/>
                  <a:pt x="117941" y="10256"/>
                </a:cubicBezTo>
                <a:lnTo>
                  <a:pt x="148708" y="10256"/>
                </a:lnTo>
                <a:cubicBezTo>
                  <a:pt x="157201" y="10256"/>
                  <a:pt x="164092" y="17146"/>
                  <a:pt x="164092" y="25639"/>
                </a:cubicBezTo>
                <a:lnTo>
                  <a:pt x="164092" y="56406"/>
                </a:lnTo>
                <a:cubicBezTo>
                  <a:pt x="164092" y="64899"/>
                  <a:pt x="157201" y="71790"/>
                  <a:pt x="148708" y="71790"/>
                </a:cubicBezTo>
                <a:lnTo>
                  <a:pt x="117941" y="71790"/>
                </a:lnTo>
                <a:cubicBezTo>
                  <a:pt x="109448" y="71790"/>
                  <a:pt x="102557" y="64899"/>
                  <a:pt x="102557" y="56406"/>
                </a:cubicBezTo>
                <a:lnTo>
                  <a:pt x="102557" y="51279"/>
                </a:lnTo>
                <a:lnTo>
                  <a:pt x="61534" y="51279"/>
                </a:lnTo>
                <a:lnTo>
                  <a:pt x="61534" y="56406"/>
                </a:lnTo>
                <a:cubicBezTo>
                  <a:pt x="61534" y="58746"/>
                  <a:pt x="60989" y="60989"/>
                  <a:pt x="60060" y="62977"/>
                </a:cubicBezTo>
                <a:lnTo>
                  <a:pt x="82046" y="92301"/>
                </a:lnTo>
                <a:lnTo>
                  <a:pt x="107685" y="92301"/>
                </a:lnTo>
                <a:cubicBezTo>
                  <a:pt x="116178" y="92301"/>
                  <a:pt x="123069" y="99192"/>
                  <a:pt x="123069" y="107685"/>
                </a:cubicBezTo>
                <a:lnTo>
                  <a:pt x="123069" y="138452"/>
                </a:lnTo>
                <a:cubicBezTo>
                  <a:pt x="123069" y="146945"/>
                  <a:pt x="116178" y="153836"/>
                  <a:pt x="107685" y="153836"/>
                </a:cubicBezTo>
                <a:lnTo>
                  <a:pt x="76918" y="153836"/>
                </a:lnTo>
                <a:cubicBezTo>
                  <a:pt x="68425" y="153836"/>
                  <a:pt x="61534" y="146945"/>
                  <a:pt x="61534" y="138452"/>
                </a:cubicBezTo>
                <a:lnTo>
                  <a:pt x="61534" y="107685"/>
                </a:lnTo>
                <a:cubicBezTo>
                  <a:pt x="61534" y="105345"/>
                  <a:pt x="62079" y="103102"/>
                  <a:pt x="63009" y="101115"/>
                </a:cubicBezTo>
                <a:lnTo>
                  <a:pt x="41023" y="71790"/>
                </a:lnTo>
                <a:lnTo>
                  <a:pt x="15384" y="71790"/>
                </a:lnTo>
                <a:cubicBezTo>
                  <a:pt x="6891" y="71790"/>
                  <a:pt x="0" y="64899"/>
                  <a:pt x="0" y="56406"/>
                </a:cubicBezTo>
                <a:lnTo>
                  <a:pt x="0" y="25639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6" name="Text 34"/>
          <p:cNvSpPr/>
          <p:nvPr/>
        </p:nvSpPr>
        <p:spPr>
          <a:xfrm>
            <a:off x="6679422" y="1378369"/>
            <a:ext cx="2223440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3" b="1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Переусложнение архитектуры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75853" y="1706552"/>
            <a:ext cx="5390406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Риск сделать систему слишком сложной для реализации в срок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75853" y="2001917"/>
            <a:ext cx="5324770" cy="590729"/>
          </a:xfrm>
          <a:custGeom>
            <a:avLst/>
            <a:gdLst/>
            <a:ahLst/>
            <a:cxnLst/>
            <a:rect l="l" t="t" r="r" b="b"/>
            <a:pathLst>
              <a:path w="5324770" h="590729">
                <a:moveTo>
                  <a:pt x="65636" y="0"/>
                </a:moveTo>
                <a:lnTo>
                  <a:pt x="5259134" y="0"/>
                </a:lnTo>
                <a:cubicBezTo>
                  <a:pt x="5295384" y="0"/>
                  <a:pt x="5324770" y="29386"/>
                  <a:pt x="5324770" y="65636"/>
                </a:cubicBezTo>
                <a:lnTo>
                  <a:pt x="5324770" y="525094"/>
                </a:lnTo>
                <a:cubicBezTo>
                  <a:pt x="5324770" y="561343"/>
                  <a:pt x="5295384" y="590729"/>
                  <a:pt x="5259134" y="590729"/>
                </a:cubicBezTo>
                <a:lnTo>
                  <a:pt x="65636" y="590729"/>
                </a:lnTo>
                <a:cubicBezTo>
                  <a:pt x="29410" y="590729"/>
                  <a:pt x="0" y="561319"/>
                  <a:pt x="0" y="525094"/>
                </a:cubicBezTo>
                <a:lnTo>
                  <a:pt x="0" y="65636"/>
                </a:lnTo>
                <a:cubicBezTo>
                  <a:pt x="0" y="29386"/>
                  <a:pt x="29386" y="0"/>
                  <a:pt x="6563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90717" y="2116781"/>
            <a:ext cx="131273" cy="131273"/>
          </a:xfrm>
          <a:custGeom>
            <a:avLst/>
            <a:gdLst/>
            <a:ahLst/>
            <a:cxnLst/>
            <a:rect l="l" t="t" r="r" b="b"/>
            <a:pathLst>
              <a:path w="131273" h="131273">
                <a:moveTo>
                  <a:pt x="65637" y="0"/>
                </a:moveTo>
                <a:cubicBezTo>
                  <a:pt x="66816" y="0"/>
                  <a:pt x="67995" y="256"/>
                  <a:pt x="69072" y="744"/>
                </a:cubicBezTo>
                <a:lnTo>
                  <a:pt x="117377" y="21229"/>
                </a:lnTo>
                <a:cubicBezTo>
                  <a:pt x="123017" y="23614"/>
                  <a:pt x="127222" y="29178"/>
                  <a:pt x="127197" y="35895"/>
                </a:cubicBezTo>
                <a:cubicBezTo>
                  <a:pt x="127068" y="61329"/>
                  <a:pt x="116608" y="107865"/>
                  <a:pt x="72431" y="129017"/>
                </a:cubicBezTo>
                <a:cubicBezTo>
                  <a:pt x="68149" y="131068"/>
                  <a:pt x="63175" y="131068"/>
                  <a:pt x="58893" y="129017"/>
                </a:cubicBezTo>
                <a:cubicBezTo>
                  <a:pt x="14691" y="107865"/>
                  <a:pt x="4256" y="61329"/>
                  <a:pt x="4128" y="35895"/>
                </a:cubicBezTo>
                <a:cubicBezTo>
                  <a:pt x="4102" y="29178"/>
                  <a:pt x="8307" y="23614"/>
                  <a:pt x="13948" y="21229"/>
                </a:cubicBezTo>
                <a:lnTo>
                  <a:pt x="62227" y="744"/>
                </a:lnTo>
                <a:cubicBezTo>
                  <a:pt x="63303" y="256"/>
                  <a:pt x="64457" y="0"/>
                  <a:pt x="65637" y="0"/>
                </a:cubicBezTo>
                <a:close/>
                <a:moveTo>
                  <a:pt x="65637" y="17127"/>
                </a:moveTo>
                <a:lnTo>
                  <a:pt x="65637" y="114069"/>
                </a:lnTo>
                <a:cubicBezTo>
                  <a:pt x="101019" y="96942"/>
                  <a:pt x="110531" y="58996"/>
                  <a:pt x="110762" y="36280"/>
                </a:cubicBezTo>
                <a:lnTo>
                  <a:pt x="65637" y="17153"/>
                </a:lnTo>
                <a:lnTo>
                  <a:pt x="65637" y="17153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0" name="Text 38"/>
          <p:cNvSpPr/>
          <p:nvPr/>
        </p:nvSpPr>
        <p:spPr>
          <a:xfrm>
            <a:off x="6704036" y="2100371"/>
            <a:ext cx="656366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Контрмера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74308" y="2330100"/>
            <a:ext cx="5185292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Модульная архитектура — независимая доработка компонентов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95352" y="2888011"/>
            <a:ext cx="5669362" cy="1542460"/>
          </a:xfrm>
          <a:custGeom>
            <a:avLst/>
            <a:gdLst/>
            <a:ahLst/>
            <a:cxnLst/>
            <a:rect l="l" t="t" r="r" b="b"/>
            <a:pathLst>
              <a:path w="5669362" h="1542460">
                <a:moveTo>
                  <a:pt x="0" y="0"/>
                </a:moveTo>
                <a:lnTo>
                  <a:pt x="5603730" y="0"/>
                </a:lnTo>
                <a:cubicBezTo>
                  <a:pt x="5639978" y="0"/>
                  <a:pt x="5669362" y="29384"/>
                  <a:pt x="5669362" y="65632"/>
                </a:cubicBezTo>
                <a:lnTo>
                  <a:pt x="5669362" y="1476829"/>
                </a:lnTo>
                <a:cubicBezTo>
                  <a:pt x="5669362" y="1513076"/>
                  <a:pt x="5639978" y="1542460"/>
                  <a:pt x="5603730" y="1542460"/>
                </a:cubicBezTo>
                <a:lnTo>
                  <a:pt x="0" y="1542460"/>
                </a:lnTo>
                <a:lnTo>
                  <a:pt x="0" y="0"/>
                </a:lnTo>
                <a:close/>
              </a:path>
            </a:pathLst>
          </a:custGeom>
          <a:solidFill>
            <a:srgbClr val="2C3036">
              <a:alpha val="5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195352" y="2888011"/>
            <a:ext cx="32818" cy="1542460"/>
          </a:xfrm>
          <a:custGeom>
            <a:avLst/>
            <a:gdLst/>
            <a:ahLst/>
            <a:cxnLst/>
            <a:rect l="l" t="t" r="r" b="b"/>
            <a:pathLst>
              <a:path w="32818" h="1542460">
                <a:moveTo>
                  <a:pt x="0" y="0"/>
                </a:moveTo>
                <a:lnTo>
                  <a:pt x="32818" y="0"/>
                </a:lnTo>
                <a:lnTo>
                  <a:pt x="32818" y="1542460"/>
                </a:lnTo>
                <a:lnTo>
                  <a:pt x="0" y="1542460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5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396364" y="3084921"/>
            <a:ext cx="164092" cy="164092"/>
          </a:xfrm>
          <a:custGeom>
            <a:avLst/>
            <a:gdLst/>
            <a:ahLst/>
            <a:cxnLst/>
            <a:rect l="l" t="t" r="r" b="b"/>
            <a:pathLst>
              <a:path w="164092" h="164092">
                <a:moveTo>
                  <a:pt x="82046" y="0"/>
                </a:moveTo>
                <a:cubicBezTo>
                  <a:pt x="127328" y="0"/>
                  <a:pt x="164092" y="36763"/>
                  <a:pt x="164092" y="82046"/>
                </a:cubicBezTo>
                <a:cubicBezTo>
                  <a:pt x="164092" y="127328"/>
                  <a:pt x="127328" y="164092"/>
                  <a:pt x="82046" y="164092"/>
                </a:cubicBezTo>
                <a:cubicBezTo>
                  <a:pt x="36763" y="164092"/>
                  <a:pt x="0" y="127328"/>
                  <a:pt x="0" y="82046"/>
                </a:cubicBezTo>
                <a:cubicBezTo>
                  <a:pt x="0" y="36763"/>
                  <a:pt x="36763" y="0"/>
                  <a:pt x="82046" y="0"/>
                </a:cubicBezTo>
                <a:close/>
                <a:moveTo>
                  <a:pt x="74354" y="38459"/>
                </a:moveTo>
                <a:lnTo>
                  <a:pt x="74354" y="82046"/>
                </a:lnTo>
                <a:cubicBezTo>
                  <a:pt x="74354" y="84610"/>
                  <a:pt x="75636" y="87013"/>
                  <a:pt x="77783" y="88456"/>
                </a:cubicBezTo>
                <a:lnTo>
                  <a:pt x="108550" y="108967"/>
                </a:lnTo>
                <a:cubicBezTo>
                  <a:pt x="112076" y="111339"/>
                  <a:pt x="116851" y="110377"/>
                  <a:pt x="119223" y="106820"/>
                </a:cubicBezTo>
                <a:cubicBezTo>
                  <a:pt x="121594" y="103262"/>
                  <a:pt x="120633" y="98519"/>
                  <a:pt x="117075" y="96147"/>
                </a:cubicBezTo>
                <a:lnTo>
                  <a:pt x="89738" y="77943"/>
                </a:lnTo>
                <a:lnTo>
                  <a:pt x="89738" y="38459"/>
                </a:lnTo>
                <a:cubicBezTo>
                  <a:pt x="89738" y="34196"/>
                  <a:pt x="86308" y="30767"/>
                  <a:pt x="82046" y="30767"/>
                </a:cubicBezTo>
                <a:cubicBezTo>
                  <a:pt x="77783" y="30767"/>
                  <a:pt x="74354" y="34196"/>
                  <a:pt x="74354" y="3845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45" name="Text 43"/>
          <p:cNvSpPr/>
          <p:nvPr/>
        </p:nvSpPr>
        <p:spPr>
          <a:xfrm>
            <a:off x="6679422" y="3052102"/>
            <a:ext cx="2403941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3" b="1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Нехватка времени на полный ML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75853" y="3380285"/>
            <a:ext cx="5390406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Полноценное обучение модели классификации требует значительных ресурсов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75853" y="3675650"/>
            <a:ext cx="5324770" cy="590729"/>
          </a:xfrm>
          <a:custGeom>
            <a:avLst/>
            <a:gdLst/>
            <a:ahLst/>
            <a:cxnLst/>
            <a:rect l="l" t="t" r="r" b="b"/>
            <a:pathLst>
              <a:path w="5324770" h="590729">
                <a:moveTo>
                  <a:pt x="65636" y="0"/>
                </a:moveTo>
                <a:lnTo>
                  <a:pt x="5259134" y="0"/>
                </a:lnTo>
                <a:cubicBezTo>
                  <a:pt x="5295384" y="0"/>
                  <a:pt x="5324770" y="29386"/>
                  <a:pt x="5324770" y="65636"/>
                </a:cubicBezTo>
                <a:lnTo>
                  <a:pt x="5324770" y="525094"/>
                </a:lnTo>
                <a:cubicBezTo>
                  <a:pt x="5324770" y="561343"/>
                  <a:pt x="5295384" y="590729"/>
                  <a:pt x="5259134" y="590729"/>
                </a:cubicBezTo>
                <a:lnTo>
                  <a:pt x="65636" y="590729"/>
                </a:lnTo>
                <a:cubicBezTo>
                  <a:pt x="29410" y="590729"/>
                  <a:pt x="0" y="561319"/>
                  <a:pt x="0" y="525094"/>
                </a:cubicBezTo>
                <a:lnTo>
                  <a:pt x="0" y="65636"/>
                </a:lnTo>
                <a:cubicBezTo>
                  <a:pt x="0" y="29386"/>
                  <a:pt x="29386" y="0"/>
                  <a:pt x="6563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90717" y="3790514"/>
            <a:ext cx="131273" cy="131273"/>
          </a:xfrm>
          <a:custGeom>
            <a:avLst/>
            <a:gdLst/>
            <a:ahLst/>
            <a:cxnLst/>
            <a:rect l="l" t="t" r="r" b="b"/>
            <a:pathLst>
              <a:path w="131273" h="131273">
                <a:moveTo>
                  <a:pt x="65637" y="0"/>
                </a:moveTo>
                <a:cubicBezTo>
                  <a:pt x="66816" y="0"/>
                  <a:pt x="67995" y="256"/>
                  <a:pt x="69072" y="744"/>
                </a:cubicBezTo>
                <a:lnTo>
                  <a:pt x="117377" y="21229"/>
                </a:lnTo>
                <a:cubicBezTo>
                  <a:pt x="123017" y="23614"/>
                  <a:pt x="127222" y="29178"/>
                  <a:pt x="127197" y="35895"/>
                </a:cubicBezTo>
                <a:cubicBezTo>
                  <a:pt x="127068" y="61329"/>
                  <a:pt x="116608" y="107865"/>
                  <a:pt x="72431" y="129017"/>
                </a:cubicBezTo>
                <a:cubicBezTo>
                  <a:pt x="68149" y="131068"/>
                  <a:pt x="63175" y="131068"/>
                  <a:pt x="58893" y="129017"/>
                </a:cubicBezTo>
                <a:cubicBezTo>
                  <a:pt x="14691" y="107865"/>
                  <a:pt x="4256" y="61329"/>
                  <a:pt x="4128" y="35895"/>
                </a:cubicBezTo>
                <a:cubicBezTo>
                  <a:pt x="4102" y="29178"/>
                  <a:pt x="8307" y="23614"/>
                  <a:pt x="13948" y="21229"/>
                </a:cubicBezTo>
                <a:lnTo>
                  <a:pt x="62227" y="744"/>
                </a:lnTo>
                <a:cubicBezTo>
                  <a:pt x="63303" y="256"/>
                  <a:pt x="64457" y="0"/>
                  <a:pt x="65637" y="0"/>
                </a:cubicBezTo>
                <a:close/>
                <a:moveTo>
                  <a:pt x="65637" y="17127"/>
                </a:moveTo>
                <a:lnTo>
                  <a:pt x="65637" y="114069"/>
                </a:lnTo>
                <a:cubicBezTo>
                  <a:pt x="101019" y="96942"/>
                  <a:pt x="110531" y="58996"/>
                  <a:pt x="110762" y="36280"/>
                </a:cubicBezTo>
                <a:lnTo>
                  <a:pt x="65637" y="17153"/>
                </a:lnTo>
                <a:lnTo>
                  <a:pt x="65637" y="17153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9" name="Text 47"/>
          <p:cNvSpPr/>
          <p:nvPr/>
        </p:nvSpPr>
        <p:spPr>
          <a:xfrm>
            <a:off x="6704036" y="3774105"/>
            <a:ext cx="656366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Контрмера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74308" y="4003833"/>
            <a:ext cx="5185292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MVP через rules + LLM support — гибридный подход с постепенным расширением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83045" y="4565847"/>
            <a:ext cx="5677567" cy="1091209"/>
          </a:xfrm>
          <a:custGeom>
            <a:avLst/>
            <a:gdLst/>
            <a:ahLst/>
            <a:cxnLst/>
            <a:rect l="l" t="t" r="r" b="b"/>
            <a:pathLst>
              <a:path w="5677567" h="1091209">
                <a:moveTo>
                  <a:pt x="65636" y="0"/>
                </a:moveTo>
                <a:lnTo>
                  <a:pt x="5611930" y="0"/>
                </a:lnTo>
                <a:cubicBezTo>
                  <a:pt x="5648180" y="0"/>
                  <a:pt x="5677567" y="29386"/>
                  <a:pt x="5677567" y="65636"/>
                </a:cubicBezTo>
                <a:lnTo>
                  <a:pt x="5677567" y="1025572"/>
                </a:lnTo>
                <a:cubicBezTo>
                  <a:pt x="5677567" y="1061822"/>
                  <a:pt x="5648180" y="1091209"/>
                  <a:pt x="5611930" y="1091209"/>
                </a:cubicBezTo>
                <a:lnTo>
                  <a:pt x="65636" y="1091209"/>
                </a:lnTo>
                <a:cubicBezTo>
                  <a:pt x="29411" y="1091209"/>
                  <a:pt x="0" y="1061798"/>
                  <a:pt x="0" y="1025572"/>
                </a:cubicBezTo>
                <a:lnTo>
                  <a:pt x="0" y="65636"/>
                </a:lnTo>
                <a:cubicBezTo>
                  <a:pt x="0" y="29386"/>
                  <a:pt x="29386" y="0"/>
                  <a:pt x="6563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92262" y="4766859"/>
            <a:ext cx="123069" cy="164092"/>
          </a:xfrm>
          <a:custGeom>
            <a:avLst/>
            <a:gdLst/>
            <a:ahLst/>
            <a:cxnLst/>
            <a:rect l="l" t="t" r="r" b="b"/>
            <a:pathLst>
              <a:path w="123069" h="164092">
                <a:moveTo>
                  <a:pt x="93872" y="123069"/>
                </a:moveTo>
                <a:cubicBezTo>
                  <a:pt x="96211" y="115922"/>
                  <a:pt x="100891" y="109448"/>
                  <a:pt x="106179" y="103871"/>
                </a:cubicBezTo>
                <a:cubicBezTo>
                  <a:pt x="116659" y="92846"/>
                  <a:pt x="123069" y="77943"/>
                  <a:pt x="123069" y="61534"/>
                </a:cubicBezTo>
                <a:cubicBezTo>
                  <a:pt x="123069" y="27562"/>
                  <a:pt x="95506" y="0"/>
                  <a:pt x="61534" y="0"/>
                </a:cubicBezTo>
                <a:cubicBezTo>
                  <a:pt x="27562" y="0"/>
                  <a:pt x="0" y="27562"/>
                  <a:pt x="0" y="61534"/>
                </a:cubicBezTo>
                <a:cubicBezTo>
                  <a:pt x="0" y="77943"/>
                  <a:pt x="6410" y="92846"/>
                  <a:pt x="16890" y="103871"/>
                </a:cubicBezTo>
                <a:cubicBezTo>
                  <a:pt x="22178" y="109448"/>
                  <a:pt x="26889" y="115922"/>
                  <a:pt x="29197" y="123069"/>
                </a:cubicBezTo>
                <a:lnTo>
                  <a:pt x="93840" y="123069"/>
                </a:lnTo>
                <a:close/>
                <a:moveTo>
                  <a:pt x="92301" y="138452"/>
                </a:moveTo>
                <a:lnTo>
                  <a:pt x="30767" y="138452"/>
                </a:lnTo>
                <a:lnTo>
                  <a:pt x="30767" y="143580"/>
                </a:lnTo>
                <a:cubicBezTo>
                  <a:pt x="30767" y="157746"/>
                  <a:pt x="42241" y="169219"/>
                  <a:pt x="56406" y="169219"/>
                </a:cubicBezTo>
                <a:lnTo>
                  <a:pt x="66662" y="169219"/>
                </a:lnTo>
                <a:cubicBezTo>
                  <a:pt x="80828" y="169219"/>
                  <a:pt x="92301" y="157746"/>
                  <a:pt x="92301" y="143580"/>
                </a:cubicBezTo>
                <a:lnTo>
                  <a:pt x="92301" y="138452"/>
                </a:lnTo>
                <a:close/>
                <a:moveTo>
                  <a:pt x="58970" y="35895"/>
                </a:moveTo>
                <a:cubicBezTo>
                  <a:pt x="46215" y="35895"/>
                  <a:pt x="35895" y="46215"/>
                  <a:pt x="35895" y="58970"/>
                </a:cubicBezTo>
                <a:cubicBezTo>
                  <a:pt x="35895" y="63233"/>
                  <a:pt x="32466" y="66662"/>
                  <a:pt x="28203" y="66662"/>
                </a:cubicBezTo>
                <a:cubicBezTo>
                  <a:pt x="23941" y="66662"/>
                  <a:pt x="20511" y="63233"/>
                  <a:pt x="20511" y="58970"/>
                </a:cubicBezTo>
                <a:cubicBezTo>
                  <a:pt x="20511" y="37722"/>
                  <a:pt x="37722" y="20511"/>
                  <a:pt x="58970" y="20511"/>
                </a:cubicBezTo>
                <a:cubicBezTo>
                  <a:pt x="63233" y="20511"/>
                  <a:pt x="66662" y="23941"/>
                  <a:pt x="66662" y="28203"/>
                </a:cubicBezTo>
                <a:cubicBezTo>
                  <a:pt x="66662" y="32466"/>
                  <a:pt x="63233" y="35895"/>
                  <a:pt x="58970" y="35895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53" name="Text 51"/>
          <p:cNvSpPr/>
          <p:nvPr/>
        </p:nvSpPr>
        <p:spPr>
          <a:xfrm>
            <a:off x="6654809" y="4734040"/>
            <a:ext cx="2010121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3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Принцип работы с рисками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351239" y="5062223"/>
            <a:ext cx="5406816" cy="426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4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Мы сразу учитываем риски и закладываем контрмеры в архитектуру. Это делает проект реалистичным и управляемым на каждом этапе.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een.com/424c6667d98fb18bd18d806625695a63925ae524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9815" b="9815"/>
          <a:stretch/>
        </p:blipFill>
        <p:spPr>
          <a:xfrm>
            <a:off x="0" y="0"/>
            <a:ext cx="12192000" cy="6859015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9015"/>
          </a:xfrm>
          <a:custGeom>
            <a:avLst/>
            <a:gdLst/>
            <a:ahLst/>
            <a:cxnLst/>
            <a:rect l="l" t="t" r="r" b="b"/>
            <a:pathLst>
              <a:path w="12192000" h="6859015">
                <a:moveTo>
                  <a:pt x="0" y="0"/>
                </a:moveTo>
                <a:lnTo>
                  <a:pt x="12192000" y="0"/>
                </a:lnTo>
                <a:lnTo>
                  <a:pt x="12192000" y="6859015"/>
                </a:lnTo>
                <a:lnTo>
                  <a:pt x="0" y="685901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6D8C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28746" y="328746"/>
            <a:ext cx="1607201" cy="332804"/>
          </a:xfrm>
          <a:custGeom>
            <a:avLst/>
            <a:gdLst/>
            <a:ahLst/>
            <a:cxnLst/>
            <a:rect l="l" t="t" r="r" b="b"/>
            <a:pathLst>
              <a:path w="1607201" h="332804">
                <a:moveTo>
                  <a:pt x="64937" y="0"/>
                </a:moveTo>
                <a:lnTo>
                  <a:pt x="1542264" y="0"/>
                </a:lnTo>
                <a:cubicBezTo>
                  <a:pt x="1578128" y="0"/>
                  <a:pt x="1607201" y="29073"/>
                  <a:pt x="1607201" y="64937"/>
                </a:cubicBezTo>
                <a:lnTo>
                  <a:pt x="1607201" y="267867"/>
                </a:lnTo>
                <a:cubicBezTo>
                  <a:pt x="1607201" y="303731"/>
                  <a:pt x="1578128" y="332804"/>
                  <a:pt x="1542264" y="332804"/>
                </a:cubicBezTo>
                <a:lnTo>
                  <a:pt x="64937" y="332804"/>
                </a:lnTo>
                <a:cubicBezTo>
                  <a:pt x="29097" y="332804"/>
                  <a:pt x="0" y="303707"/>
                  <a:pt x="0" y="267867"/>
                </a:cubicBezTo>
                <a:lnTo>
                  <a:pt x="0" y="64937"/>
                </a:lnTo>
                <a:cubicBezTo>
                  <a:pt x="0" y="29097"/>
                  <a:pt x="29097" y="0"/>
                  <a:pt x="64937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62679" y="409917"/>
            <a:ext cx="1400594" cy="170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b="1" kern="0" spc="5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ИТОГОВЫЙ ВЫВОД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24687" y="860421"/>
            <a:ext cx="11737438" cy="38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6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Вывод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0921" y="1704607"/>
            <a:ext cx="11526391" cy="1193225"/>
          </a:xfrm>
          <a:custGeom>
            <a:avLst/>
            <a:gdLst/>
            <a:ahLst/>
            <a:cxnLst/>
            <a:rect l="l" t="t" r="r" b="b"/>
            <a:pathLst>
              <a:path w="11526391" h="1193225">
                <a:moveTo>
                  <a:pt x="0" y="0"/>
                </a:moveTo>
                <a:lnTo>
                  <a:pt x="11461456" y="0"/>
                </a:lnTo>
                <a:cubicBezTo>
                  <a:pt x="11497319" y="0"/>
                  <a:pt x="11526391" y="29073"/>
                  <a:pt x="11526391" y="64935"/>
                </a:cubicBezTo>
                <a:lnTo>
                  <a:pt x="11526391" y="1128290"/>
                </a:lnTo>
                <a:cubicBezTo>
                  <a:pt x="11526391" y="1164153"/>
                  <a:pt x="11497319" y="1193225"/>
                  <a:pt x="11461456" y="1193225"/>
                </a:cubicBezTo>
                <a:lnTo>
                  <a:pt x="0" y="1193225"/>
                </a:lnTo>
                <a:lnTo>
                  <a:pt x="0" y="0"/>
                </a:lnTo>
                <a:close/>
              </a:path>
            </a:pathLst>
          </a:custGeom>
          <a:solidFill>
            <a:srgbClr val="2C3036">
              <a:alpha val="70196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40921" y="1704607"/>
            <a:ext cx="32469" cy="1193225"/>
          </a:xfrm>
          <a:custGeom>
            <a:avLst/>
            <a:gdLst/>
            <a:ahLst/>
            <a:cxnLst/>
            <a:rect l="l" t="t" r="r" b="b"/>
            <a:pathLst>
              <a:path w="32469" h="1193225">
                <a:moveTo>
                  <a:pt x="0" y="0"/>
                </a:moveTo>
                <a:lnTo>
                  <a:pt x="32469" y="0"/>
                </a:lnTo>
                <a:lnTo>
                  <a:pt x="32469" y="1193225"/>
                </a:lnTo>
                <a:lnTo>
                  <a:pt x="0" y="11932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9" name="Shape 6"/>
          <p:cNvSpPr/>
          <p:nvPr/>
        </p:nvSpPr>
        <p:spPr>
          <a:xfrm>
            <a:off x="551968" y="1899419"/>
            <a:ext cx="519499" cy="519499"/>
          </a:xfrm>
          <a:custGeom>
            <a:avLst/>
            <a:gdLst/>
            <a:ahLst/>
            <a:cxnLst/>
            <a:rect l="l" t="t" r="r" b="b"/>
            <a:pathLst>
              <a:path w="519499" h="519499">
                <a:moveTo>
                  <a:pt x="97406" y="0"/>
                </a:moveTo>
                <a:lnTo>
                  <a:pt x="422093" y="0"/>
                </a:lnTo>
                <a:cubicBezTo>
                  <a:pt x="475853" y="0"/>
                  <a:pt x="519499" y="43646"/>
                  <a:pt x="519499" y="97406"/>
                </a:cubicBezTo>
                <a:lnTo>
                  <a:pt x="519499" y="422093"/>
                </a:lnTo>
                <a:cubicBezTo>
                  <a:pt x="519499" y="475889"/>
                  <a:pt x="475889" y="519499"/>
                  <a:pt x="422093" y="519499"/>
                </a:cubicBezTo>
                <a:lnTo>
                  <a:pt x="97406" y="519499"/>
                </a:lnTo>
                <a:cubicBezTo>
                  <a:pt x="43646" y="519499"/>
                  <a:pt x="0" y="475853"/>
                  <a:pt x="0" y="422093"/>
                </a:cubicBezTo>
                <a:lnTo>
                  <a:pt x="0" y="97406"/>
                </a:lnTo>
                <a:cubicBezTo>
                  <a:pt x="0" y="43610"/>
                  <a:pt x="43610" y="0"/>
                  <a:pt x="97406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91989" y="2037411"/>
            <a:ext cx="243515" cy="243515"/>
          </a:xfrm>
          <a:custGeom>
            <a:avLst/>
            <a:gdLst/>
            <a:ahLst/>
            <a:cxnLst/>
            <a:rect l="l" t="t" r="r" b="b"/>
            <a:pathLst>
              <a:path w="243515" h="243515">
                <a:moveTo>
                  <a:pt x="213076" y="121758"/>
                </a:moveTo>
                <a:cubicBezTo>
                  <a:pt x="213076" y="71358"/>
                  <a:pt x="172158" y="30439"/>
                  <a:pt x="121758" y="30439"/>
                </a:cubicBezTo>
                <a:cubicBezTo>
                  <a:pt x="71358" y="30439"/>
                  <a:pt x="30439" y="71358"/>
                  <a:pt x="30439" y="121758"/>
                </a:cubicBezTo>
                <a:cubicBezTo>
                  <a:pt x="30439" y="172158"/>
                  <a:pt x="71358" y="213076"/>
                  <a:pt x="121758" y="213076"/>
                </a:cubicBezTo>
                <a:cubicBezTo>
                  <a:pt x="172158" y="213076"/>
                  <a:pt x="213076" y="172158"/>
                  <a:pt x="213076" y="121758"/>
                </a:cubicBezTo>
                <a:close/>
                <a:moveTo>
                  <a:pt x="0" y="121758"/>
                </a:moveTo>
                <a:cubicBezTo>
                  <a:pt x="0" y="54558"/>
                  <a:pt x="54558" y="0"/>
                  <a:pt x="121758" y="0"/>
                </a:cubicBezTo>
                <a:cubicBezTo>
                  <a:pt x="188958" y="0"/>
                  <a:pt x="243515" y="54558"/>
                  <a:pt x="243515" y="121758"/>
                </a:cubicBezTo>
                <a:cubicBezTo>
                  <a:pt x="243515" y="188958"/>
                  <a:pt x="188958" y="243515"/>
                  <a:pt x="121758" y="243515"/>
                </a:cubicBezTo>
                <a:cubicBezTo>
                  <a:pt x="54558" y="243515"/>
                  <a:pt x="0" y="188958"/>
                  <a:pt x="0" y="121758"/>
                </a:cubicBezTo>
                <a:close/>
                <a:moveTo>
                  <a:pt x="121758" y="159807"/>
                </a:moveTo>
                <a:cubicBezTo>
                  <a:pt x="142758" y="159807"/>
                  <a:pt x="159807" y="142758"/>
                  <a:pt x="159807" y="121758"/>
                </a:cubicBezTo>
                <a:cubicBezTo>
                  <a:pt x="159807" y="100758"/>
                  <a:pt x="142758" y="83708"/>
                  <a:pt x="121758" y="83708"/>
                </a:cubicBezTo>
                <a:cubicBezTo>
                  <a:pt x="100758" y="83708"/>
                  <a:pt x="83708" y="100758"/>
                  <a:pt x="83708" y="121758"/>
                </a:cubicBezTo>
                <a:cubicBezTo>
                  <a:pt x="83708" y="142758"/>
                  <a:pt x="100758" y="159807"/>
                  <a:pt x="121758" y="159807"/>
                </a:cubicBezTo>
                <a:close/>
                <a:moveTo>
                  <a:pt x="121758" y="53269"/>
                </a:moveTo>
                <a:cubicBezTo>
                  <a:pt x="159558" y="53269"/>
                  <a:pt x="190246" y="83958"/>
                  <a:pt x="190246" y="121758"/>
                </a:cubicBezTo>
                <a:cubicBezTo>
                  <a:pt x="190246" y="159558"/>
                  <a:pt x="159558" y="190246"/>
                  <a:pt x="121758" y="190246"/>
                </a:cubicBezTo>
                <a:cubicBezTo>
                  <a:pt x="83958" y="190246"/>
                  <a:pt x="53269" y="159558"/>
                  <a:pt x="53269" y="121758"/>
                </a:cubicBezTo>
                <a:cubicBezTo>
                  <a:pt x="53269" y="83958"/>
                  <a:pt x="83958" y="53269"/>
                  <a:pt x="121758" y="53269"/>
                </a:cubicBezTo>
                <a:close/>
                <a:moveTo>
                  <a:pt x="106538" y="121758"/>
                </a:moveTo>
                <a:cubicBezTo>
                  <a:pt x="106538" y="113358"/>
                  <a:pt x="113358" y="106538"/>
                  <a:pt x="121758" y="106538"/>
                </a:cubicBezTo>
                <a:cubicBezTo>
                  <a:pt x="130158" y="106538"/>
                  <a:pt x="136977" y="113358"/>
                  <a:pt x="136977" y="121758"/>
                </a:cubicBezTo>
                <a:cubicBezTo>
                  <a:pt x="136977" y="130158"/>
                  <a:pt x="130158" y="136977"/>
                  <a:pt x="121758" y="136977"/>
                </a:cubicBezTo>
                <a:cubicBezTo>
                  <a:pt x="113358" y="136977"/>
                  <a:pt x="106538" y="130158"/>
                  <a:pt x="106538" y="121758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1" name="Text 8"/>
          <p:cNvSpPr/>
          <p:nvPr/>
        </p:nvSpPr>
        <p:spPr>
          <a:xfrm>
            <a:off x="1233811" y="1899419"/>
            <a:ext cx="10536096" cy="25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Решаем реальную задачу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33811" y="2224107"/>
            <a:ext cx="10511744" cy="478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Проект решает задачу </a:t>
            </a:r>
            <a:r>
              <a:rPr lang="en-US" sz="115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Driven Security</a:t>
            </a:r>
            <a:r>
              <a:rPr lang="en-US" sz="11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превращает разрозненные данные об offensive-security инструментах в воспроизводимую аналитическую систему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40921" y="3088586"/>
            <a:ext cx="11526391" cy="949710"/>
          </a:xfrm>
          <a:custGeom>
            <a:avLst/>
            <a:gdLst/>
            <a:ahLst/>
            <a:cxnLst/>
            <a:rect l="l" t="t" r="r" b="b"/>
            <a:pathLst>
              <a:path w="11526391" h="949710">
                <a:moveTo>
                  <a:pt x="0" y="0"/>
                </a:moveTo>
                <a:lnTo>
                  <a:pt x="11461450" y="0"/>
                </a:lnTo>
                <a:cubicBezTo>
                  <a:pt x="11497316" y="0"/>
                  <a:pt x="11526391" y="29075"/>
                  <a:pt x="11526391" y="64941"/>
                </a:cubicBezTo>
                <a:lnTo>
                  <a:pt x="11526391" y="884769"/>
                </a:lnTo>
                <a:cubicBezTo>
                  <a:pt x="11526391" y="920635"/>
                  <a:pt x="11497316" y="949710"/>
                  <a:pt x="11461450" y="949710"/>
                </a:cubicBezTo>
                <a:lnTo>
                  <a:pt x="0" y="949710"/>
                </a:lnTo>
                <a:lnTo>
                  <a:pt x="0" y="0"/>
                </a:lnTo>
                <a:close/>
              </a:path>
            </a:pathLst>
          </a:custGeom>
          <a:solidFill>
            <a:srgbClr val="2C3036">
              <a:alpha val="7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340921" y="3088586"/>
            <a:ext cx="32469" cy="949710"/>
          </a:xfrm>
          <a:custGeom>
            <a:avLst/>
            <a:gdLst/>
            <a:ahLst/>
            <a:cxnLst/>
            <a:rect l="l" t="t" r="r" b="b"/>
            <a:pathLst>
              <a:path w="32469" h="949710">
                <a:moveTo>
                  <a:pt x="0" y="0"/>
                </a:moveTo>
                <a:lnTo>
                  <a:pt x="32469" y="0"/>
                </a:lnTo>
                <a:lnTo>
                  <a:pt x="32469" y="949710"/>
                </a:lnTo>
                <a:lnTo>
                  <a:pt x="0" y="949710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5" name="Shape 12"/>
          <p:cNvSpPr/>
          <p:nvPr/>
        </p:nvSpPr>
        <p:spPr>
          <a:xfrm>
            <a:off x="551968" y="3283398"/>
            <a:ext cx="519499" cy="519499"/>
          </a:xfrm>
          <a:custGeom>
            <a:avLst/>
            <a:gdLst/>
            <a:ahLst/>
            <a:cxnLst/>
            <a:rect l="l" t="t" r="r" b="b"/>
            <a:pathLst>
              <a:path w="519499" h="519499">
                <a:moveTo>
                  <a:pt x="97406" y="0"/>
                </a:moveTo>
                <a:lnTo>
                  <a:pt x="422093" y="0"/>
                </a:lnTo>
                <a:cubicBezTo>
                  <a:pt x="475853" y="0"/>
                  <a:pt x="519499" y="43646"/>
                  <a:pt x="519499" y="97406"/>
                </a:cubicBezTo>
                <a:lnTo>
                  <a:pt x="519499" y="422093"/>
                </a:lnTo>
                <a:cubicBezTo>
                  <a:pt x="519499" y="475889"/>
                  <a:pt x="475889" y="519499"/>
                  <a:pt x="422093" y="519499"/>
                </a:cubicBezTo>
                <a:lnTo>
                  <a:pt x="97406" y="519499"/>
                </a:lnTo>
                <a:cubicBezTo>
                  <a:pt x="43646" y="519499"/>
                  <a:pt x="0" y="475853"/>
                  <a:pt x="0" y="422093"/>
                </a:cubicBezTo>
                <a:lnTo>
                  <a:pt x="0" y="97406"/>
                </a:lnTo>
                <a:cubicBezTo>
                  <a:pt x="0" y="43610"/>
                  <a:pt x="43610" y="0"/>
                  <a:pt x="97406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722429" y="3421390"/>
            <a:ext cx="182636" cy="243515"/>
          </a:xfrm>
          <a:custGeom>
            <a:avLst/>
            <a:gdLst/>
            <a:ahLst/>
            <a:cxnLst/>
            <a:rect l="l" t="t" r="r" b="b"/>
            <a:pathLst>
              <a:path w="182636" h="243515">
                <a:moveTo>
                  <a:pt x="118856" y="31771"/>
                </a:moveTo>
                <a:cubicBezTo>
                  <a:pt x="123803" y="24970"/>
                  <a:pt x="122281" y="15458"/>
                  <a:pt x="115480" y="10511"/>
                </a:cubicBezTo>
                <a:cubicBezTo>
                  <a:pt x="108678" y="5565"/>
                  <a:pt x="99166" y="7087"/>
                  <a:pt x="94219" y="13888"/>
                </a:cubicBezTo>
                <a:lnTo>
                  <a:pt x="43804" y="83185"/>
                </a:lnTo>
                <a:lnTo>
                  <a:pt x="25969" y="65350"/>
                </a:lnTo>
                <a:cubicBezTo>
                  <a:pt x="20023" y="59404"/>
                  <a:pt x="10368" y="59404"/>
                  <a:pt x="4423" y="65350"/>
                </a:cubicBezTo>
                <a:cubicBezTo>
                  <a:pt x="-1522" y="71295"/>
                  <a:pt x="-1522" y="80950"/>
                  <a:pt x="4423" y="86895"/>
                </a:cubicBezTo>
                <a:lnTo>
                  <a:pt x="34863" y="117334"/>
                </a:lnTo>
                <a:cubicBezTo>
                  <a:pt x="38002" y="120473"/>
                  <a:pt x="42377" y="122091"/>
                  <a:pt x="46801" y="121758"/>
                </a:cubicBezTo>
                <a:cubicBezTo>
                  <a:pt x="51224" y="121425"/>
                  <a:pt x="55314" y="119142"/>
                  <a:pt x="57930" y="115527"/>
                </a:cubicBezTo>
                <a:lnTo>
                  <a:pt x="118809" y="31819"/>
                </a:lnTo>
                <a:close/>
                <a:moveTo>
                  <a:pt x="179735" y="96455"/>
                </a:moveTo>
                <a:cubicBezTo>
                  <a:pt x="184682" y="89654"/>
                  <a:pt x="183160" y="80141"/>
                  <a:pt x="176358" y="75195"/>
                </a:cubicBezTo>
                <a:cubicBezTo>
                  <a:pt x="169557" y="70248"/>
                  <a:pt x="160045" y="71770"/>
                  <a:pt x="155098" y="78572"/>
                </a:cubicBezTo>
                <a:lnTo>
                  <a:pt x="74244" y="189723"/>
                </a:lnTo>
                <a:lnTo>
                  <a:pt x="41188" y="156668"/>
                </a:lnTo>
                <a:cubicBezTo>
                  <a:pt x="35243" y="150723"/>
                  <a:pt x="25588" y="150723"/>
                  <a:pt x="19643" y="156668"/>
                </a:cubicBezTo>
                <a:cubicBezTo>
                  <a:pt x="13698" y="162613"/>
                  <a:pt x="13698" y="172268"/>
                  <a:pt x="19643" y="178213"/>
                </a:cubicBezTo>
                <a:lnTo>
                  <a:pt x="65302" y="223872"/>
                </a:lnTo>
                <a:cubicBezTo>
                  <a:pt x="68441" y="227011"/>
                  <a:pt x="72817" y="228629"/>
                  <a:pt x="77240" y="228296"/>
                </a:cubicBezTo>
                <a:cubicBezTo>
                  <a:pt x="81663" y="227963"/>
                  <a:pt x="85754" y="225680"/>
                  <a:pt x="88369" y="222065"/>
                </a:cubicBezTo>
                <a:lnTo>
                  <a:pt x="179688" y="96502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7" name="Text 14"/>
          <p:cNvSpPr/>
          <p:nvPr/>
        </p:nvSpPr>
        <p:spPr>
          <a:xfrm>
            <a:off x="1233811" y="3283398"/>
            <a:ext cx="9261699" cy="25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Покрываем требования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33811" y="3608085"/>
            <a:ext cx="9237348" cy="235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Архитектура покрывает все требования задания: </a:t>
            </a:r>
            <a:r>
              <a:rPr lang="en-US" sz="115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ETL</a:t>
            </a:r>
            <a:r>
              <a:rPr lang="en-US" sz="11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аналитический модуль, визуализация, </a:t>
            </a:r>
            <a:r>
              <a:rPr lang="en-US" sz="115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R-пакет</a:t>
            </a:r>
            <a:r>
              <a:rPr lang="en-US" sz="11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документация, </a:t>
            </a:r>
            <a:r>
              <a:rPr lang="en-US" sz="115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</a:t>
            </a:r>
            <a:r>
              <a:rPr lang="en-US" sz="11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и </a:t>
            </a:r>
            <a:r>
              <a:rPr lang="en-US" sz="115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MCP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40921" y="4235137"/>
            <a:ext cx="11526391" cy="1193225"/>
          </a:xfrm>
          <a:custGeom>
            <a:avLst/>
            <a:gdLst/>
            <a:ahLst/>
            <a:cxnLst/>
            <a:rect l="l" t="t" r="r" b="b"/>
            <a:pathLst>
              <a:path w="11526391" h="1193225">
                <a:moveTo>
                  <a:pt x="0" y="0"/>
                </a:moveTo>
                <a:lnTo>
                  <a:pt x="11461456" y="0"/>
                </a:lnTo>
                <a:cubicBezTo>
                  <a:pt x="11497319" y="0"/>
                  <a:pt x="11526391" y="29073"/>
                  <a:pt x="11526391" y="64935"/>
                </a:cubicBezTo>
                <a:lnTo>
                  <a:pt x="11526391" y="1128290"/>
                </a:lnTo>
                <a:cubicBezTo>
                  <a:pt x="11526391" y="1164153"/>
                  <a:pt x="11497319" y="1193225"/>
                  <a:pt x="11461456" y="1193225"/>
                </a:cubicBezTo>
                <a:lnTo>
                  <a:pt x="0" y="1193225"/>
                </a:lnTo>
                <a:lnTo>
                  <a:pt x="0" y="0"/>
                </a:lnTo>
                <a:close/>
              </a:path>
            </a:pathLst>
          </a:custGeom>
          <a:solidFill>
            <a:srgbClr val="2C3036">
              <a:alpha val="70196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340921" y="4235137"/>
            <a:ext cx="32469" cy="1193225"/>
          </a:xfrm>
          <a:custGeom>
            <a:avLst/>
            <a:gdLst/>
            <a:ahLst/>
            <a:cxnLst/>
            <a:rect l="l" t="t" r="r" b="b"/>
            <a:pathLst>
              <a:path w="32469" h="1193225">
                <a:moveTo>
                  <a:pt x="0" y="0"/>
                </a:moveTo>
                <a:lnTo>
                  <a:pt x="32469" y="0"/>
                </a:lnTo>
                <a:lnTo>
                  <a:pt x="32469" y="1193225"/>
                </a:lnTo>
                <a:lnTo>
                  <a:pt x="0" y="11932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1" name="Shape 18"/>
          <p:cNvSpPr/>
          <p:nvPr/>
        </p:nvSpPr>
        <p:spPr>
          <a:xfrm>
            <a:off x="551968" y="4429949"/>
            <a:ext cx="519499" cy="519499"/>
          </a:xfrm>
          <a:custGeom>
            <a:avLst/>
            <a:gdLst/>
            <a:ahLst/>
            <a:cxnLst/>
            <a:rect l="l" t="t" r="r" b="b"/>
            <a:pathLst>
              <a:path w="519499" h="519499">
                <a:moveTo>
                  <a:pt x="97406" y="0"/>
                </a:moveTo>
                <a:lnTo>
                  <a:pt x="422093" y="0"/>
                </a:lnTo>
                <a:cubicBezTo>
                  <a:pt x="475853" y="0"/>
                  <a:pt x="519499" y="43646"/>
                  <a:pt x="519499" y="97406"/>
                </a:cubicBezTo>
                <a:lnTo>
                  <a:pt x="519499" y="422093"/>
                </a:lnTo>
                <a:cubicBezTo>
                  <a:pt x="519499" y="475889"/>
                  <a:pt x="475889" y="519499"/>
                  <a:pt x="422093" y="519499"/>
                </a:cubicBezTo>
                <a:lnTo>
                  <a:pt x="97406" y="519499"/>
                </a:lnTo>
                <a:cubicBezTo>
                  <a:pt x="43646" y="519499"/>
                  <a:pt x="0" y="475853"/>
                  <a:pt x="0" y="422093"/>
                </a:cubicBezTo>
                <a:lnTo>
                  <a:pt x="0" y="97406"/>
                </a:lnTo>
                <a:cubicBezTo>
                  <a:pt x="0" y="43610"/>
                  <a:pt x="43610" y="0"/>
                  <a:pt x="97406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91989" y="4567941"/>
            <a:ext cx="243515" cy="243515"/>
          </a:xfrm>
          <a:custGeom>
            <a:avLst/>
            <a:gdLst/>
            <a:ahLst/>
            <a:cxnLst/>
            <a:rect l="l" t="t" r="r" b="b"/>
            <a:pathLst>
              <a:path w="243515" h="243515">
                <a:moveTo>
                  <a:pt x="106490" y="15220"/>
                </a:moveTo>
                <a:lnTo>
                  <a:pt x="70248" y="15220"/>
                </a:lnTo>
                <a:cubicBezTo>
                  <a:pt x="56265" y="15220"/>
                  <a:pt x="44042" y="24780"/>
                  <a:pt x="40713" y="38335"/>
                </a:cubicBezTo>
                <a:lnTo>
                  <a:pt x="666" y="199996"/>
                </a:lnTo>
                <a:cubicBezTo>
                  <a:pt x="-2901" y="214360"/>
                  <a:pt x="7990" y="228296"/>
                  <a:pt x="22830" y="228296"/>
                </a:cubicBezTo>
                <a:lnTo>
                  <a:pt x="106490" y="228296"/>
                </a:lnTo>
                <a:lnTo>
                  <a:pt x="106490" y="197856"/>
                </a:lnTo>
                <a:cubicBezTo>
                  <a:pt x="106490" y="189438"/>
                  <a:pt x="113292" y="182636"/>
                  <a:pt x="121710" y="182636"/>
                </a:cubicBezTo>
                <a:cubicBezTo>
                  <a:pt x="130128" y="182636"/>
                  <a:pt x="136930" y="189438"/>
                  <a:pt x="136930" y="197856"/>
                </a:cubicBezTo>
                <a:lnTo>
                  <a:pt x="136930" y="228296"/>
                </a:lnTo>
                <a:lnTo>
                  <a:pt x="220686" y="228296"/>
                </a:lnTo>
                <a:cubicBezTo>
                  <a:pt x="235525" y="228296"/>
                  <a:pt x="246417" y="214360"/>
                  <a:pt x="242849" y="199996"/>
                </a:cubicBezTo>
                <a:lnTo>
                  <a:pt x="202850" y="38335"/>
                </a:lnTo>
                <a:cubicBezTo>
                  <a:pt x="199473" y="24780"/>
                  <a:pt x="187298" y="15220"/>
                  <a:pt x="173267" y="15220"/>
                </a:cubicBezTo>
                <a:lnTo>
                  <a:pt x="136930" y="15220"/>
                </a:lnTo>
                <a:lnTo>
                  <a:pt x="136930" y="45659"/>
                </a:lnTo>
                <a:cubicBezTo>
                  <a:pt x="136930" y="54078"/>
                  <a:pt x="130128" y="60879"/>
                  <a:pt x="121710" y="60879"/>
                </a:cubicBezTo>
                <a:cubicBezTo>
                  <a:pt x="113292" y="60879"/>
                  <a:pt x="106490" y="54078"/>
                  <a:pt x="106490" y="45659"/>
                </a:cubicBezTo>
                <a:lnTo>
                  <a:pt x="106490" y="15220"/>
                </a:lnTo>
                <a:close/>
                <a:moveTo>
                  <a:pt x="136930" y="106538"/>
                </a:moveTo>
                <a:lnTo>
                  <a:pt x="136930" y="136977"/>
                </a:lnTo>
                <a:cubicBezTo>
                  <a:pt x="136930" y="145396"/>
                  <a:pt x="130128" y="152197"/>
                  <a:pt x="121710" y="152197"/>
                </a:cubicBezTo>
                <a:cubicBezTo>
                  <a:pt x="113292" y="152197"/>
                  <a:pt x="106490" y="145396"/>
                  <a:pt x="106490" y="136977"/>
                </a:cubicBezTo>
                <a:lnTo>
                  <a:pt x="106490" y="106538"/>
                </a:lnTo>
                <a:cubicBezTo>
                  <a:pt x="106490" y="98120"/>
                  <a:pt x="113292" y="91318"/>
                  <a:pt x="121710" y="91318"/>
                </a:cubicBezTo>
                <a:cubicBezTo>
                  <a:pt x="130128" y="91318"/>
                  <a:pt x="136930" y="98120"/>
                  <a:pt x="136930" y="106538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3" name="Text 20"/>
          <p:cNvSpPr/>
          <p:nvPr/>
        </p:nvSpPr>
        <p:spPr>
          <a:xfrm>
            <a:off x="1233811" y="4429949"/>
            <a:ext cx="10536096" cy="25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Понятный путь реализации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233811" y="4754636"/>
            <a:ext cx="10511744" cy="478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Дальнейшие этапы понятны и реализуемы. У проекта есть практический смысл: он позволяет строить </a:t>
            </a:r>
            <a:r>
              <a:rPr lang="en-US" sz="115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объяснимую карту возможностей</a:t>
            </a:r>
            <a:r>
              <a:rPr lang="en-US" sz="1150" dirty="0">
                <a:solidFill>
                  <a:srgbClr val="8D93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инструментов в терминах MITRE ATT&amp;CK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24687" y="5623174"/>
            <a:ext cx="11542626" cy="8117"/>
          </a:xfrm>
          <a:custGeom>
            <a:avLst/>
            <a:gdLst/>
            <a:ahLst/>
            <a:cxnLst/>
            <a:rect l="l" t="t" r="r" b="b"/>
            <a:pathLst>
              <a:path w="11542626" h="8117">
                <a:moveTo>
                  <a:pt x="0" y="0"/>
                </a:moveTo>
                <a:lnTo>
                  <a:pt x="11542626" y="0"/>
                </a:lnTo>
                <a:lnTo>
                  <a:pt x="11542626" y="8117"/>
                </a:lnTo>
                <a:lnTo>
                  <a:pt x="0" y="8117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328746" y="5826104"/>
            <a:ext cx="11534509" cy="787366"/>
          </a:xfrm>
          <a:custGeom>
            <a:avLst/>
            <a:gdLst/>
            <a:ahLst/>
            <a:cxnLst/>
            <a:rect l="l" t="t" r="r" b="b"/>
            <a:pathLst>
              <a:path w="11534509" h="787366">
                <a:moveTo>
                  <a:pt x="64934" y="0"/>
                </a:moveTo>
                <a:lnTo>
                  <a:pt x="11469575" y="0"/>
                </a:lnTo>
                <a:cubicBezTo>
                  <a:pt x="11505437" y="0"/>
                  <a:pt x="11534509" y="29072"/>
                  <a:pt x="11534509" y="64934"/>
                </a:cubicBezTo>
                <a:lnTo>
                  <a:pt x="11534509" y="722432"/>
                </a:lnTo>
                <a:cubicBezTo>
                  <a:pt x="11534509" y="758294"/>
                  <a:pt x="11505437" y="787366"/>
                  <a:pt x="11469575" y="787366"/>
                </a:cubicBezTo>
                <a:lnTo>
                  <a:pt x="64934" y="787366"/>
                </a:lnTo>
                <a:cubicBezTo>
                  <a:pt x="29072" y="787366"/>
                  <a:pt x="0" y="758294"/>
                  <a:pt x="0" y="722432"/>
                </a:cubicBezTo>
                <a:lnTo>
                  <a:pt x="0" y="64934"/>
                </a:lnTo>
                <a:cubicBezTo>
                  <a:pt x="0" y="29096"/>
                  <a:pt x="29096" y="0"/>
                  <a:pt x="6493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03265" y="6122381"/>
            <a:ext cx="194812" cy="194812"/>
          </a:xfrm>
          <a:custGeom>
            <a:avLst/>
            <a:gdLst/>
            <a:ahLst/>
            <a:cxnLst/>
            <a:rect l="l" t="t" r="r" b="b"/>
            <a:pathLst>
              <a:path w="194812" h="194812">
                <a:moveTo>
                  <a:pt x="191236" y="106005"/>
                </a:moveTo>
                <a:cubicBezTo>
                  <a:pt x="195992" y="101249"/>
                  <a:pt x="195992" y="93525"/>
                  <a:pt x="191236" y="88769"/>
                </a:cubicBezTo>
                <a:lnTo>
                  <a:pt x="130357" y="27890"/>
                </a:lnTo>
                <a:cubicBezTo>
                  <a:pt x="125601" y="23134"/>
                  <a:pt x="117877" y="23134"/>
                  <a:pt x="113120" y="27890"/>
                </a:cubicBezTo>
                <a:cubicBezTo>
                  <a:pt x="108364" y="32646"/>
                  <a:pt x="108364" y="40370"/>
                  <a:pt x="113120" y="45126"/>
                </a:cubicBezTo>
                <a:lnTo>
                  <a:pt x="153224" y="85230"/>
                </a:lnTo>
                <a:lnTo>
                  <a:pt x="12176" y="85230"/>
                </a:lnTo>
                <a:cubicBezTo>
                  <a:pt x="5441" y="85230"/>
                  <a:pt x="0" y="90671"/>
                  <a:pt x="0" y="97406"/>
                </a:cubicBezTo>
                <a:cubicBezTo>
                  <a:pt x="0" y="104141"/>
                  <a:pt x="5441" y="109582"/>
                  <a:pt x="12176" y="109582"/>
                </a:cubicBezTo>
                <a:lnTo>
                  <a:pt x="153224" y="109582"/>
                </a:lnTo>
                <a:lnTo>
                  <a:pt x="113120" y="149686"/>
                </a:lnTo>
                <a:cubicBezTo>
                  <a:pt x="108364" y="154442"/>
                  <a:pt x="108364" y="162166"/>
                  <a:pt x="113120" y="166922"/>
                </a:cubicBezTo>
                <a:cubicBezTo>
                  <a:pt x="117877" y="171678"/>
                  <a:pt x="125601" y="171678"/>
                  <a:pt x="130357" y="166922"/>
                </a:cubicBezTo>
                <a:lnTo>
                  <a:pt x="191236" y="106043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8" name="Text 25"/>
          <p:cNvSpPr/>
          <p:nvPr/>
        </p:nvSpPr>
        <p:spPr>
          <a:xfrm>
            <a:off x="834420" y="5992506"/>
            <a:ext cx="10933838" cy="454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Следующий шаг:</a:t>
            </a:r>
            <a:r>
              <a:rPr lang="en-US" sz="115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Поднять ETL-модуль и показать воспроизводимый сбор данных из выбранных источников с последующей нормализацией и подготовкой к MITRE-классификации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1305</Words>
  <Application>Microsoft Office PowerPoint</Application>
  <PresentationFormat>Произвольный</PresentationFormat>
  <Paragraphs>346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MiSans</vt:lpstr>
      <vt:lpstr>Liter</vt:lpstr>
      <vt:lpstr>Calibri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Автоматический мониторинг и классификация инструментов пентеста</dc:title>
  <dc:subject>Автоматический мониторинг и классификация инструментов пентеста</dc:subject>
  <dc:creator>Kimi</dc:creator>
  <cp:lastModifiedBy>Nikita Kolomytsev</cp:lastModifiedBy>
  <cp:revision>3</cp:revision>
  <dcterms:created xsi:type="dcterms:W3CDTF">2026-03-13T21:21:15Z</dcterms:created>
  <dcterms:modified xsi:type="dcterms:W3CDTF">2026-03-13T22:42:48Z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{"Label":"Автоматический мониторинг и классификация инструментов пентеста","ContentProducer":"001191110108MACG2KBH8F10000","ProduceID":"19ce8e86-82b2-82f0-8000-00008320177f","ReservedCode1":"","ContentPropagator":"001191110108MACG2KBH8F20000","PropagateID</vt:lpwstr>
  </property>
</Properties>
</file>