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5.xml" ContentType="application/vnd.openxmlformats-officedocument.drawingml.chart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32512000" cy="18288000"/>
  <p:notesSz cx="18288000" cy="32512000"/>
  <p:embeddedFontLst>
    <p:embeddedFont>
      <p:font typeface="Liter" panose="020B0604020202020204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6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EC0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E43-4F66-97B6-87FCFCE4944C}"/>
              </c:ext>
            </c:extLst>
          </c:dPt>
          <c:dPt>
            <c:idx val="1"/>
            <c:bubble3D val="0"/>
            <c:spPr>
              <a:solidFill>
                <a:srgbClr val="8DAA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43-4F66-97B6-87FCFCE4944C}"/>
              </c:ext>
            </c:extLst>
          </c:dPt>
          <c:dPt>
            <c:idx val="2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43-4F66-97B6-87FCFCE4944C}"/>
              </c:ext>
            </c:extLst>
          </c:dPt>
          <c:dPt>
            <c:idx val="3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E43-4F66-97B6-87FCFCE4944C}"/>
              </c:ext>
            </c:extLst>
          </c:dPt>
          <c:dPt>
            <c:idx val="4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E43-4F66-97B6-87FCFCE4944C}"/>
              </c:ext>
            </c:extLst>
          </c:dPt>
          <c:dPt>
            <c:idx val="5"/>
            <c:bubble3D val="0"/>
            <c:spPr>
              <a:solidFill>
                <a:srgbClr val="9BBB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E43-4F66-97B6-87FCFCE4944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43-4F66-97B6-87FCFCE4944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43-4F66-97B6-87FCFCE4944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43-4F66-97B6-87FCFCE4944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E43-4F66-97B6-87FCFCE4944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E43-4F66-97B6-87FCFCE4944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E43-4F66-97B6-87FCFCE4944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Discovery</c:v>
                </c:pt>
                <c:pt idx="1">
                  <c:v>Pre-LLM</c:v>
                </c:pt>
                <c:pt idx="2">
                  <c:v>LLM оценка</c:v>
                </c:pt>
                <c:pt idx="3">
                  <c:v>MITRE mapping</c:v>
                </c:pt>
                <c:pt idx="4">
                  <c:v>Refinement</c:v>
                </c:pt>
                <c:pt idx="5">
                  <c:v>Визуализация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10</c:v>
                </c:pt>
                <c:pt idx="2">
                  <c:v>20</c:v>
                </c:pt>
                <c:pt idx="3">
                  <c:v>20</c:v>
                </c:pt>
                <c:pt idx="4">
                  <c:v>15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E43-4F66-97B6-87FCFCE494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Предыдущая версия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Инструменты</c:v>
                </c:pt>
                <c:pt idx="1">
                  <c:v>MITRE связи</c:v>
                </c:pt>
                <c:pt idx="2">
                  <c:v>Техники</c:v>
                </c:pt>
                <c:pt idx="3">
                  <c:v>Confidence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120</c:v>
                </c:pt>
                <c:pt idx="2">
                  <c:v>35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58-43BD-B3C2-FD7FCBA4E1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Новая версия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Инструменты</c:v>
                </c:pt>
                <c:pt idx="1">
                  <c:v>MITRE связи</c:v>
                </c:pt>
                <c:pt idx="2">
                  <c:v>Техники</c:v>
                </c:pt>
                <c:pt idx="3">
                  <c:v>Confidence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</c:v>
                </c:pt>
                <c:pt idx="1">
                  <c:v>210</c:v>
                </c:pt>
                <c:pt idx="2">
                  <c:v>68</c:v>
                </c:pt>
                <c:pt idx="3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58-43BD-B3C2-FD7FCBA4E1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800">
              <a:solidFill>
                <a:srgbClr val="AAAAA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Инструментов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7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Reconnaissance</c:v>
                </c:pt>
                <c:pt idx="1">
                  <c:v>Initial Access</c:v>
                </c:pt>
                <c:pt idx="2">
                  <c:v>Execution</c:v>
                </c:pt>
                <c:pt idx="3">
                  <c:v>Persistence</c:v>
                </c:pt>
                <c:pt idx="4">
                  <c:v>C2</c:v>
                </c:pt>
                <c:pt idx="5">
                  <c:v>Exfiltration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32</c:v>
                </c:pt>
                <c:pt idx="2">
                  <c:v>28</c:v>
                </c:pt>
                <c:pt idx="3">
                  <c:v>18</c:v>
                </c:pt>
                <c:pt idx="4">
                  <c:v>38</c:v>
                </c:pt>
                <c:pt idx="5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88-440F-927F-8422F6FD4E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 #1</c:v>
                </c:pt>
              </c:strCache>
            </c:strRef>
          </c:tx>
          <c:spPr>
            <a:solidFill>
              <a:srgbClr val="5A6C7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7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New tools</c:v>
                </c:pt>
                <c:pt idx="1">
                  <c:v>MITRE links</c:v>
                </c:pt>
                <c:pt idx="2">
                  <c:v>Errors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45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73-49CB-9DDF-A6F2F7F3A9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 #2</c:v>
                </c:pt>
              </c:strCache>
            </c:strRef>
          </c:tx>
          <c:spPr>
            <a:solidFill>
              <a:srgbClr val="7EC0D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7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New tools</c:v>
                </c:pt>
                <c:pt idx="1">
                  <c:v>MITRE links</c:v>
                </c:pt>
                <c:pt idx="2">
                  <c:v>Errors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</c:v>
                </c:pt>
                <c:pt idx="1">
                  <c:v>78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73-49CB-9DDF-A6F2F7F3A9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5555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87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Модерация Queue</c:v>
                </c:pt>
                <c:pt idx="1">
                  <c:v>DuckDB решения</c:v>
                </c:pt>
                <c:pt idx="2">
                  <c:v>LLM Observability</c:v>
                </c:pt>
                <c:pt idx="3">
                  <c:v>Подсказки метрик</c:v>
                </c:pt>
                <c:pt idx="4">
                  <c:v>Новые источники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85</c:v>
                </c:pt>
                <c:pt idx="2">
                  <c:v>75</c:v>
                </c:pt>
                <c:pt idx="3">
                  <c:v>70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F1-4F02-8A0C-04AA6F8E5C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12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7620000"/>
            <a:ext cx="2032000" cy="101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Shape 1"/>
          <p:cNvSpPr/>
          <p:nvPr/>
        </p:nvSpPr>
        <p:spPr>
          <a:xfrm>
            <a:off x="1659509" y="2032000"/>
            <a:ext cx="27093291" cy="541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37589" y="1971040"/>
            <a:ext cx="27337131" cy="554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60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Автоматический мониторинг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60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 классификация инструментов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60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пентеста по </a:t>
            </a:r>
            <a:r>
              <a:rPr lang="en-US" sz="9600" b="1" kern="0" spc="-16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 ATT&amp;CK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59509" y="7958709"/>
            <a:ext cx="13546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7897749"/>
            <a:ext cx="1379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27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Этап 3: Пререлиз-чекап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9509" y="9144000"/>
            <a:ext cx="2032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37589" y="9083040"/>
            <a:ext cx="2056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Команда: Новосельский Д • Коломийцев Н • Толмачёв Н • Ширинов А • Игнатов 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9509" y="16594709"/>
            <a:ext cx="6773291" cy="33909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0" name="Shape 8"/>
          <p:cNvSpPr/>
          <p:nvPr/>
        </p:nvSpPr>
        <p:spPr>
          <a:xfrm>
            <a:off x="1659509" y="16764000"/>
            <a:ext cx="10160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37589" y="16703040"/>
            <a:ext cx="10403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Проектная презентация | 202</a:t>
            </a:r>
            <a:r>
              <a:rPr lang="ru-RU" sz="24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13546709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13790549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Структура презентации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3386709"/>
            <a:ext cx="270891" cy="2708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6" name="Shape 4"/>
          <p:cNvSpPr/>
          <p:nvPr/>
        </p:nvSpPr>
        <p:spPr>
          <a:xfrm>
            <a:off x="2201291" y="325120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079371" y="3190240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Ключевые улучшения новой версии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59509" y="4402709"/>
            <a:ext cx="270891" cy="2708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Shape 7"/>
          <p:cNvSpPr/>
          <p:nvPr/>
        </p:nvSpPr>
        <p:spPr>
          <a:xfrm>
            <a:off x="2201291" y="426720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079371" y="4206240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Сбор данных и pre-LLM логика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59509" y="5418709"/>
            <a:ext cx="270891" cy="2708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Shape 10"/>
          <p:cNvSpPr/>
          <p:nvPr/>
        </p:nvSpPr>
        <p:spPr>
          <a:xfrm>
            <a:off x="2201291" y="528320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079371" y="5222240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Pipeline и обработка данных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59509" y="6434709"/>
            <a:ext cx="270891" cy="2708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5" name="Shape 13"/>
          <p:cNvSpPr/>
          <p:nvPr/>
        </p:nvSpPr>
        <p:spPr>
          <a:xfrm>
            <a:off x="2201291" y="629920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079371" y="6238240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LLM-оценка и MITRE-маппинг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59509" y="7450709"/>
            <a:ext cx="270891" cy="2708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8" name="Shape 16"/>
          <p:cNvSpPr/>
          <p:nvPr/>
        </p:nvSpPr>
        <p:spPr>
          <a:xfrm>
            <a:off x="2201291" y="731520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079371" y="7254240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Метрики качества и хранилище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659509" y="8466709"/>
            <a:ext cx="270891" cy="2708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1" name="Shape 19"/>
          <p:cNvSpPr/>
          <p:nvPr/>
        </p:nvSpPr>
        <p:spPr>
          <a:xfrm>
            <a:off x="2201291" y="833120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079371" y="8270240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Веб-интерфейс и визуализация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59509" y="9482709"/>
            <a:ext cx="270891" cy="2708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4" name="Shape 22"/>
          <p:cNvSpPr/>
          <p:nvPr/>
        </p:nvSpPr>
        <p:spPr>
          <a:xfrm>
            <a:off x="2201291" y="9347200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079371" y="9286240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Рекомендации и дальнейшие шаги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6933291" y="3048000"/>
            <a:ext cx="13885291" cy="11853291"/>
          </a:xfrm>
          <a:prstGeom prst="rect">
            <a:avLst/>
          </a:prstGeom>
          <a:solidFill>
            <a:srgbClr val="1A1A1A"/>
          </a:solidFill>
          <a:ln w="25400">
            <a:solidFill>
              <a:srgbClr val="7EC0DA"/>
            </a:solidFill>
            <a:prstDash val="solid"/>
          </a:ln>
        </p:spPr>
      </p:sp>
      <p:graphicFrame>
        <p:nvGraphicFramePr>
          <p:cNvPr id="27" name="Chart 0"/>
          <p:cNvGraphicFramePr/>
          <p:nvPr/>
        </p:nvGraphicFramePr>
        <p:xfrm>
          <a:off x="17272000" y="3556000"/>
          <a:ext cx="13208000" cy="1079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16933291" y="8805291"/>
            <a:ext cx="13885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6811371" y="8744331"/>
            <a:ext cx="14129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улучшения новой версии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3048000"/>
            <a:ext cx="13885291" cy="2032000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8091" y="3556000"/>
            <a:ext cx="609600" cy="609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7" name="Shape 5"/>
          <p:cNvSpPr/>
          <p:nvPr/>
        </p:nvSpPr>
        <p:spPr>
          <a:xfrm>
            <a:off x="2878709" y="3302000"/>
            <a:ext cx="12192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56789" y="3241040"/>
            <a:ext cx="1243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 offensive security инструментов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Улучшен поиск новых утилит, ослаблены фильтры по звёздам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9509" y="5418709"/>
            <a:ext cx="13885291" cy="2032000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8091" y="5926709"/>
            <a:ext cx="609600" cy="609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1" name="Shape 9"/>
          <p:cNvSpPr/>
          <p:nvPr/>
        </p:nvSpPr>
        <p:spPr>
          <a:xfrm>
            <a:off x="2878709" y="5672709"/>
            <a:ext cx="12192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56789" y="5611749"/>
            <a:ext cx="1243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Строгая LLM-оценка и MITRE confidence gate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Консервативный промпт, threshold confidence ≥ 0.7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59509" y="7789291"/>
            <a:ext cx="13885291" cy="2032000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59991" y="8297291"/>
            <a:ext cx="685800" cy="609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5" name="Shape 13"/>
          <p:cNvSpPr/>
          <p:nvPr/>
        </p:nvSpPr>
        <p:spPr>
          <a:xfrm>
            <a:off x="2878709" y="8043291"/>
            <a:ext cx="12192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56789" y="7982331"/>
            <a:ext cx="1243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LLM output через function calling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Предсказуемая JSON-схема вместо свободного текста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59509" y="10160000"/>
            <a:ext cx="13885291" cy="2032000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36191" y="10668000"/>
            <a:ext cx="533400" cy="609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8709" y="10414000"/>
            <a:ext cx="12192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56789" y="10353040"/>
            <a:ext cx="1243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 — основное хранилище аналитики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Pipeline, assessments, mappings, history — всё в DuckDB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256000" y="3048000"/>
            <a:ext cx="14562709" cy="9144000"/>
          </a:xfrm>
          <a:prstGeom prst="rect">
            <a:avLst/>
          </a:prstGeom>
          <a:solidFill>
            <a:srgbClr val="1A1A1A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256000" y="7281291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6134080" y="7220331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16510000" y="3556000"/>
          <a:ext cx="13716000" cy="81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1659509" y="12869291"/>
            <a:ext cx="29125291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537589" y="12808331"/>
            <a:ext cx="29369131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Главный фокус новой версии — качество данных и удобство анализа. Система стала лучше находить новые инструменты, которые ещё не набрали популярность, но уже могут быть полезны для пентеста.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Сбор данных и pre-LLM логика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2878709"/>
            <a:ext cx="14562709" cy="711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15975" y="4161810"/>
            <a:ext cx="14806549" cy="723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Источники данных: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GitHub API — поисковые срезы по свежести, языкам, query-группам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Packet Storm — exploit-related материалы и ссылки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RSS-ленты — новости и анонсы новых инструментов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2100"/>
              </a:spcBef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Pre-LLM фильтрация: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Отсечение документации, cheat sheets, walkthroughs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Pre-LLM score: источник, свежесть, tool-сигналы, keywords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Только релевантные кандидаты попадают в LLM assessment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64639" y="15798375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90154" y="12997581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27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Схема потока данных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12074" y="13905250"/>
            <a:ext cx="3048000" cy="1016000"/>
          </a:xfrm>
          <a:prstGeom prst="rect">
            <a:avLst/>
          </a:prstGeom>
          <a:solidFill>
            <a:srgbClr val="3D3D3D"/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2074" y="1390525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90154" y="13844290"/>
            <a:ext cx="3291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0074" y="1441325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676074" y="13905250"/>
            <a:ext cx="3048000" cy="1016000"/>
          </a:xfrm>
          <a:prstGeom prst="rect">
            <a:avLst/>
          </a:prstGeom>
          <a:solidFill>
            <a:srgbClr val="3D3D3D"/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76074" y="1390525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554154" y="13844290"/>
            <a:ext cx="3291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candidates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24074" y="1441325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740074" y="13905250"/>
            <a:ext cx="3048000" cy="1016000"/>
          </a:xfrm>
          <a:prstGeom prst="rect">
            <a:avLst/>
          </a:prstGeom>
          <a:solidFill>
            <a:srgbClr val="3D3D3D"/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40074" y="1390525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18154" y="13844290"/>
            <a:ext cx="3291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88074" y="1441325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3804074" y="13905250"/>
            <a:ext cx="3048000" cy="1016000"/>
          </a:xfrm>
          <a:prstGeom prst="rect">
            <a:avLst/>
          </a:prstGeom>
          <a:solidFill>
            <a:srgbClr val="3D3D3D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04074" y="1390525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682154" y="13844290"/>
            <a:ext cx="3291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Pre-LLM score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6852074" y="1441325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7868074" y="13905250"/>
            <a:ext cx="4064000" cy="1016000"/>
          </a:xfrm>
          <a:prstGeom prst="rect">
            <a:avLst/>
          </a:prstGeom>
          <a:solidFill>
            <a:srgbClr val="7EC0DA"/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868074" y="13905250"/>
            <a:ext cx="4064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assessment queue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7793589" y="11115040"/>
            <a:ext cx="4307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assessment queue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6933291" y="6096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6811371" y="6035040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37652" y="15939788"/>
            <a:ext cx="29369131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Сбор не завязан только на популярность. Новые offensive tools часто появляются с 0 звёзд и коротким README. Pre-LLM слой защищает от лишних затрат на API, отсекая очевидный мусор.</a:t>
            </a:r>
            <a:endParaRPr lang="en-US" sz="160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D0B4DCF9-807F-F624-AA52-9FC58DD9E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8933" y="2346960"/>
            <a:ext cx="8829372" cy="4883556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D3F7C24-27B8-B72D-E8A0-591911140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8932" y="7230516"/>
            <a:ext cx="8829373" cy="53319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данные идут по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2878709"/>
            <a:ext cx="29125291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2817749"/>
            <a:ext cx="29369131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— конвейер обработки: на входе разные источники, на выходе — подготовленные данные для веб-интерфейса.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9509" y="4741291"/>
            <a:ext cx="4741291" cy="1693291"/>
          </a:xfrm>
          <a:prstGeom prst="rect">
            <a:avLst/>
          </a:prstGeom>
          <a:solidFill>
            <a:srgbClr val="3D3D3D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2000" y="4995291"/>
            <a:ext cx="474091" cy="541909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9" name="Shape 7"/>
          <p:cNvSpPr/>
          <p:nvPr/>
        </p:nvSpPr>
        <p:spPr>
          <a:xfrm>
            <a:off x="2709291" y="4910709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587371" y="4849749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Сбор raw-кандидатов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558800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416800" y="4741291"/>
            <a:ext cx="4741291" cy="1693291"/>
          </a:xfrm>
          <a:prstGeom prst="rect">
            <a:avLst/>
          </a:prstGeom>
          <a:solidFill>
            <a:srgbClr val="3D3D3D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55509" y="4995291"/>
            <a:ext cx="541909" cy="541909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4" name="Shape 12"/>
          <p:cNvSpPr/>
          <p:nvPr/>
        </p:nvSpPr>
        <p:spPr>
          <a:xfrm>
            <a:off x="8466709" y="4910709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44789" y="4849749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Единая структура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158091" y="558800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3174091" y="4741291"/>
            <a:ext cx="4741291" cy="1693291"/>
          </a:xfrm>
          <a:prstGeom prst="rect">
            <a:avLst/>
          </a:prstGeom>
          <a:solidFill>
            <a:srgbClr val="3D3D3D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45109" y="4995291"/>
            <a:ext cx="677291" cy="541909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9" name="Shape 17"/>
          <p:cNvSpPr/>
          <p:nvPr/>
        </p:nvSpPr>
        <p:spPr>
          <a:xfrm>
            <a:off x="14224000" y="4910709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4102080" y="4849749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LLM-оценка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7915509" y="558800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8931509" y="4741291"/>
            <a:ext cx="4741291" cy="1862709"/>
          </a:xfrm>
          <a:prstGeom prst="rect">
            <a:avLst/>
          </a:prstGeom>
          <a:solidFill>
            <a:srgbClr val="3D3D3D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70091" y="4995291"/>
            <a:ext cx="541909" cy="541909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4" name="Shape 22"/>
          <p:cNvSpPr/>
          <p:nvPr/>
        </p:nvSpPr>
        <p:spPr>
          <a:xfrm>
            <a:off x="19981291" y="4910709"/>
            <a:ext cx="3386709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9859371" y="4849749"/>
            <a:ext cx="3630549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refine_mitre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Доп. MITRE-кандидаты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3672800" y="5588000"/>
            <a:ext cx="1016000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4688800" y="4741291"/>
            <a:ext cx="4741291" cy="1693291"/>
          </a:xfrm>
          <a:prstGeom prst="rect">
            <a:avLst/>
          </a:prstGeom>
          <a:solidFill>
            <a:srgbClr val="7EC0DA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027509" y="4995291"/>
            <a:ext cx="541909" cy="541909"/>
          </a:xfrm>
          <a:prstGeom prst="rect">
            <a:avLst/>
          </a:prstGeom>
          <a:solidFill>
            <a:srgbClr val="292929"/>
          </a:solidFill>
          <a:ln/>
        </p:spPr>
      </p:sp>
      <p:sp>
        <p:nvSpPr>
          <p:cNvPr id="29" name="Shape 27"/>
          <p:cNvSpPr/>
          <p:nvPr/>
        </p:nvSpPr>
        <p:spPr>
          <a:xfrm>
            <a:off x="25738709" y="4910709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5616789" y="4849749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Слой для Shiny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659509" y="7112000"/>
            <a:ext cx="29125291" cy="355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537589" y="7051040"/>
            <a:ext cx="29369131" cy="367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GitHub API, Packet Storm, RSS дают сырые записи в разных форматах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приведение к общему виду: единые поля, типы, структура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LLM определяет: инструмент ли это, пишет описание, оценивает confidence, предлагает MITRE-связи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refine_mitre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retrieval-first refinement ищет пропущенные техники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сборка данных для Shiny: инструменты, MITRE matrix, метрики, сравнения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659509" y="13377291"/>
            <a:ext cx="29125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537589" y="13316331"/>
            <a:ext cx="29369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 Место для скриншота: вкладка Pipeline — карточки Discovery, LLM Status, Coverage, Post-run ]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67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</a:t>
            </a:r>
            <a:endParaRPr lang="en-US" sz="1600" dirty="0"/>
          </a:p>
        </p:txBody>
      </p:sp>
      <p:pic>
        <p:nvPicPr>
          <p:cNvPr id="35" name="Image 0" descr="https://kimi-img.moonshot.cn/pub/slides/okc/noubtcpegmt42/mnt/agents/output/converted/images/im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390" y="11010265"/>
            <a:ext cx="14744319" cy="6353810"/>
          </a:xfrm>
          <a:prstGeom prst="rect">
            <a:avLst/>
          </a:prstGeom>
        </p:spPr>
      </p:pic>
      <p:pic>
        <p:nvPicPr>
          <p:cNvPr id="36" name="Image 1" descr="https://kimi-img.moonshot.cn/pub/slides/okc/noubtcpegmt42/mnt/agents/output/converted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0709" y="11006709"/>
            <a:ext cx="11241913" cy="635749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мы общаемся с LLM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2878709"/>
            <a:ext cx="14562709" cy="677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4037252"/>
            <a:ext cx="14806549" cy="689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DeepSeek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как OpenAI-compatible provider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Запросы через function calling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Ответ — строгая JSON-схема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Провайдер заменяемый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output поля: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is_relevant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релевантность записи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summary_ru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русское описание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уверенность модели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mitre_classifications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связи с техниками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7589" y="13258432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15669" y="13197472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27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Поток данных через LLM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37589" y="14274432"/>
            <a:ext cx="3725291" cy="1016000"/>
          </a:xfrm>
          <a:prstGeom prst="rect">
            <a:avLst/>
          </a:prstGeom>
          <a:solidFill>
            <a:srgbClr val="3D3D3D"/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7589" y="14274432"/>
            <a:ext cx="3725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15669" y="14213472"/>
            <a:ext cx="39691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Normalized candidate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62880" y="14782432"/>
            <a:ext cx="846709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109589" y="14274432"/>
            <a:ext cx="3725291" cy="1016000"/>
          </a:xfrm>
          <a:prstGeom prst="rect">
            <a:avLst/>
          </a:prstGeom>
          <a:solidFill>
            <a:srgbClr val="7EC0DA"/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9589" y="14274432"/>
            <a:ext cx="3725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87669" y="14213472"/>
            <a:ext cx="39691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function call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34880" y="14782432"/>
            <a:ext cx="846709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681589" y="14274432"/>
            <a:ext cx="3048000" cy="1016000"/>
          </a:xfrm>
          <a:prstGeom prst="rect">
            <a:avLst/>
          </a:prstGeom>
          <a:solidFill>
            <a:srgbClr val="3D3D3D"/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81589" y="14274432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559669" y="14213472"/>
            <a:ext cx="3291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JSON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29589" y="14782432"/>
            <a:ext cx="846709" cy="0"/>
          </a:xfrm>
          <a:prstGeom prst="straightConnector1">
            <a:avLst/>
          </a:prstGeom>
          <a:noFill/>
          <a:ln w="254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4576171" y="14274432"/>
            <a:ext cx="3725291" cy="1016000"/>
          </a:xfrm>
          <a:prstGeom prst="rect">
            <a:avLst/>
          </a:prstGeom>
          <a:solidFill>
            <a:srgbClr val="3D3D3D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576171" y="14274432"/>
            <a:ext cx="3725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454251" y="14213472"/>
            <a:ext cx="39691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table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8301589" y="14782432"/>
            <a:ext cx="846709" cy="0"/>
          </a:xfrm>
          <a:prstGeom prst="straightConnector1">
            <a:avLst/>
          </a:prstGeom>
          <a:noFill/>
          <a:ln w="25400">
            <a:solidFill>
              <a:srgbClr val="9BBB59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9148171" y="14274432"/>
            <a:ext cx="4064000" cy="1016000"/>
          </a:xfrm>
          <a:prstGeom prst="rect">
            <a:avLst/>
          </a:prstGeom>
          <a:solidFill>
            <a:srgbClr val="3D3D3D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148171" y="14274432"/>
            <a:ext cx="4064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9026251" y="14213472"/>
            <a:ext cx="4307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 mappings table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537589" y="15629141"/>
            <a:ext cx="6773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415669" y="15568181"/>
            <a:ext cx="701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← Все таблицы в DuckDB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6933291" y="5418709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6811371" y="5357749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537652" y="12696859"/>
            <a:ext cx="29125291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415669" y="16533685"/>
            <a:ext cx="29369131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не жёстко привязана к одному поставщику. При необходимости можно заменить provider на любой OpenAI-compatible endpoint.</a:t>
            </a:r>
            <a:endParaRPr lang="en-US" sz="1600" dirty="0"/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74B2EF69-C9A4-9530-72C6-0E043938F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3835" y="2346959"/>
            <a:ext cx="12096006" cy="108098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output и MITRE-маппинг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2878709"/>
            <a:ext cx="14562709" cy="846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2817749"/>
            <a:ext cx="14806549" cy="858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возвращает LLM: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Релевантность (is_relevant)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Тип сущности (tool, framework, scanner)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Русское описание (summary_ru)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Confidence score (0.0 – 1.0)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MITRE classifications — массив связей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2100"/>
              </a:spcBef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Принципы MITRE-маппинга: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Техника назначается только при явных признаках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Лучше пустой список, чем угадывание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Confidence threshold для финальной матрицы: </a:t>
            </a:r>
            <a:r>
              <a:rPr lang="en-US" sz="3200" b="1" dirty="0">
                <a:solidFill>
                  <a:srgbClr val="F796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0.7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Retrieval-first refinement — предложения для review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6933291" y="6096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6811371" y="6035040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 Место для скншота: MITRE → confidence slider и метрики ]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6933291" y="16256000"/>
            <a:ext cx="14562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415669" y="13577964"/>
            <a:ext cx="14806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может начать угадывать общие техники (например, Reconnaissance). Строгий промпт и confidence gate защищают от этого.</a:t>
            </a:r>
            <a:endParaRPr lang="en-US" sz="1600" dirty="0"/>
          </a:p>
        </p:txBody>
      </p:sp>
      <p:pic>
        <p:nvPicPr>
          <p:cNvPr id="12" name="Image 0" descr="https://kimi-img.moonshot.cn/pub/slides/okc/noubtcpegmt42/mnt/agents/output/converted/images/imag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291" y="2345817"/>
            <a:ext cx="15011273" cy="5391785"/>
          </a:xfrm>
          <a:prstGeom prst="rect">
            <a:avLst/>
          </a:prstGeom>
        </p:spPr>
      </p:pic>
      <p:pic>
        <p:nvPicPr>
          <p:cNvPr id="13" name="Image 1" descr="https://kimi-img.moonshot.cn/pub/slides/okc/noubtcpegmt42/mnt/agents/output/converted/images/image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3291" y="7737602"/>
            <a:ext cx="15011273" cy="70148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3706709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3950549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Метрики качества: pre-LLM и post-LLM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59509" y="3048000"/>
          <a:ext cx="14562709" cy="5418708"/>
        </p:xfrm>
        <a:graphic>
          <a:graphicData uri="http://schemas.openxmlformats.org/drawingml/2006/table">
            <a:tbl>
              <a:tblPr/>
              <a:tblGrid>
                <a:gridCol w="5096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6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0158"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Метрика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Что измеряет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29292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Этап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158"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Pre-LLM score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Источник, свежесть, tool-сигналы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Pre-LLM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158"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Confidence score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Уверенность LLM-оценки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Post-LLM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158"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Detail score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Полнота и полезность описания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Post-LLM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038"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MITRE score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Количество и качество связей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Post-LLM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2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9038"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Entity priority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Приоритет типа сущности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7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Composite</a:t>
                      </a:r>
                      <a:endParaRPr lang="en-US" sz="267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3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59509" y="8974709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537589" y="8913749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27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Composite score (итоговый ranking)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659509" y="9990709"/>
            <a:ext cx="14562709" cy="2370709"/>
          </a:xfrm>
          <a:prstGeom prst="rect">
            <a:avLst/>
          </a:prstGeom>
          <a:solidFill>
            <a:srgbClr val="3D3D3D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5" name="Shape 6"/>
          <p:cNvSpPr/>
          <p:nvPr/>
        </p:nvSpPr>
        <p:spPr>
          <a:xfrm>
            <a:off x="1998091" y="10160000"/>
            <a:ext cx="13885291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876171" y="10099040"/>
            <a:ext cx="14129131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visualization_score =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pre_llm_score + confidence_score + detail_score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mitre_score + entity_priority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6933291" y="6096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6933291" y="10498709"/>
            <a:ext cx="14562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6811371" y="10437749"/>
            <a:ext cx="14806549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 верху рейтинга оказываются не просто популярные репозитории, а инструменты, которые выглядят полезными, понятными и хорошо размеченными.</a:t>
            </a:r>
            <a:endParaRPr lang="en-US" sz="1600" dirty="0"/>
          </a:p>
        </p:txBody>
      </p:sp>
      <p:pic>
        <p:nvPicPr>
          <p:cNvPr id="14" name="Image 0" descr="https://kimi-img.moonshot.cn/pub/slides/okc/noubtcpegmt42/mnt/agents/output/converted/images/imag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1782" y="2996946"/>
            <a:ext cx="15155418" cy="700925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DuckDB: основное хранилище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3539109"/>
            <a:ext cx="14562709" cy="778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3478149"/>
            <a:ext cx="14806549" cy="791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 — primary source of truth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Таблицы pipeline: candidates, queue, status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Результаты LLM assessment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MITRE mappings и refinement queue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Visualization layer для Shiny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История запусков (run_id)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Run comparison между запусками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2100"/>
              </a:spcBef>
            </a:pPr>
            <a:r>
              <a:rPr lang="en-US" sz="3200" b="1" dirty="0">
                <a:solidFill>
                  <a:srgbClr val="F796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RDS — вспомогательный кэш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Быстрый локальный cache для R-операций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Не основной слой архитектуры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00277" y="13462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78357" y="13401040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27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хранения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186" y="14478000"/>
            <a:ext cx="3386709" cy="1354709"/>
          </a:xfrm>
          <a:prstGeom prst="rect">
            <a:avLst/>
          </a:prstGeom>
          <a:solidFill>
            <a:srgbClr val="3D3D3D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186" y="14478000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12266" y="14417040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13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20768" y="15155291"/>
            <a:ext cx="1354709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975477" y="14478000"/>
            <a:ext cx="4064000" cy="1354709"/>
          </a:xfrm>
          <a:prstGeom prst="rect">
            <a:avLst/>
          </a:prstGeom>
          <a:solidFill>
            <a:srgbClr val="7EC0DA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75477" y="14478000"/>
            <a:ext cx="4064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53557" y="14417040"/>
            <a:ext cx="4307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13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 tables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9477" y="15155291"/>
            <a:ext cx="1354709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1394186" y="14478000"/>
            <a:ext cx="4402709" cy="1354709"/>
          </a:xfrm>
          <a:prstGeom prst="rect">
            <a:avLst/>
          </a:prstGeom>
          <a:solidFill>
            <a:srgbClr val="3D3D3D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94186" y="14478000"/>
            <a:ext cx="4402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272266" y="14417040"/>
            <a:ext cx="4646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Shiny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13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reads prepared tables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5762986" y="15155291"/>
            <a:ext cx="1354709" cy="0"/>
          </a:xfrm>
          <a:prstGeom prst="straightConnector1">
            <a:avLst/>
          </a:prstGeom>
          <a:noFill/>
          <a:ln w="38100">
            <a:solidFill>
              <a:srgbClr val="9BBB59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7151477" y="14478000"/>
            <a:ext cx="4402709" cy="1354709"/>
          </a:xfrm>
          <a:prstGeom prst="rect">
            <a:avLst/>
          </a:prstGeom>
          <a:solidFill>
            <a:srgbClr val="3D3D3D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117568" y="14478000"/>
            <a:ext cx="4402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6995648" y="14417040"/>
            <a:ext cx="4646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13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metrics / tools / MITRE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6933291" y="6096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25" name="Image 0" descr="https://kimi-img.moonshot.cn/pub/slides/okc/noubtcpegmt42/mnt/agents/output/converted/images/imag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3012" y="1970913"/>
            <a:ext cx="14066266" cy="1084465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Overview: главная картина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2878709"/>
            <a:ext cx="29125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2817749"/>
            <a:ext cx="29369131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27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метрики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9509" y="4064000"/>
            <a:ext cx="6773291" cy="2370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59991" y="4402709"/>
            <a:ext cx="685800" cy="609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9" name="Shape 7"/>
          <p:cNvSpPr/>
          <p:nvPr/>
        </p:nvSpPr>
        <p:spPr>
          <a:xfrm>
            <a:off x="1998091" y="5249291"/>
            <a:ext cx="6096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76171" y="5188331"/>
            <a:ext cx="6339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tools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Инструменты, прошедшие pipeline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40800" y="4064000"/>
            <a:ext cx="6773291" cy="2370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79509" y="4402709"/>
            <a:ext cx="609600" cy="609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3" name="Shape 11"/>
          <p:cNvSpPr/>
          <p:nvPr/>
        </p:nvSpPr>
        <p:spPr>
          <a:xfrm>
            <a:off x="9279509" y="5249291"/>
            <a:ext cx="6096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57589" y="5188331"/>
            <a:ext cx="6339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 mappings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Связи tool → technique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222091" y="4064000"/>
            <a:ext cx="6773291" cy="2370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560800" y="4402709"/>
            <a:ext cx="609600" cy="6096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7" name="Shape 15"/>
          <p:cNvSpPr/>
          <p:nvPr/>
        </p:nvSpPr>
        <p:spPr>
          <a:xfrm>
            <a:off x="16560800" y="5249291"/>
            <a:ext cx="6096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6438880" y="5188331"/>
            <a:ext cx="6339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score / Featured tool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Лучший инструмент по ranking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3503509" y="4064000"/>
            <a:ext cx="6773291" cy="2370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803991" y="4402709"/>
            <a:ext cx="685800" cy="60960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21" name="Shape 19"/>
          <p:cNvSpPr/>
          <p:nvPr/>
        </p:nvSpPr>
        <p:spPr>
          <a:xfrm>
            <a:off x="23842091" y="5249291"/>
            <a:ext cx="6096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3720171" y="5188331"/>
            <a:ext cx="6339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Tactic coverage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Распределение по MITRE tactics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59509" y="11176000"/>
            <a:ext cx="29125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659509" y="16256000"/>
            <a:ext cx="29125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37589" y="16195040"/>
            <a:ext cx="29369131" cy="799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 — стартовый экран. Данные берутся из подготовленного visualization layer в DuckDB, а не из raw-кандидатов.</a:t>
            </a:r>
            <a:endParaRPr lang="en-US" sz="1600" dirty="0"/>
          </a:p>
        </p:txBody>
      </p:sp>
      <p:pic>
        <p:nvPicPr>
          <p:cNvPr id="26" name="Image 0" descr="https://kimi-img.moonshot.cn/pub/slides/okc/noubtcpegmt42/mnt/agents/output/converted/images/image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861" y="6924548"/>
            <a:ext cx="13259181" cy="8881491"/>
          </a:xfrm>
          <a:prstGeom prst="rect">
            <a:avLst/>
          </a:prstGeom>
        </p:spPr>
      </p:pic>
      <p:pic>
        <p:nvPicPr>
          <p:cNvPr id="27" name="Image 1" descr="https://kimi-img.moonshot.cn/pub/slides/okc/noubtcpegmt42/mnt/agents/output/converted/images/image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6042" y="6924548"/>
            <a:ext cx="11754739" cy="888149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Tools: рабочий каталог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3575685"/>
            <a:ext cx="14562709" cy="863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3514725"/>
            <a:ext cx="14806549" cy="875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Основная вкладка для просмотра инструментов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Боковые фильтры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по источнику, типу, MITRE-технике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Строка поиска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быстрый поиск по названию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Сортировка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по score, confidence, дате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Колонки таблицы: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Название инструмента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Тип (tool, framework, scanner...)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Источник (GitHub, Packet Storm...)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Score — composite ranking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Confidence — уверенность LLM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MITRE coverage — количество связей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50264" y="14508988"/>
            <a:ext cx="14562709" cy="1016000"/>
          </a:xfrm>
          <a:prstGeom prst="rect">
            <a:avLst/>
          </a:prstGeom>
          <a:solidFill>
            <a:srgbClr val="7EC0DA"/>
          </a:solidFill>
          <a:ln w="12700">
            <a:solidFill>
              <a:srgbClr val="7EC0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0264" y="14508988"/>
            <a:ext cx="14562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28344" y="14448028"/>
            <a:ext cx="14806549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Клик по строке → подробная карточка инструмента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933291" y="6604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50264" y="15863697"/>
            <a:ext cx="29125291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28344" y="15802737"/>
            <a:ext cx="29369131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 в таблице приходят из подготовленного visualization layer, который формируется после LLM и сохраняется в DuckDB.</a:t>
            </a:r>
            <a:endParaRPr lang="en-US" sz="1600" dirty="0"/>
          </a:p>
        </p:txBody>
      </p:sp>
      <p:pic>
        <p:nvPicPr>
          <p:cNvPr id="13" name="Image 0" descr="https://kimi-img.moonshot.cn/pub/slides/okc/noubtcpegmt42/mnt/agents/output/converted/images/image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138" y="2948686"/>
            <a:ext cx="16849725" cy="1013574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3706709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3950549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Tools: подробная карточка инструмента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3793109"/>
            <a:ext cx="14562709" cy="999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3732149"/>
            <a:ext cx="14806549" cy="1011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Модальное окно — один клик по строке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Основная информация: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Русское описание (summary_ru)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Источник и URL на оригинальный проект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Тип инструмента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Метрики качества: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Score — composite ranking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Confidence — уверенность LLM-классификации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 покрытие: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Techniques — конкретные техники ATT&amp;CK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Tactics — тактики (Reconnaissance, C2...)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Таблица связей: technique id, название, tactic, confidence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3291" y="6265291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59509" y="13208000"/>
            <a:ext cx="29125291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9" name="Image 0" descr="https://kimi-img.moonshot.cn/pub/slides/okc/noubtcpegmt42/mnt/agents/output/converted/images/imag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0526" y="2523109"/>
            <a:ext cx="13582777" cy="1326286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 Matrix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2878709"/>
            <a:ext cx="14562709" cy="795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2817749"/>
            <a:ext cx="14806549" cy="8080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Визуализация MITRE ATT&amp;CK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Связи tool → tactic → technique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Heatmap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плотность покрытия по тактикам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(где больше инструментов — ярче ячейка)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Matrix rows</a:t>
            </a: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конкретные строки маппинга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(один инструмент = несколько строк)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slider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Управляет строгостью отображения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Высокий порог = только самые уверенные связи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Данные из post-LLM таблиц DuckDB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9509" y="11176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37589" y="11115040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27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 распределения coverage</a:t>
            </a:r>
            <a:endParaRPr lang="en-US" sz="16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1659509" y="12192000"/>
          <a:ext cx="14562709" cy="4402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16933291" y="6096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6933291" y="10498709"/>
            <a:ext cx="14562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12" name="Image 0" descr="https://kimi-img.moonshot.cn/pub/slides/okc/noubtcpegmt42/mnt/agents/output/converted/images/image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3291" y="1090041"/>
            <a:ext cx="14562709" cy="5344668"/>
          </a:xfrm>
          <a:prstGeom prst="rect">
            <a:avLst/>
          </a:prstGeom>
        </p:spPr>
      </p:pic>
      <p:pic>
        <p:nvPicPr>
          <p:cNvPr id="13" name="Image 1" descr="https://kimi-img.moonshot.cn/pub/slides/okc/noubtcpegmt42/mnt/agents/output/converted/images/image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60518" y="6434709"/>
            <a:ext cx="11827383" cy="105225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Refinement Queue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2878709"/>
            <a:ext cx="14562709" cy="897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2817749"/>
            <a:ext cx="14806549" cy="909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Retrieval-first refinement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Сравнивает описание инструмента с локальной MITRE matrix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Предлагает похожие техники, которые LLM могла пропустить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Если техника уже есть в mapping — считается покрытой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Если нет — попадает в очередь review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2100"/>
              </a:spcBef>
            </a:pPr>
            <a:r>
              <a:rPr lang="en-US" sz="3200" b="1" dirty="0">
                <a:solidFill>
                  <a:srgbClr val="F7964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Важно: это не автоматическое подтверждение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Список гипотез для проверки аналитиком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Hotspots — техники, часто предлагаемые как gaps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2100"/>
              </a:spcBef>
            </a:pPr>
            <a:r>
              <a:rPr lang="en-US" sz="3200" b="1" dirty="0">
                <a:solidFill>
                  <a:srgbClr val="9BBB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Следующий шаг: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Сохранять решения аналитика в DuckDB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confirmed / rejected / needs_more_context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9509" y="12192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37589" y="12131040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27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Возможные решения аналитика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9509" y="13208000"/>
            <a:ext cx="4064000" cy="1016000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59509" y="13208000"/>
            <a:ext cx="4064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37589" y="13147040"/>
            <a:ext cx="4307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confirmed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62091" y="13208000"/>
            <a:ext cx="4064000" cy="1016000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091" y="13208000"/>
            <a:ext cx="4064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0171" y="13147040"/>
            <a:ext cx="4307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rejected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464800" y="13208000"/>
            <a:ext cx="5080000" cy="1016000"/>
          </a:xfrm>
          <a:prstGeom prst="rect">
            <a:avLst/>
          </a:prstGeom>
          <a:solidFill>
            <a:srgbClr val="3D3D3D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64800" y="13208000"/>
            <a:ext cx="5080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342880" y="13147040"/>
            <a:ext cx="5323840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needs_more_context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933291" y="6096000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933291" y="10498709"/>
            <a:ext cx="14562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20" name="Image 0" descr="https://kimi-img.moonshot.cn/pub/slides/okc/noubtcpegmt42/mnt/agents/output/converted/images/imag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2091" y="3265297"/>
            <a:ext cx="15802991" cy="77584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0320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0563840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Pipeline: контроль выполнения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3048000"/>
            <a:ext cx="6773291" cy="3386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8091" y="3386709"/>
            <a:ext cx="609600" cy="609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7" name="Shape 5"/>
          <p:cNvSpPr/>
          <p:nvPr/>
        </p:nvSpPr>
        <p:spPr>
          <a:xfrm>
            <a:off x="1998091" y="4233291"/>
            <a:ext cx="6096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876171" y="4172331"/>
            <a:ext cx="6339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98091" y="5080000"/>
            <a:ext cx="6096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76171" y="5019040"/>
            <a:ext cx="6339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Сбор новых кандидатов, GitHub slices, свежие репозитории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40800" y="3048000"/>
            <a:ext cx="6773291" cy="3386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03309" y="3386709"/>
            <a:ext cx="762000" cy="609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3" name="Shape 11"/>
          <p:cNvSpPr/>
          <p:nvPr/>
        </p:nvSpPr>
        <p:spPr>
          <a:xfrm>
            <a:off x="9279509" y="4233291"/>
            <a:ext cx="6096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57589" y="4172331"/>
            <a:ext cx="6339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Status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279509" y="5080000"/>
            <a:ext cx="6096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57589" y="5019040"/>
            <a:ext cx="6339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Очередь, assessment, backlog, errors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222091" y="3048000"/>
            <a:ext cx="6773291" cy="3386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560800" y="3386709"/>
            <a:ext cx="609600" cy="60960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60800" y="4233291"/>
            <a:ext cx="6096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6438880" y="4172331"/>
            <a:ext cx="6339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560800" y="5080000"/>
            <a:ext cx="6096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438880" y="5019040"/>
            <a:ext cx="6339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Relevant tools и MITRE rows после LLM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3503509" y="3048000"/>
            <a:ext cx="6773291" cy="3386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842091" y="3386709"/>
            <a:ext cx="609600" cy="6096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25" name="Shape 23"/>
          <p:cNvSpPr/>
          <p:nvPr/>
        </p:nvSpPr>
        <p:spPr>
          <a:xfrm>
            <a:off x="23842091" y="4233291"/>
            <a:ext cx="6096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3720171" y="4172331"/>
            <a:ext cx="6339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Post-run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3842091" y="5080000"/>
            <a:ext cx="6096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3720171" y="5019040"/>
            <a:ext cx="6339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Sanity fails, warnings, run comparison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659509" y="9144000"/>
            <a:ext cx="29125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537589" y="9083040"/>
            <a:ext cx="29369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427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comparison — изменения между запусками</a:t>
            </a:r>
            <a:endParaRPr lang="en-US" sz="1600" dirty="0"/>
          </a:p>
        </p:txBody>
      </p:sp>
      <p:graphicFrame>
        <p:nvGraphicFramePr>
          <p:cNvPr id="31" name="Chart 0"/>
          <p:cNvGraphicFramePr/>
          <p:nvPr>
            <p:extLst>
              <p:ext uri="{D42A27DB-BD31-4B8C-83A1-F6EECF244321}">
                <p14:modId xmlns:p14="http://schemas.microsoft.com/office/powerpoint/2010/main" val="3165710496"/>
              </p:ext>
            </p:extLst>
          </p:nvPr>
        </p:nvGraphicFramePr>
        <p:xfrm>
          <a:off x="1659509" y="10160000"/>
          <a:ext cx="14562709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16933291" y="10329291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659509" y="13716000"/>
            <a:ext cx="29125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34" name="Image 0" descr="https://kimi-img.moonshot.cn/pub/slides/okc/noubtcpegmt42/mnt/agents/output/converted/images/image_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9896" y="8870823"/>
            <a:ext cx="12859639" cy="636917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3706709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3950549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 данные попадают в веб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2878709"/>
            <a:ext cx="29125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37589" y="2817749"/>
            <a:ext cx="29369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Данные не появляются в Shiny сразу после сбора. Сначала они проходят полный pipeline.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9509" y="4402709"/>
            <a:ext cx="3386709" cy="1354709"/>
          </a:xfrm>
          <a:prstGeom prst="rect">
            <a:avLst/>
          </a:prstGeom>
          <a:solidFill>
            <a:srgbClr val="3D3D3D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59509" y="4402709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37589" y="4341749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13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/ RSS / Packet Storm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6091" y="5080000"/>
            <a:ext cx="1354709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400800" y="4402709"/>
            <a:ext cx="3386709" cy="1354709"/>
          </a:xfrm>
          <a:prstGeom prst="rect">
            <a:avLst/>
          </a:prstGeom>
          <a:solidFill>
            <a:srgbClr val="3D3D3D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4402709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78880" y="4341749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13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→ normalize → assess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87509" y="5080000"/>
            <a:ext cx="1354709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1142091" y="4402709"/>
            <a:ext cx="4064000" cy="1354709"/>
          </a:xfrm>
          <a:prstGeom prst="rect">
            <a:avLst/>
          </a:prstGeom>
          <a:solidFill>
            <a:srgbClr val="7EC0DA"/>
          </a:solidFill>
          <a:ln w="25400">
            <a:solidFill>
              <a:srgbClr val="7EC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42091" y="4402709"/>
            <a:ext cx="4064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020171" y="4341749"/>
            <a:ext cx="4307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13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 tables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206091" y="5080000"/>
            <a:ext cx="1354709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6560800" y="4402709"/>
            <a:ext cx="3386709" cy="1354709"/>
          </a:xfrm>
          <a:prstGeom prst="rect">
            <a:avLst/>
          </a:prstGeom>
          <a:solidFill>
            <a:srgbClr val="3D3D3D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560800" y="4402709"/>
            <a:ext cx="3386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6438880" y="4341749"/>
            <a:ext cx="363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Shiny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213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reads prepared tables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9947509" y="5080000"/>
            <a:ext cx="1354709" cy="0"/>
          </a:xfrm>
          <a:prstGeom prst="straightConnector1">
            <a:avLst/>
          </a:prstGeom>
          <a:noFill/>
          <a:ln w="38100">
            <a:solidFill>
              <a:srgbClr val="9BBB59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1302091" y="4402709"/>
            <a:ext cx="9482709" cy="846709"/>
          </a:xfrm>
          <a:prstGeom prst="rect">
            <a:avLst/>
          </a:prstGeom>
          <a:solidFill>
            <a:srgbClr val="3D3D3D"/>
          </a:solidFill>
          <a:ln w="25400">
            <a:solidFill>
              <a:srgbClr val="9BBB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302091" y="4402709"/>
            <a:ext cx="9482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1180171" y="4341749"/>
            <a:ext cx="9726549" cy="968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UI: Overview / Tools / MITRE / Pipeline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659509" y="6434709"/>
            <a:ext cx="6773291" cy="1016000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59509" y="6434709"/>
            <a:ext cx="6773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537589" y="6373749"/>
            <a:ext cx="7017131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Raw-кандидаты в UI не попадают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40800" y="6434709"/>
            <a:ext cx="21844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818880" y="6373749"/>
            <a:ext cx="22087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Это снижает шум: нет документации, списков ссылок, новостей и нерелевантных записей в интерфейсе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659509" y="11853291"/>
            <a:ext cx="29125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32" name="Image 0" descr="https://kimi-img.moonshot.cn/pub/slides/okc/noubtcpegmt42/mnt/agents/output/converted/images/imag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976" y="9144000"/>
            <a:ext cx="13265912" cy="7807960"/>
          </a:xfrm>
          <a:prstGeom prst="rect">
            <a:avLst/>
          </a:prstGeom>
        </p:spPr>
      </p:pic>
      <p:pic>
        <p:nvPicPr>
          <p:cNvPr id="33" name="Image 1" descr="https://kimi-img.moonshot.cn/pub/slides/okc/noubtcpegmt42/mnt/agents/output/converted/images/image_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6888" y="9144000"/>
            <a:ext cx="13214858" cy="78079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1016000"/>
            <a:ext cx="23706709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37589" y="955040"/>
            <a:ext cx="23950549" cy="1391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47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Рекомендации и дальнейшие улучшения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59509" y="2455291"/>
            <a:ext cx="1354709" cy="67691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5" name="Shape 3"/>
          <p:cNvSpPr/>
          <p:nvPr/>
        </p:nvSpPr>
        <p:spPr>
          <a:xfrm>
            <a:off x="1659509" y="3048000"/>
            <a:ext cx="14562709" cy="2370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8091" y="3386709"/>
            <a:ext cx="677291" cy="6772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Shape 5"/>
          <p:cNvSpPr/>
          <p:nvPr/>
        </p:nvSpPr>
        <p:spPr>
          <a:xfrm>
            <a:off x="1998091" y="3386709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876171" y="3325749"/>
            <a:ext cx="921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63291" y="3302000"/>
            <a:ext cx="12869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841371" y="3241040"/>
            <a:ext cx="13113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Ручная модерация Refinement Queue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63291" y="4148709"/>
            <a:ext cx="12869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841371" y="4087749"/>
            <a:ext cx="13113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Подтверждение/отклонение связей прямо в интерфейсе аналитиком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59509" y="5757291"/>
            <a:ext cx="14562709" cy="2370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8091" y="6096000"/>
            <a:ext cx="677291" cy="6772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5" name="Shape 13"/>
          <p:cNvSpPr/>
          <p:nvPr/>
        </p:nvSpPr>
        <p:spPr>
          <a:xfrm>
            <a:off x="1998091" y="6096000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876171" y="6035040"/>
            <a:ext cx="921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63291" y="6011291"/>
            <a:ext cx="12869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841371" y="5950331"/>
            <a:ext cx="13113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Сохранение решений аналитика в DuckDB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63291" y="6858000"/>
            <a:ext cx="12869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841371" y="6797040"/>
            <a:ext cx="13113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confirmed / rejected / needs_more_context — для аудита и повторного использования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59509" y="8466709"/>
            <a:ext cx="14562709" cy="2370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8091" y="8805291"/>
            <a:ext cx="677291" cy="6772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3" name="Shape 21"/>
          <p:cNvSpPr/>
          <p:nvPr/>
        </p:nvSpPr>
        <p:spPr>
          <a:xfrm>
            <a:off x="1998091" y="8805291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876171" y="8744331"/>
            <a:ext cx="921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63291" y="8720709"/>
            <a:ext cx="12869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841371" y="8659749"/>
            <a:ext cx="13113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Observability — отдельная вкладка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963291" y="9567291"/>
            <a:ext cx="12869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841371" y="9506331"/>
            <a:ext cx="13113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Latency, retry count, error types, provider, model, стоимость обработки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659509" y="11176000"/>
            <a:ext cx="14562709" cy="2370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98091" y="11514709"/>
            <a:ext cx="677291" cy="677291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31" name="Shape 29"/>
          <p:cNvSpPr/>
          <p:nvPr/>
        </p:nvSpPr>
        <p:spPr>
          <a:xfrm>
            <a:off x="1998091" y="11514709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876171" y="11453749"/>
            <a:ext cx="921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963291" y="11430000"/>
            <a:ext cx="12869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841371" y="11369040"/>
            <a:ext cx="13113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Подсказки по метрикам в интерфейсе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963291" y="12276709"/>
            <a:ext cx="12869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841371" y="12215749"/>
            <a:ext cx="13113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означает pre-LLM score, confidence, MITRE rows, backlog, sanity warnings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6933291" y="3048000"/>
            <a:ext cx="14562709" cy="2370709"/>
          </a:xfrm>
          <a:prstGeom prst="rect">
            <a:avLst/>
          </a:prstGeom>
          <a:solidFill>
            <a:srgbClr val="3D3D3D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272000" y="3386709"/>
            <a:ext cx="677291" cy="677291"/>
          </a:xfrm>
          <a:prstGeom prst="ellipse">
            <a:avLst/>
          </a:prstGeom>
          <a:solidFill>
            <a:srgbClr val="9BBB59"/>
          </a:solidFill>
          <a:ln/>
        </p:spPr>
      </p:sp>
      <p:sp>
        <p:nvSpPr>
          <p:cNvPr id="39" name="Shape 37"/>
          <p:cNvSpPr/>
          <p:nvPr/>
        </p:nvSpPr>
        <p:spPr>
          <a:xfrm>
            <a:off x="17272000" y="3386709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7150080" y="3325749"/>
            <a:ext cx="921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b="1" dirty="0">
                <a:solidFill>
                  <a:srgbClr val="2929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8237200" y="3302000"/>
            <a:ext cx="12869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8115280" y="3241040"/>
            <a:ext cx="13113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Расширение источников discovery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8237200" y="4148709"/>
            <a:ext cx="12869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8115280" y="4087749"/>
            <a:ext cx="13113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Exploit-DB, HackerOne, новые RSS-ленты специализированных ресурсов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6933291" y="6096000"/>
            <a:ext cx="14562709" cy="7450709"/>
          </a:xfrm>
          <a:prstGeom prst="rect">
            <a:avLst/>
          </a:prstGeom>
          <a:solidFill>
            <a:srgbClr val="1A1A1A"/>
          </a:solidFill>
          <a:ln w="25400">
            <a:solidFill>
              <a:srgbClr val="7EC0DA"/>
            </a:solidFill>
            <a:prstDash val="solid"/>
          </a:ln>
        </p:spPr>
      </p:sp>
      <p:graphicFrame>
        <p:nvGraphicFramePr>
          <p:cNvPr id="46" name="Chart 0"/>
          <p:cNvGraphicFramePr/>
          <p:nvPr/>
        </p:nvGraphicFramePr>
        <p:xfrm>
          <a:off x="17272000" y="6604000"/>
          <a:ext cx="13462000" cy="66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Shape 44"/>
          <p:cNvSpPr/>
          <p:nvPr/>
        </p:nvSpPr>
        <p:spPr>
          <a:xfrm>
            <a:off x="16933291" y="9482709"/>
            <a:ext cx="14562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16811371" y="9421749"/>
            <a:ext cx="14806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59509" y="5080000"/>
            <a:ext cx="2032000" cy="1016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3" name="Shape 1"/>
          <p:cNvSpPr/>
          <p:nvPr/>
        </p:nvSpPr>
        <p:spPr>
          <a:xfrm>
            <a:off x="1659509" y="5757291"/>
            <a:ext cx="16933291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37588" y="6373749"/>
            <a:ext cx="17177131" cy="2153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0" b="1" kern="0" spc="-16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37589" y="8067040"/>
            <a:ext cx="1040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59509" y="9821291"/>
            <a:ext cx="2032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37589" y="9760331"/>
            <a:ext cx="2056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Команда: Новосельский Д • Коломийцев Н • Толмачёв Н • Ширинов А • Игнатов 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59509" y="10837291"/>
            <a:ext cx="2032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37589" y="10776331"/>
            <a:ext cx="2056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Автоматический мониторинг и классификация инструментов пентеста по MITRE ATT&amp;CK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59509" y="16594709"/>
            <a:ext cx="6773291" cy="33909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2" name="Shape 10"/>
          <p:cNvSpPr/>
          <p:nvPr/>
        </p:nvSpPr>
        <p:spPr>
          <a:xfrm>
            <a:off x="1659509" y="16764000"/>
            <a:ext cx="6773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37589" y="16703040"/>
            <a:ext cx="701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Этап 3: Пререлиз-чекап | 202</a:t>
            </a:r>
            <a:r>
              <a:rPr lang="ru-RU" sz="24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1439</Words>
  <Application>Microsoft Office PowerPoint</Application>
  <PresentationFormat>Произвольный</PresentationFormat>
  <Paragraphs>269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Liter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Untitled</dc:subject>
  <dc:creator>Kimi</dc:creator>
  <cp:lastModifiedBy>Nikita Kolomytsev</cp:lastModifiedBy>
  <cp:revision>5</cp:revision>
  <dcterms:created xsi:type="dcterms:W3CDTF">2026-05-02T08:24:01Z</dcterms:created>
  <dcterms:modified xsi:type="dcterms:W3CDTF">2026-05-02T09:56:38Z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{"Label":"Untitled","ContentProducer":"001191110108MACG2KBH8F10000","ProduceID":"19de7c01-e1b2-898d-8000-0000fb9f67bd","ReservedCode1":"","ContentPropagator":"001191110108MACG2KBH8F20000","PropagateID":"19de7c01-e1b2-898d-8000-0000fb9f67bd","ReservedCode2":""}</vt:lpwstr>
  </property>
</Properties>
</file>