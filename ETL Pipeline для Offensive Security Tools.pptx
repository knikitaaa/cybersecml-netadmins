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24384000" cy="13716000"/>
  <p:notesSz cx="13716000" cy="24384000"/>
  <p:embeddedFontLst>
    <p:embeddedFont>
      <p:font typeface="Liter" panose="020B0604020202020204" charset="0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44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Raw records</c:v>
                </c:pt>
                <c:pt idx="1">
                  <c:v>After filters</c:v>
                </c:pt>
                <c:pt idx="2">
                  <c:v>High priority</c:v>
                </c:pt>
                <c:pt idx="3">
                  <c:v>Medium priority</c:v>
                </c:pt>
                <c:pt idx="4">
                  <c:v>Low priority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750</c:v>
                </c:pt>
                <c:pt idx="2">
                  <c:v>200</c:v>
                </c:pt>
                <c:pt idx="3">
                  <c:v>350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E-4090-83D3-C10A609696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Минуты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Collect</c:v>
                </c:pt>
                <c:pt idx="1">
                  <c:v>Normalize</c:v>
                </c:pt>
                <c:pt idx="2">
                  <c:v>Assessment</c:v>
                </c:pt>
                <c:pt idx="3">
                  <c:v>Visualize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20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5C-4544-9905-6D0768E723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ru-RU" b="0" i="0" u="none" strike="noStrike">
                    <a:solidFill>
                      <a:srgbClr val="000000"/>
                    </a:solidFill>
                    <a:latin typeface="Arial"/>
                  </a:rPr>
                  <a:t>Минуты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EC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95-4F40-A81B-517CA42036E1}"/>
              </c:ext>
            </c:extLst>
          </c:dPt>
          <c:dPt>
            <c:idx val="1"/>
            <c:bubble3D val="0"/>
            <c:spPr>
              <a:solidFill>
                <a:srgbClr val="F796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95-4F40-A81B-517CA42036E1}"/>
              </c:ext>
            </c:extLst>
          </c:dPt>
          <c:dPt>
            <c:idx val="2"/>
            <c:bubble3D val="0"/>
            <c:spPr>
              <a:solidFill>
                <a:srgbClr val="9BBB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95-4F40-A81B-517CA42036E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95-4F40-A81B-517CA42036E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95-4F40-A81B-517CA42036E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95-4F40-A81B-517CA42036E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350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95-4F40-A81B-517CA4203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86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vaearucrfl3a/mnt/agents/output/etl-module/images/1_Cybersecurity_dark_background_Images.png"/>
          <p:cNvPicPr>
            <a:picLocks noChangeAspect="1"/>
          </p:cNvPicPr>
          <p:nvPr/>
        </p:nvPicPr>
        <p:blipFill>
          <a:blip r:embed="rId3"/>
          <a:srcRect l="150" r="150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292929">
                  <a:alpha val="94000"/>
                </a:srgbClr>
              </a:gs>
              <a:gs pos="60000">
                <a:srgbClr val="292929">
                  <a:alpha val="80000"/>
                </a:srgbClr>
              </a:gs>
              <a:gs pos="100000">
                <a:srgbClr val="292929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44600" y="1524000"/>
            <a:ext cx="1778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Автоматический мониторинг и классификация инструментов пентеста по MITRE ATT&amp;CK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4600" y="5334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 2: Демонстрация Модуля ETL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44600" y="6350000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7" name="Text 4"/>
          <p:cNvSpPr/>
          <p:nvPr/>
        </p:nvSpPr>
        <p:spPr>
          <a:xfrm>
            <a:off x="1244600" y="6731000"/>
            <a:ext cx="152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Команда проекта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44600" y="7429500"/>
            <a:ext cx="177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Новосельский Д • Коломийцев Н • Толмачёв Н • Ширинов А • Игнатов 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Содержание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44600" y="3302000"/>
            <a:ext cx="203200" cy="2032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4" name="Text 2"/>
          <p:cNvSpPr/>
          <p:nvPr/>
        </p:nvSpPr>
        <p:spPr>
          <a:xfrm>
            <a:off x="1651000" y="3175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94000" y="317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ETL-пайплайна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94000" y="3746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Общая схема и стратегия поиска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4600" y="5080000"/>
            <a:ext cx="203200" cy="2032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4953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94000" y="4953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— Сбор данных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94000" y="5524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API, README, raw records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44600" y="6858000"/>
            <a:ext cx="203200" cy="2032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6731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4000" y="673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— Нормализация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94000" y="7302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Скоринг, классификация, фильтрация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44600" y="8636000"/>
            <a:ext cx="203200" cy="2032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6" name="Text 14"/>
          <p:cNvSpPr/>
          <p:nvPr/>
        </p:nvSpPr>
        <p:spPr>
          <a:xfrm>
            <a:off x="1651000" y="8509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94000" y="850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Assessment — Оценка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94000" y="9080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DeepSeek API, промпты, валидация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44600" y="10414000"/>
            <a:ext cx="203200" cy="2032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10287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94000" y="10287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— Сохранение и результаты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94000" y="10858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DuckDB, индексы, метрики пайплайна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vaearucrfl3a/mnt/agents/output/etl-module/images/5_10_720_Data_Pipelines_Royalty_Free.png"/>
          <p:cNvPicPr>
            <a:picLocks noChangeAspect="1"/>
          </p:cNvPicPr>
          <p:nvPr/>
        </p:nvPicPr>
        <p:blipFill>
          <a:blip r:embed="rId3"/>
          <a:srcRect l="28614" r="28614"/>
          <a:stretch/>
        </p:blipFill>
        <p:spPr>
          <a:xfrm>
            <a:off x="13970000" y="0"/>
            <a:ext cx="1041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970000" y="0"/>
            <a:ext cx="10414000" cy="13716000"/>
          </a:xfrm>
          <a:prstGeom prst="rect">
            <a:avLst/>
          </a:prstGeom>
          <a:gradFill flip="none" rotWithShape="1">
            <a:gsLst>
              <a:gs pos="0">
                <a:srgbClr val="292929"/>
              </a:gs>
              <a:gs pos="40000">
                <a:srgbClr val="292929">
                  <a:alpha val="67000"/>
                </a:srgbClr>
              </a:gs>
              <a:gs pos="100000">
                <a:srgbClr val="292929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44600" y="4445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4600" y="5588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ETL-пайплайна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4600" y="7620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Общая схема пайплайна: от сбора данных до оценки инструментов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44600" y="7366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такое ETL в нашем проекте?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587500"/>
            <a:ext cx="152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→ Transform → Load для Offensive Security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2540000"/>
            <a:ext cx="685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625600" y="2730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25600" y="3365500"/>
            <a:ext cx="609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GitHub API — поиск репозиториев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PacketStorm — security tools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RSS-фиды — новые релизы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150+ комбинаций запросов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1000+ raw records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10600" y="2540000"/>
            <a:ext cx="685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8991600" y="2730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91600" y="3365500"/>
            <a:ext cx="609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Нормализация данных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Pre-LLM скоринг (0.3-0.9)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Классификация типов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Фильтрация шума (-25%)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750 нормализованных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976600" y="2540000"/>
            <a:ext cx="685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16357600" y="2730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357600" y="3365500"/>
            <a:ext cx="609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DuckDB — основное хранилище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RDS — кэш для 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JSON — интеграция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CSV — Excel-экспорт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Индексы для поиска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4600" y="6604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Схема потока данных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44600" y="7366000"/>
            <a:ext cx="2540000" cy="762000"/>
          </a:xfrm>
          <a:prstGeom prst="rect">
            <a:avLst/>
          </a:prstGeom>
          <a:solidFill>
            <a:srgbClr val="3D7C8E"/>
          </a:solidFill>
          <a:ln/>
        </p:spPr>
      </p:sp>
      <p:sp>
        <p:nvSpPr>
          <p:cNvPr id="15" name="Text 13"/>
          <p:cNvSpPr/>
          <p:nvPr/>
        </p:nvSpPr>
        <p:spPr>
          <a:xfrm>
            <a:off x="1244600" y="736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API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38600" y="7721600"/>
            <a:ext cx="762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054600" y="7366000"/>
            <a:ext cx="2540000" cy="762000"/>
          </a:xfrm>
          <a:prstGeom prst="rect">
            <a:avLst/>
          </a:prstGeom>
          <a:solidFill>
            <a:srgbClr val="3D7C8E"/>
          </a:solidFill>
          <a:ln/>
        </p:spPr>
      </p:sp>
      <p:sp>
        <p:nvSpPr>
          <p:cNvPr id="18" name="Text 16"/>
          <p:cNvSpPr/>
          <p:nvPr/>
        </p:nvSpPr>
        <p:spPr>
          <a:xfrm>
            <a:off x="5054600" y="736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48600" y="7721600"/>
            <a:ext cx="762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8864600" y="7366000"/>
            <a:ext cx="2540000" cy="762000"/>
          </a:xfrm>
          <a:prstGeom prst="rect">
            <a:avLst/>
          </a:prstGeom>
          <a:solidFill>
            <a:srgbClr val="3D7C8E"/>
          </a:solidFill>
          <a:ln/>
        </p:spPr>
      </p:sp>
      <p:sp>
        <p:nvSpPr>
          <p:cNvPr id="21" name="Text 19"/>
          <p:cNvSpPr/>
          <p:nvPr/>
        </p:nvSpPr>
        <p:spPr>
          <a:xfrm>
            <a:off x="8864600" y="736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658600" y="7721600"/>
            <a:ext cx="762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2674600" y="7366000"/>
            <a:ext cx="2540000" cy="7620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24" name="Text 22"/>
          <p:cNvSpPr/>
          <p:nvPr/>
        </p:nvSpPr>
        <p:spPr>
          <a:xfrm>
            <a:off x="12674600" y="736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468600" y="7721600"/>
            <a:ext cx="762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6484600" y="7366000"/>
            <a:ext cx="2540000" cy="762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7" name="Text 25"/>
          <p:cNvSpPr/>
          <p:nvPr/>
        </p:nvSpPr>
        <p:spPr>
          <a:xfrm>
            <a:off x="16484600" y="736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674600" y="8382000"/>
            <a:ext cx="6350000" cy="6350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9" name="Text 27"/>
          <p:cNvSpPr/>
          <p:nvPr/>
        </p:nvSpPr>
        <p:spPr>
          <a:xfrm>
            <a:off x="12674600" y="8382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DeepSeek API → MITRE ATT&amp;CK → Score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44600" y="9652000"/>
            <a:ext cx="2159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Вход: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4 источника данных × 150 запросов = 1000+ raw records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Обработка: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Pre-LLM скоринг + LLM-оценка + MITRE-классификация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Выход: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600 оцененных инструментов в DuckDB с индексами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Время: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Полный цикл — 28 </a:t>
            </a:r>
            <a:r>
              <a:rPr lang="en-US" sz="20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минут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Стратегия поиска инструментов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Источники ключевых слов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2857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625600" y="2730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ATT&amp;CK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популярные техники (TA0001, T1190...)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4600" y="4000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625600" y="3873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HackerOne reports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инструменты </a:t>
            </a:r>
            <a:r>
              <a:rPr lang="en-US" sz="22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баг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-б</a:t>
            </a:r>
            <a:r>
              <a:rPr lang="ru-RU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ау</a:t>
            </a:r>
            <a:r>
              <a:rPr lang="en-US" sz="22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нти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4600" y="5143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625600" y="5016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trends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растущие репозитории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4600" y="6286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625600" y="6159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conferences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доклады и презентации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44600" y="7429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625600" y="7302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Reddit/Twitter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</a:t>
            </a:r>
            <a:r>
              <a:rPr lang="en-US" sz="22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рекомендации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ru-RU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комьюнити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92000" y="1905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Категории ключевых слов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192000" y="2730500"/>
            <a:ext cx="5080000" cy="177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2446000" y="28575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Reconnaissance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446000" y="3365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shodan, maltego, recon-ng, amass, subfinder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0" y="4762500"/>
            <a:ext cx="5080000" cy="177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46000" y="48895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Exploitation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46000" y="5397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metasploit, burp suite, sqlmap, nuclei, exploit-db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192000" y="6794500"/>
            <a:ext cx="5080000" cy="177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69215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Post-Exploitation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46000" y="74295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mimikatz, bloodhound, Empire, Cobalt Strike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44600" y="876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Логика маппинга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44600" y="9461500"/>
            <a:ext cx="21590000" cy="127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625600" y="9588500"/>
            <a:ext cx="208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TA0001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(Initial Access) → </a:t>
            </a: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T1190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(Exploit Public-Facing App) → </a:t>
            </a: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nuclei, burpsuite, metasploit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44600" y="11176000"/>
            <a:ext cx="215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50+ поисковых фраз </a:t>
            </a: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Категоризированы по типам </a:t>
            </a: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Приоритеты high/medium/low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Целевые организации и запросы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организации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4600" y="2667000"/>
          <a:ext cx="10160000" cy="5588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Организация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Инструменты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projectdiscovery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Nuclei, subfinder, naabu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BishopFox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SleekyImprovement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rapid7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Metasploit Framework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BC-SECURITY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Empire, Covenant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TrustedSec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SilentTrinity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tenable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Nessus, scanners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qualys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QualysGuard, scripts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1920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Комбинирование запросов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192000" y="2730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Шаг 1: Дефолтные запросы</a:t>
            </a:r>
            <a:endParaRPr lang="en-US" sz="1600" dirty="0"/>
          </a:p>
        </p:txBody>
      </p:sp>
      <p:sp>
        <p:nvSpPr>
          <p:cNvPr id="4" name="Text 4"/>
          <p:cNvSpPr/>
          <p:nvPr/>
        </p:nvSpPr>
        <p:spPr>
          <a:xfrm>
            <a:off x="12192000" y="32385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"metasploit framework", "burp suite", "sqlmap"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192000" y="3937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Шаг 2: По организациям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192000" y="4445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org:rapid7, org:projectdiscovery, org:BishopFox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192000" y="5143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Шаг 3: Комбинированные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192000" y="56515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org:rapid7 "metasploit framework"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192000" y="6604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Параметры поиска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192000" y="7112000"/>
            <a:ext cx="1016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sort=stars — сортировка по звёздам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order=desc — сначала популярные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per_page=100 — 100 результатов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max_pages=10 — до 1000 результатов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44600" y="9398000"/>
            <a:ext cx="21590000" cy="101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1625600" y="9525000"/>
            <a:ext cx="2082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Результат: 50 </a:t>
            </a:r>
            <a:r>
              <a:rPr lang="ru-RU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запросов</a:t>
            </a: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× 3 </a:t>
            </a:r>
            <a:r>
              <a:rPr lang="ru-RU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организации</a:t>
            </a: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150 комбинаций для поиска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44600" y="10414000"/>
            <a:ext cx="215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Распределение источников: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(основной, 80% результатов) • PacketStorm (15%) • RSS-фиды (5%) • MITRE ATT&amp;CK (для классификации)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vaearucrfl3a/mnt/agents/output/etl-module/images/2_Blue_Abstract_Computer_Data_Matrix.png"/>
          <p:cNvPicPr>
            <a:picLocks noChangeAspect="1"/>
          </p:cNvPicPr>
          <p:nvPr/>
        </p:nvPicPr>
        <p:blipFill>
          <a:blip r:embed="rId3"/>
          <a:srcRect l="28646" r="28646"/>
          <a:stretch/>
        </p:blipFill>
        <p:spPr>
          <a:xfrm>
            <a:off x="13970000" y="0"/>
            <a:ext cx="1041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970000" y="0"/>
            <a:ext cx="10414000" cy="13716000"/>
          </a:xfrm>
          <a:prstGeom prst="rect">
            <a:avLst/>
          </a:prstGeom>
          <a:gradFill flip="none" rotWithShape="1">
            <a:gsLst>
              <a:gs pos="0">
                <a:srgbClr val="292929"/>
              </a:gs>
              <a:gs pos="40000">
                <a:srgbClr val="292929">
                  <a:alpha val="67000"/>
                </a:srgbClr>
              </a:gs>
              <a:gs pos="100000">
                <a:srgbClr val="292929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44600" y="4445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4600" y="558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4600" y="6858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данных из источников: GitHub API, README, формирование raw records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44600" y="6731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API — поиск и извлечение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HTTP-запрос к GitHub Search API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2540000"/>
            <a:ext cx="10795000" cy="254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667000"/>
            <a:ext cx="1028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/search/repositories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Authorization: Bearer token_here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 = "metasploit framework"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 = "stars" &amp; order = "desc"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per_page = 100 &amp; max_pages = 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5461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Извлечение README.md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4600" y="6096000"/>
            <a:ext cx="10795000" cy="177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6223000"/>
            <a:ext cx="1028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/repos/{owner}/{repo}/contents/README.md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Декодируем base64 → берём первые 2000 символов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readme_preview &lt;- substr(readme_text, 1, 2000)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0" y="190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извлекаем из ответа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0" y="2540000"/>
            <a:ext cx="1016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 — уникальный идентификатор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 — название репозитория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description — описание проекта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stargazers_count — звёзды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language — язык программирования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topics — теги (pentest, exploit...)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html_url — ссылка на репозиторий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0" y="6477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 raw-записи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0" y="7112000"/>
          <a:ext cx="9906000" cy="2286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Поле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Пример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Тип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record_id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github-141432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metasploit-framework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32 547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244600" y="9906000"/>
            <a:ext cx="21590000" cy="127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1625600" y="10033000"/>
            <a:ext cx="208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Собрано: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1000+ raw records • </a:t>
            </a: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Все содержат: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description + README • </a:t>
            </a: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Источники: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GitHub, PacketStorm, RSS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vaearucrfl3a/mnt/agents/output/etl-module/images/2_Blue_Abstract_Computer_Data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292929">
                  <a:alpha val="93000"/>
                </a:srgbClr>
              </a:gs>
              <a:gs pos="50000">
                <a:srgbClr val="292929">
                  <a:alpha val="80000"/>
                </a:srgbClr>
              </a:gs>
              <a:gs pos="100000">
                <a:srgbClr val="292929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44600" y="4445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4600" y="5588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4600" y="6858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Нормализация, скоринг и фильтрация данных перед LLM-оценкой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44600" y="6731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Pre-LLM скоринг и классификация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Логика скоринга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4600" y="2603500"/>
          <a:ext cx="10795000" cy="3556000"/>
        </p:xfrm>
        <a:graphic>
          <a:graphicData uri="http://schemas.openxmlformats.org/drawingml/2006/table">
            <a:tbl>
              <a:tblPr/>
              <a:tblGrid>
                <a:gridCol w="377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Условие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Priority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name в seed_names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Ключевые слова в desc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7964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Язык: Python/Go/Ruby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+0.1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бонус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Остальное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44600" y="660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Классификация entity_type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44600" y="7302500"/>
            <a:ext cx="10795000" cy="254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1498600" y="7429500"/>
            <a:ext cx="10287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 → metasploit-framework, impacket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scanner → nuclei, sqlmap, nmap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exploit → exploit-db, 0day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post-exploitation → evil-winrm, mimikatz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 → shodan, maltego, amass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7000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Причины скоринга (reasons)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700000" y="2603500"/>
            <a:ext cx="1016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known_tool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инструмент в seed-списке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keyword_match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совпадение по ключевым словам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github_source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источник GitHub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high_stars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1000+ звёзд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offensive_language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Python/Go/Ruby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700000" y="660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Примеры расчётов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0" y="7302500"/>
          <a:ext cx="9906000" cy="22860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Инструмент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Priority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metasploit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framework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nuclei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scanner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random-tool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1244600" y="10160000"/>
            <a:ext cx="215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Seed names: metasploit, burp, sqlmap, nuclei, impacket, bloodhound, responder, crackmapexec, evil-winrm, chisel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Фильтрация и итоговая нормализация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Фильтры отсечения шума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2603500"/>
            <a:ext cx="10795000" cy="3937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730500"/>
            <a:ext cx="10287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Документация и tutorials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!grepl("documentation|tutorial|guide", desc)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Непопулярные репозитории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!(stars &lt; 10 &amp; score &lt; 0.7)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Пустой или короткий README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nchar(raw_text) &gt; 100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Неинструменты (books, courses)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660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 фильтрации</a:t>
            </a:r>
            <a:endParaRPr lang="en-US" sz="1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1244600" y="7302500"/>
          <a:ext cx="10795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127000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Итоговая структура записи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700000" y="2603500"/>
            <a:ext cx="9906000" cy="431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12954000" y="2730500"/>
            <a:ext cx="939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record_id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"github-141432"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"metasploit-framework"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"GitHub"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"https://github.com/..."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raw_description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"Metasploit Framework..."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pre_llm_score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0.9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pre_llm_priority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"high"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entity_type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"framework"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reasons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c("known_tool", "high_stars")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0" y="7366000"/>
            <a:ext cx="9906000" cy="1270000"/>
          </a:xfrm>
          <a:prstGeom prst="rect">
            <a:avLst/>
          </a:prstGeom>
          <a:solidFill>
            <a:srgbClr val="3D7C8E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2954000" y="7493000"/>
            <a:ext cx="939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 raw → 750 normalized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(25% отфильтровано)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High: 200 | Medium: 350 | Low: 200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vaearucrfl3a/mnt/agents/output/etl-module/images/2_Blue_Abstract_Computer_Data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flip="none" rotWithShape="1">
            <a:gsLst>
              <a:gs pos="0">
                <a:srgbClr val="292929">
                  <a:alpha val="93000"/>
                </a:srgbClr>
              </a:gs>
              <a:gs pos="50000">
                <a:srgbClr val="292929">
                  <a:alpha val="80000"/>
                </a:srgbClr>
              </a:gs>
              <a:gs pos="100000">
                <a:srgbClr val="292929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44600" y="4445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4600" y="5588000"/>
            <a:ext cx="1143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Assessment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4600" y="6858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Оценка инструментов через DeepSeek API: промпты, валидация, MITRE-маппинг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44600" y="6731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Промпт и API DeepSeek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Структура промпта (8 вопросов)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2603500"/>
            <a:ext cx="10795000" cy="482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730500"/>
            <a:ext cx="10287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this an OFFENSIVE security tool? (true/false)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Entity type: tool/framework/scanner/exploit/...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Summary in Russian (2-3 sentences)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 capabilities in Russian (bullet points)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Confidence score (0.0 to 1.0)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Reasoning (2-3 sentences)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MITRE ATT&amp;CK tactics (TA0001, TA0002...)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MITRE ATT&amp;CK techniques (T1190, T1059...)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RETURN ONLY VALID JSON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7874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Параметры API-запроса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4600" y="8509000"/>
            <a:ext cx="10795000" cy="2159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8636000"/>
            <a:ext cx="1028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https://api.deepseek.com/v1/chat/completions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model: "deepseek-chat"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temperature: 0.1 </a:t>
            </a:r>
            <a:endParaRPr lang="ru-RU" sz="1800" dirty="0">
              <a:solidFill>
                <a:srgbClr val="FFFFFF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60000"/>
              </a:lnSpc>
            </a:pPr>
            <a:r>
              <a:rPr lang="en-US" sz="18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max_tokens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2000 | timeout: 30s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 ответа JSON (Metasploit)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0" y="2603500"/>
            <a:ext cx="9906000" cy="533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0" y="2730500"/>
            <a:ext cx="9398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"is_relevant"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true,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"entity_type"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"framework",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"summary_ru"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"Metasploit Framework — платформа для разработки и выполнения эксплойтов...",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"capabilities_ru"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"- Модули сканирования уязвимостей...",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"confidence"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0.98,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"reasoning"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"Очень популярный инструмент (32k звёзд)...",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"mitre_tactics"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["TA0001", "TA0002", "TA0008"],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"mitre_techniques"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["T1190", "T1059", "T1078"]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0" y="8382000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Стоимость: ~$0.01 за </a:t>
            </a:r>
            <a:r>
              <a:rPr lang="en-US" sz="2000" dirty="0" err="1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запрос</a:t>
            </a: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Валидация и Composite Score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Валидация ответа LLM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2603500"/>
            <a:ext cx="10795000" cy="2921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730500"/>
            <a:ext cx="1028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Все 8 обязательных полей присутствуют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confidence в диапазоне [0, 1]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mitre_tactics — валидные коды (TAxxxx)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mitre_techniques — валидные коды (Txxxx)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is_relevant — boolean значение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558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Формула Composite Score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4600" y="6286500"/>
            <a:ext cx="10795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6413500"/>
            <a:ext cx="1028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composite_score = (pre_llm_score + llm_confidence) / 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Пример: (0.9 + 0.98) / 2 = </a:t>
            </a: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4600" y="825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Финальный приоритет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44600" y="8953500"/>
            <a:ext cx="10795000" cy="2032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9080500"/>
            <a:ext cx="1028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 0.8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(отправляем в Shiny Dashboard)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0.6 — 0.8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(показываем в таблице)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0.6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(архив)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Результаты оценки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0" y="2603500"/>
          <a:ext cx="9906000" cy="4826000"/>
        </p:xfrm>
        <a:graphic>
          <a:graphicData uri="http://schemas.openxmlformats.org/drawingml/2006/table">
            <a:tbl>
              <a:tblPr/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624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Инструмент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Pre-LLM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LLM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Composite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metasploit-fw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nuclei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0.89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burp-suite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sqlmap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0.85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bloodhound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0.82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7EC0D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82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impacket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7964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426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chisel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0.50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9BBB5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0.68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12700000" y="7747000"/>
            <a:ext cx="990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1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 (≥0.8) </a:t>
            </a:r>
            <a:r>
              <a:rPr lang="en-US" sz="1800" dirty="0">
                <a:solidFill>
                  <a:srgbClr val="F796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1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Medium (0.6-0.8) </a:t>
            </a:r>
            <a:r>
              <a:rPr lang="en-US" sz="1800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</a:t>
            </a:r>
            <a:r>
              <a:rPr lang="en-US" sz="1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Low (&lt;0.6)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vaearucrfl3a/mnt/agents/output/etl-module/images/5_10_720_Data_Pipelines_Royalty_Free.png"/>
          <p:cNvPicPr>
            <a:picLocks noChangeAspect="1"/>
          </p:cNvPicPr>
          <p:nvPr/>
        </p:nvPicPr>
        <p:blipFill>
          <a:blip r:embed="rId3"/>
          <a:srcRect l="28614" r="28614"/>
          <a:stretch/>
        </p:blipFill>
        <p:spPr>
          <a:xfrm>
            <a:off x="13970000" y="0"/>
            <a:ext cx="1041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970000" y="0"/>
            <a:ext cx="10414000" cy="13716000"/>
          </a:xfrm>
          <a:prstGeom prst="rect">
            <a:avLst/>
          </a:prstGeom>
          <a:gradFill flip="none" rotWithShape="1">
            <a:gsLst>
              <a:gs pos="0">
                <a:srgbClr val="292929"/>
              </a:gs>
              <a:gs pos="40000">
                <a:srgbClr val="292929">
                  <a:alpha val="67000"/>
                </a:srgbClr>
              </a:gs>
              <a:gs pos="100000">
                <a:srgbClr val="292929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44600" y="4445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44600" y="558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4600" y="6858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Сохранение результатов в DuckDB, индексы, экспорт форматов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44600" y="6731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DuckDB, индексы и экспорт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Структура таблицы tools_assessed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2603500"/>
            <a:ext cx="10795000" cy="508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730500"/>
            <a:ext cx="10287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record_id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 PRIMARY KEY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composite_score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final_priority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llm_entity_type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llm_summary_ru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llm_mitre_tactics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VARCHAR[]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llm_mitre_techniques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VARCHAR[]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run_id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assessed_at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TIMESTAMP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7810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Индексы для быстрого поиска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4600" y="8445500"/>
            <a:ext cx="10795000" cy="2159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8572500"/>
            <a:ext cx="1028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INDEX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idx_final_priority ON tools_assessed(final_priority)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INDEX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idx_composite_score ON tools_assessed(composite_score DESC)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INDEX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idx_run_id ON tools_assessed(run_id)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INDEX</a:t>
            </a: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idx_entity_type ON tools_assessed(llm_entity_type)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Форматы экспорта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0" y="2667000"/>
            <a:ext cx="9906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0" y="3048000"/>
            <a:ext cx="762000" cy="7620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0" y="285750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RDS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бинарный формат для 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saveRDS(assessed_data, "tools_assessed.rds")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0" y="4445000"/>
            <a:ext cx="9906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54000" y="4826000"/>
            <a:ext cx="762000" cy="762000"/>
          </a:xfrm>
          <a:prstGeom prst="rect">
            <a:avLst/>
          </a:prstGeom>
          <a:solidFill>
            <a:srgbClr val="3D7C8E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0" y="463550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для интеграции с другими системами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write_json(assessed_data, "tools_assessed.json")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0" y="6223000"/>
            <a:ext cx="9906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2954000" y="6604000"/>
            <a:ext cx="762000" cy="762000"/>
          </a:xfrm>
          <a:prstGeom prst="rect">
            <a:avLst/>
          </a:prstGeom>
          <a:solidFill>
            <a:srgbClr val="5A6C7D"/>
          </a:solidFill>
          <a:ln/>
        </p:spPr>
      </p:sp>
      <p:sp>
        <p:nvSpPr>
          <p:cNvPr id="18" name="Text 16"/>
          <p:cNvSpPr/>
          <p:nvPr/>
        </p:nvSpPr>
        <p:spPr>
          <a:xfrm>
            <a:off x="13970000" y="641350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CSV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для Excel и других инструментов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write.csv(assessed_data, "tools_assessed.csv")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00000" y="825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Сравнение прогонов (run_id)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0" y="8890000"/>
            <a:ext cx="990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Каждый прогон получает уникальный run_id: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"20260424-143000-1234"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Позволяет отслеживать изменения между запусками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Метрики пайплайна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Время выполнения по этапам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244600" y="2603500"/>
          <a:ext cx="1079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1244600" y="7874000"/>
            <a:ext cx="10795000" cy="1270000"/>
          </a:xfrm>
          <a:prstGeom prst="rect">
            <a:avLst/>
          </a:prstGeom>
          <a:solidFill>
            <a:srgbClr val="3D7C8E">
              <a:alpha val="2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498600" y="8001000"/>
            <a:ext cx="1028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ИТОГО: 28 минут</a:t>
            </a:r>
            <a:r>
              <a:rPr lang="en-US" sz="2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для 600 инструментов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700000" y="190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Распределение по приоритетам</a:t>
            </a:r>
            <a:endParaRPr lang="en-US" sz="16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12700000" y="2540000"/>
          <a:ext cx="9906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12700000" y="7747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Использование ресурсов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2700000" y="8255000"/>
            <a:ext cx="9906000" cy="241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7"/>
          <p:cNvSpPr/>
          <p:nvPr/>
        </p:nvSpPr>
        <p:spPr>
          <a:xfrm>
            <a:off x="12954000" y="8636000"/>
            <a:ext cx="939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API calls: 150 к GitHub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LLM calls: 600 запросов к DeepSeek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Disk usage: ~50 MB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635000"/>
            <a:ext cx="177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Путь одного инструмента через pipeline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58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A6C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Пример: metasploit-framework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4600" y="2413000"/>
            <a:ext cx="4445000" cy="508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498600" y="2540000"/>
            <a:ext cx="393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EXTRACT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98600" y="3175000"/>
            <a:ext cx="3937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Запрос: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org:rapid7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metasploit framework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12 500 репозиториев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README: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8 000 символов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16600" y="4826000"/>
            <a:ext cx="5588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6502400" y="2413000"/>
            <a:ext cx="4445000" cy="508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756400" y="2540000"/>
            <a:ext cx="393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TRANSFORM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56400" y="3175000"/>
            <a:ext cx="3937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Score: </a:t>
            </a:r>
            <a:r>
              <a:rPr lang="en-US" sz="1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(known tool)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Priority: </a:t>
            </a: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type: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known_tool, high_stars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074400" y="4826000"/>
            <a:ext cx="5588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1760200" y="2413000"/>
            <a:ext cx="4445000" cy="508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2014200" y="2540000"/>
            <a:ext cx="393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LLM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14200" y="3175000"/>
            <a:ext cx="3937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1 542 символа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 с 8 полями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0.98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MITRE: TA0001-0008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332200" y="4826000"/>
            <a:ext cx="5588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7018000" y="2413000"/>
            <a:ext cx="5588000" cy="5080000"/>
          </a:xfrm>
          <a:prstGeom prst="rect">
            <a:avLst/>
          </a:prstGeom>
          <a:solidFill>
            <a:srgbClr val="3D7C8E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272000" y="254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LOAD + RESULT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272000" y="3175000"/>
            <a:ext cx="5080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(0.9 + 0.98) / 2 = 0.94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priority: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Saved to: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tools_assessed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500"/>
              </a:spcBef>
            </a:pPr>
            <a:r>
              <a:rPr lang="en-US" sz="1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Ready for Shiny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4600" y="8001000"/>
            <a:ext cx="215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особенности: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Параллельная обработка 10 запросов • Кэширование на каждом этапе • Обработка ошибок (rate limits, broken README, corrupted JSON)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vaearucrfl3a/mnt/agents/output/etl-module/images/1_Cybersecurity_dark_background_Images.png"/>
          <p:cNvPicPr>
            <a:picLocks noChangeAspect="1"/>
          </p:cNvPicPr>
          <p:nvPr/>
        </p:nvPicPr>
        <p:blipFill>
          <a:blip r:embed="rId3"/>
          <a:srcRect l="27152" r="27152"/>
          <a:stretch/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1176000" cy="13716000"/>
          </a:xfrm>
          <a:prstGeom prst="rect">
            <a:avLst/>
          </a:prstGeom>
          <a:gradFill flip="none" rotWithShape="1">
            <a:gsLst>
              <a:gs pos="0">
                <a:srgbClr val="292929">
                  <a:alpha val="20000"/>
                </a:srgbClr>
              </a:gs>
              <a:gs pos="50000">
                <a:srgbClr val="292929">
                  <a:alpha val="67000"/>
                </a:srgbClr>
              </a:gs>
              <a:gs pos="100000">
                <a:srgbClr val="292929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2446000" y="2540000"/>
            <a:ext cx="1079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Выводы и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5600" b="1" kern="0" spc="-12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следующие шаги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446000" y="5334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3"/>
          <p:cNvSpPr/>
          <p:nvPr/>
        </p:nvSpPr>
        <p:spPr>
          <a:xfrm>
            <a:off x="12446000" y="5715000"/>
            <a:ext cx="10795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ETL собирает данные из </a:t>
            </a: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источников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Pre-LLM скоринг фильтрует </a:t>
            </a: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 шума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LLM добавляет </a:t>
            </a: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русский контекст + MITRE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Composite score объединяет оценки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 минут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для 600 </a:t>
            </a:r>
            <a:r>
              <a:rPr lang="en-US" sz="22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инструментов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1884</Words>
  <Application>Microsoft Office PowerPoint</Application>
  <PresentationFormat>Произвольный</PresentationFormat>
  <Paragraphs>397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Liter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Pipeline для Offensive Security Tools</dc:title>
  <dc:subject>ETL Pipeline для Offensive Security Tools</dc:subject>
  <dc:creator>Kimi</dc:creator>
  <cp:lastModifiedBy>Nikita Kolomytsev</cp:lastModifiedBy>
  <cp:revision>2</cp:revision>
  <dcterms:created xsi:type="dcterms:W3CDTF">2026-04-24T20:01:15Z</dcterms:created>
  <dcterms:modified xsi:type="dcterms:W3CDTF">2026-04-24T20:56:07Z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{"Label":"ETL Pipeline для Offensive Security Tools","ContentProducer":"001191110108MACG2KBH8F10000","ProduceID":"19dc114a-6942-88c8-8000-00009b6a6b18","ReservedCode1":"","ContentPropagator":"001191110108MACG2KBH8F20000","PropagateID":"19dc114a-6942-88c8-8000-00009b6a6b18","ReservedCode2":""}</vt:lpwstr>
  </property>
</Properties>
</file>